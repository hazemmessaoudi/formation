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مقدمة" id="{6ab46562-083a-4c8f-7180-dc2c8e7063fa}">
          <p14:sldIdLst>
            <p14:sldId id="256"/>
            <p14:sldId id="257"/>
          </p14:sldIdLst>
        </p14:section>
        <p14:section name="I · الإطار العام" id="{f48d4acb-3398-7076-7d55-d5464711ef0f}">
          <p14:sldIdLst>
            <p14:sldId id="258"/>
            <p14:sldId id="259"/>
            <p14:sldId id="260"/>
            <p14:sldId id="261"/>
            <p14:sldId id="262"/>
          </p14:sldIdLst>
        </p14:section>
        <p14:section name="II · السيارات الهجينة" id="{6c2dfbf8-f81a-b007-a1d2-126d8e8ca9ef}">
          <p14:sldIdLst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II · المقارنة والسوق" id="{111ed9f7-9cbb-b40d-6a3f-73a1e6c44acc}">
          <p14:sldIdLst>
            <p14:sldId id="271"/>
            <p14:sldId id="272"/>
            <p14:sldId id="273"/>
            <p14:sldId id="274"/>
            <p14:sldId id="275"/>
          </p14:sldIdLst>
        </p14:section>
        <p14:section name="الخاتمة" id="{94e6b266-8664-cbae-defc-ed38dfa4d758}">
          <p14:sldIdLst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سعر الانطلاق (د.ت)</c:v>
                </c:pt>
              </c:strCache>
            </c:strRef>
          </c:tx>
          <c:spPr>
            <a:solidFill>
              <a:srgbClr val="1F6F6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0F3D3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Sheet1!$A$2:$A$17</c:f>
              <c:multiLvlStrCache>
                <c:ptCount val="16"/>
                <c:lvl>
                  <c:pt idx="0">
                    <c:v>MG 3 Hybrid+</c:v>
                  </c:pt>
                  <c:pt idx="1">
                    <c:v>Chery Tiggo 4 HEV</c:v>
                  </c:pt>
                  <c:pt idx="2">
                    <c:v>Honda Jazz</c:v>
                  </c:pt>
                  <c:pt idx="3">
                    <c:v>Toyota Yaris Hybride</c:v>
                  </c:pt>
                  <c:pt idx="4">
                    <c:v>Dongfeng Shine Max</c:v>
                  </c:pt>
                  <c:pt idx="5">
                    <c:v>Omoda &amp; Jaecoo C5</c:v>
                  </c:pt>
                  <c:pt idx="6">
                    <c:v>MG ZS Hybrid+</c:v>
                  </c:pt>
                  <c:pt idx="7">
                    <c:v>Toyota Yaris Cross</c:v>
                  </c:pt>
                  <c:pt idx="8">
                    <c:v>MG HS Hybrid+</c:v>
                  </c:pt>
                  <c:pt idx="9">
                    <c:v>Haval H6 Hybride</c:v>
                  </c:pt>
                  <c:pt idx="10">
                    <c:v>Kia Niro Hybride</c:v>
                  </c:pt>
                  <c:pt idx="11">
                    <c:v>Hyundai Tucson Hybride</c:v>
                  </c:pt>
                  <c:pt idx="12">
                    <c:v>Kia Sportage Hybride</c:v>
                  </c:pt>
                  <c:pt idx="13">
                    <c:v>Honda CR-V Hybride</c:v>
                  </c:pt>
                  <c:pt idx="14">
                    <c:v>Toyota RAV4 Hybride</c:v>
                  </c:pt>
                  <c:pt idx="15">
                    <c:v>Kia Sorento Hybride</c:v>
                  </c:pt>
                </c:lvl>
              </c:multiLvlStrCache>
            </c:multiLvl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77950</c:v>
                </c:pt>
                <c:pt idx="1">
                  <c:v>79900</c:v>
                </c:pt>
                <c:pt idx="2">
                  <c:v>79980</c:v>
                </c:pt>
                <c:pt idx="3">
                  <c:v>84900</c:v>
                </c:pt>
                <c:pt idx="4">
                  <c:v>85900</c:v>
                </c:pt>
                <c:pt idx="5">
                  <c:v>93900</c:v>
                </c:pt>
                <c:pt idx="6">
                  <c:v>97950</c:v>
                </c:pt>
                <c:pt idx="7">
                  <c:v>112800</c:v>
                </c:pt>
                <c:pt idx="8">
                  <c:v>114950</c:v>
                </c:pt>
                <c:pt idx="9">
                  <c:v>129900</c:v>
                </c:pt>
                <c:pt idx="10">
                  <c:v>129980</c:v>
                </c:pt>
                <c:pt idx="11">
                  <c:v>159950</c:v>
                </c:pt>
                <c:pt idx="12">
                  <c:v>174980</c:v>
                </c:pt>
                <c:pt idx="13">
                  <c:v>184990</c:v>
                </c:pt>
                <c:pt idx="14">
                  <c:v>204800</c:v>
                </c:pt>
                <c:pt idx="15">
                  <c:v>249980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0F3D3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3D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290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سعر الانطلاق (د.ت)</c:v>
                </c:pt>
              </c:strCache>
            </c:strRef>
          </c:tx>
          <c:spPr>
            <a:solidFill>
              <a:srgbClr val="B886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F3D3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Chery Tiggo 7 PHEV</c:v>
                  </c:pt>
                  <c:pt idx="1">
                    <c:v>Geely EX5 Hybrid</c:v>
                  </c:pt>
                  <c:pt idx="2">
                    <c:v>Chery Arrizo 8 PHEV</c:v>
                  </c:pt>
                  <c:pt idx="3">
                    <c:v>Chery Tiggo 8 PHEV</c:v>
                  </c:pt>
                  <c:pt idx="4">
                    <c:v>BYD Song Plus DM-i</c:v>
                  </c:pt>
                  <c:pt idx="5">
                    <c:v>Chery Tiggo 9 PHEV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88900</c:v>
                </c:pt>
                <c:pt idx="1">
                  <c:v>89800</c:v>
                </c:pt>
                <c:pt idx="2">
                  <c:v>89900</c:v>
                </c:pt>
                <c:pt idx="3">
                  <c:v>102990</c:v>
                </c:pt>
                <c:pt idx="4">
                  <c:v>115990</c:v>
                </c:pt>
                <c:pt idx="5">
                  <c:v>129900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F3D3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3D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وحدات</c:v>
                </c:pt>
              </c:strCache>
            </c:strRef>
          </c:tx>
          <c:spPr>
            <a:solidFill>
              <a:srgbClr val="B886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0F3D3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B8862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6F6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C8B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هجينة قابلة للشحن (PHEV)</c:v>
                  </c:pt>
                  <c:pt idx="1">
                    <c:v>كهربائية (EV)</c:v>
                  </c:pt>
                  <c:pt idx="2">
                    <c:v>هجينة كاملة (HEV)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573</c:v>
                </c:pt>
                <c:pt idx="1">
                  <c:v>491</c:v>
                </c:pt>
                <c:pt idx="2">
                  <c:v>442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800" u="none">
                  <a:solidFill>
                    <a:srgbClr val="0F3D3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F3D3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8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عرض حول الامتيازات الجبائية على السيارات في تونس، مع جزء ثانٍ مخصّص للسيارات الهجينة: أصنافها، معاملتها الجبائية، والطرازات المتوفرة في السوق.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الجزء الأول يضع الإطار العام، والجزء الثاني يفصّل أصناف السيارات الهجينة وامتيازاتها والطرازات المتوفرة في تونس.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خمسة بنود جبائية تكوّن العبء على السيارة؛ والامتيازات تستهدف أساسًا المعاليم الديوانية ومعلوم الاستهلاك والأداء على القيمة المضافة.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أربعة مداخل للامتيازات: FCR للتونسيين بالخارج، الامتيازات البيئية للكهربائية والهجينة، برنامج سيارة لكل عائلة، والتصنيع المحلي.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الأمر 370 لسنة 2024: امتياز كل 10 سنوات، يشمل الهجينة والكهربائية، مع شروط الإقامة بالخارج والتسجيل المؤقت في سلسلة 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برنامج سيارة لكل عائلة يُعفي الكهربائية والهجينة والمصنّعة محليًا من معلوم الاستهلاك ضمن سقوف، لكن تطبيقه لم يُفعَّل بعد.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أربع درجات من الكهربة: MHEV ثم HEV ثم PHEV ثم EV. الامتيازات الجبائية تتّسع كلّما ارتفعت درجة الكهربة.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الهجينة الخفيفة أقرب إلى الحراري؛ ومعاملتها الجبائية رهينة تصنيفها الديواني، لذا يجب التثبّت من كل طراز.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الهجينة الكاملة تنتفع بتخفيض نصف معلوم الاستهلاك في حدود 1700 صم³، وتحتاج كل حالة إلى التثبّت من سعة الأسطوانة.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ستة عشر طرازًا هجينًا كاملًا، بأسعار من قرابة 78 ألف إلى 250 ألف دينار. RAV4 مثال على طراز يتجاوز سقف 1700 صم³.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PHEV أصبحت مساوية جبائيًا للكهربائية منذ قانون المالية 2026، وهو ما يفسّر صعودها في السوق.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عرض PHEV يتركّز لدى العلامات الصينية، بأسعار بين 89 و130 ألف دينار تقريبًا.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الكهربائية تتمتّع بنفس امتيازات PHEV، مع منحة 10 آلاف دينار للفئات المعنية، وهدف 50 ألف سيارة في أفق 2030.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الصورة الإجمالية: كلّما ارتفعت درجة الكهربة اتّسع الامتياز. PHEV وEV متساويتان، وHEV تنتفع جزئيًا عبر معلوم الاستهلاك.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مسار تدريجي من 2024 إلى 2026، والامتيازات الحالية محدّدة زمنيًا إلى نهاية 2028.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PHEV تتصدّر المحرّكات البديلة بعد مساواتها جبائيًا بالكهربائية.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معيار السعة يخلق فوارق بين طرازات متنافسة: RAV4 الهجينة مُقصاة بسبب محرّكها 2.5 لتر.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الاختيار يرتبط بإمكانية الشحن ونوعية التنقّلات، مع مراعاة السقوف الجبائية.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خلاصة الأرقام الأساسية للامتيازات الجبائية على السيارات الهجينة والكهربائية في تونس.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للاستعمال الرسمي أو التكويني يُنصح بمراجعة النصوص القانونية الأصلية.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TITLE_L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SECTION_L-image-1.jpe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NTENT_L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PLAIN_L-image-1.jpe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172200" y="1874520"/>
            <a:ext cx="5440680" cy="21488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TN" altLang="en-US" sz="40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ar-TN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172200" y="4114800"/>
            <a:ext cx="544068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TN" altLang="en-US" sz="1800" dirty="0">
                <a:solidFill>
                  <a:schemeClr val="accent1"/>
                </a:solidFill>
              </a:defRPr>
            </a:lvl1pPr>
          </a:lstStyle>
          <a:p>
            <a:pPr algn="r" indent="0" marL="0">
              <a:buNone/>
            </a:pPr>
            <a:endParaRPr lang="ar-TN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0" y="2514600"/>
            <a:ext cx="5239512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TN" altLang="en-US" sz="36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ar-TN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0" y="4343400"/>
            <a:ext cx="5239512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TN" altLang="en-US" sz="1600" dirty="0">
                <a:solidFill>
                  <a:schemeClr val="accent5"/>
                </a:solidFill>
              </a:defRPr>
            </a:lvl1pPr>
          </a:lstStyle>
          <a:p>
            <a:pPr algn="r" indent="0" marL="0">
              <a:buNone/>
            </a:pPr>
            <a:endParaRPr lang="ar-TN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TN" altLang="en-US" sz="30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ar-TN" sz="3000" dirty="0"/>
          </a:p>
        </p:txBody>
      </p:sp>
      <p:sp>
        <p:nvSpPr>
          <p:cNvPr id="3" name="Text 0"/>
          <p:cNvSpPr/>
          <p:nvPr/>
        </p:nvSpPr>
        <p:spPr>
          <a:xfrm>
            <a:off x="5242255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TN" altLang="en-US" sz="1000" dirty="0">
                <a:solidFill>
                  <a:schemeClr val="accent5"/>
                </a:solidFill>
              </a:rPr>
              <a:t>الامتيازات الجبائية على السيارات في تونس · 2026</a:t>
            </a:r>
            <a:endParaRPr lang="ar-T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_L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ar-TN" altLang="en-US" sz="3000" b="1" dirty="0">
                <a:solidFill>
                  <a:schemeClr val="tx1"/>
                </a:solidFill>
              </a:defRPr>
            </a:lvl1pPr>
          </a:lstStyle>
          <a:p>
            <a:pPr algn="r" indent="0" marL="0">
              <a:buNone/>
            </a:pPr>
            <a:endParaRPr lang="ar-TN" sz="3000" dirty="0"/>
          </a:p>
        </p:txBody>
      </p:sp>
      <p:sp>
        <p:nvSpPr>
          <p:cNvPr id="3" name="Text 0"/>
          <p:cNvSpPr/>
          <p:nvPr/>
        </p:nvSpPr>
        <p:spPr>
          <a:xfrm>
            <a:off x="5242255" y="6400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TN" altLang="en-US" sz="1000" dirty="0">
                <a:solidFill>
                  <a:schemeClr val="accent5"/>
                </a:solidFill>
              </a:rPr>
              <a:t>الامتيازات الجبائية على السيارات في تونس · 2026</a:t>
            </a:r>
            <a:endParaRPr lang="ar-T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6172200" y="1325880"/>
            <a:ext cx="5440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2000" b="1" dirty="0">
                <a:solidFill>
                  <a:schemeClr val="accent2"/>
                </a:solidFill>
              </a:rPr>
              <a:t>قوانين المالية 2024–2026</a:t>
            </a:r>
            <a:endParaRPr lang="ar-TN" sz="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172200" y="1874520"/>
            <a:ext cx="5440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4000" b="1" dirty="0">
                <a:solidFill>
                  <a:schemeClr val="tx1"/>
                </a:solidFill>
              </a:rPr>
              <a:t>الامتيازات الجبائية على السيارات في تونس</a:t>
            </a:r>
            <a:endParaRPr lang="ar-TN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172200" y="4114800"/>
            <a:ext cx="5440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800" dirty="0">
                <a:solidFill>
                  <a:schemeClr val="accent1"/>
                </a:solidFill>
              </a:rPr>
              <a:t>الإطار العام · السيارات الهجينة بكل أصنافها · الطرازات في السوق</a:t>
            </a:r>
            <a:endParaRPr lang="ar-TN" sz="1800" dirty="0"/>
          </a:p>
        </p:txBody>
      </p:sp>
      <p:sp>
        <p:nvSpPr>
          <p:cNvPr id="5" name="pill-2"/>
          <p:cNvSpPr/>
          <p:nvPr/>
        </p:nvSpPr>
        <p:spPr>
          <a:xfrm>
            <a:off x="10241280" y="4983480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6" name="text-3"/>
          <p:cNvSpPr txBox="1"/>
          <p:nvPr/>
        </p:nvSpPr>
        <p:spPr>
          <a:xfrm>
            <a:off x="10351008" y="498348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300" b="1" dirty="0">
                <a:solidFill>
                  <a:schemeClr val="accent1"/>
                </a:solidFill>
              </a:rPr>
              <a:t>FCR</a:t>
            </a:r>
            <a:endParaRPr lang="ar-TN" sz="1300" dirty="0"/>
          </a:p>
        </p:txBody>
      </p:sp>
      <p:sp>
        <p:nvSpPr>
          <p:cNvPr id="7" name="pill-4"/>
          <p:cNvSpPr/>
          <p:nvPr/>
        </p:nvSpPr>
        <p:spPr>
          <a:xfrm>
            <a:off x="8503920" y="4983480"/>
            <a:ext cx="160020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8" name="text-5"/>
          <p:cNvSpPr txBox="1"/>
          <p:nvPr/>
        </p:nvSpPr>
        <p:spPr>
          <a:xfrm>
            <a:off x="8613648" y="4983480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300" b="1" dirty="0">
                <a:solidFill>
                  <a:schemeClr val="accent1"/>
                </a:solidFill>
              </a:rPr>
              <a:t>هجينة وكهربائية</a:t>
            </a:r>
            <a:endParaRPr lang="ar-TN" sz="1300" dirty="0"/>
          </a:p>
        </p:txBody>
      </p:sp>
      <p:sp>
        <p:nvSpPr>
          <p:cNvPr id="9" name="pill-6"/>
          <p:cNvSpPr/>
          <p:nvPr/>
        </p:nvSpPr>
        <p:spPr>
          <a:xfrm>
            <a:off x="6766560" y="4983480"/>
            <a:ext cx="160020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10" name="text-7"/>
          <p:cNvSpPr txBox="1"/>
          <p:nvPr/>
        </p:nvSpPr>
        <p:spPr>
          <a:xfrm>
            <a:off x="6876288" y="4983480"/>
            <a:ext cx="1380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300" b="1" dirty="0">
                <a:solidFill>
                  <a:schemeClr val="accent1"/>
                </a:solidFill>
              </a:rPr>
              <a:t>سيارة لكل عائلة</a:t>
            </a:r>
            <a:endParaRPr lang="ar-TN" sz="1300" dirty="0"/>
          </a:p>
        </p:txBody>
      </p:sp>
      <p:pic>
        <p:nvPicPr>
          <p:cNvPr id="11" name="3d-car_title-8" descr="car_ti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010565"/>
            <a:ext cx="4572000" cy="32472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محاور العرض</a:t>
            </a:r>
            <a:endParaRPr lang="ar-TN" sz="3000" dirty="0"/>
          </a:p>
        </p:txBody>
      </p:sp>
      <p:sp>
        <p:nvSpPr>
          <p:cNvPr id="3" name="card-9"/>
          <p:cNvSpPr/>
          <p:nvPr/>
        </p:nvSpPr>
        <p:spPr>
          <a:xfrm>
            <a:off x="6202375" y="1463040"/>
            <a:ext cx="5440680" cy="461772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pic>
        <p:nvPicPr>
          <p:cNvPr id="4" name="3d-car_tax-10" descr="car_ta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1035" y="1803648"/>
            <a:ext cx="4023360" cy="2173992"/>
          </a:xfrm>
          <a:prstGeom prst="rect">
            <a:avLst/>
          </a:prstGeom>
        </p:spPr>
      </p:pic>
      <p:sp>
        <p:nvSpPr>
          <p:cNvPr id="5" name="badge-11"/>
          <p:cNvSpPr/>
          <p:nvPr/>
        </p:nvSpPr>
        <p:spPr>
          <a:xfrm>
            <a:off x="10728655" y="4206240"/>
            <a:ext cx="640080" cy="640080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6" name="badge-txt-12"/>
          <p:cNvSpPr txBox="1"/>
          <p:nvPr/>
        </p:nvSpPr>
        <p:spPr>
          <a:xfrm>
            <a:off x="10728655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</a:t>
            </a:r>
            <a:endParaRPr lang="en-US" sz="2000" dirty="0"/>
          </a:p>
        </p:txBody>
      </p:sp>
      <p:sp>
        <p:nvSpPr>
          <p:cNvPr id="7" name="text-13"/>
          <p:cNvSpPr txBox="1"/>
          <p:nvPr/>
        </p:nvSpPr>
        <p:spPr>
          <a:xfrm>
            <a:off x="6476695" y="42062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2400" b="1" dirty="0">
                <a:solidFill>
                  <a:schemeClr val="accent1"/>
                </a:solidFill>
              </a:rPr>
              <a:t>الإطار العام</a:t>
            </a:r>
            <a:endParaRPr lang="ar-TN" sz="2400" dirty="0"/>
          </a:p>
        </p:txBody>
      </p:sp>
      <p:sp>
        <p:nvSpPr>
          <p:cNvPr id="8" name="text-14"/>
          <p:cNvSpPr txBox="1"/>
          <p:nvPr/>
        </p:nvSpPr>
        <p:spPr>
          <a:xfrm>
            <a:off x="6476695" y="4983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dirty="0">
                <a:solidFill>
                  <a:schemeClr val="tx1"/>
                </a:solidFill>
              </a:rPr>
              <a:t>مكوّنات الجباية على السيارة، نظام FCR، برنامج «سيارة لكل عائلة»</a:t>
            </a:r>
            <a:endParaRPr lang="ar-TN" sz="1500" dirty="0"/>
          </a:p>
        </p:txBody>
      </p:sp>
      <p:sp>
        <p:nvSpPr>
          <p:cNvPr id="9" name="card-15"/>
          <p:cNvSpPr/>
          <p:nvPr/>
        </p:nvSpPr>
        <p:spPr>
          <a:xfrm>
            <a:off x="551383" y="1463040"/>
            <a:ext cx="5440680" cy="4617720"/>
          </a:xfrm>
          <a:prstGeom prst="roundRect">
            <a:avLst>
              <a:gd name="adj" fmla="val 316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pic>
        <p:nvPicPr>
          <p:cNvPr id="10" name="3d-car_phev-16" descr="car_ph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565" y="1783080"/>
            <a:ext cx="3868316" cy="2194560"/>
          </a:xfrm>
          <a:prstGeom prst="rect">
            <a:avLst/>
          </a:prstGeom>
        </p:spPr>
      </p:pic>
      <p:sp>
        <p:nvSpPr>
          <p:cNvPr id="11" name="badge-17"/>
          <p:cNvSpPr/>
          <p:nvPr/>
        </p:nvSpPr>
        <p:spPr>
          <a:xfrm>
            <a:off x="5077663" y="4206240"/>
            <a:ext cx="640080" cy="640080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12" name="badge-txt-18"/>
          <p:cNvSpPr txBox="1"/>
          <p:nvPr/>
        </p:nvSpPr>
        <p:spPr>
          <a:xfrm>
            <a:off x="5077663" y="4206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II</a:t>
            </a:r>
            <a:endParaRPr lang="en-US" sz="2000" dirty="0"/>
          </a:p>
        </p:txBody>
      </p:sp>
      <p:sp>
        <p:nvSpPr>
          <p:cNvPr id="13" name="text-19"/>
          <p:cNvSpPr txBox="1"/>
          <p:nvPr/>
        </p:nvSpPr>
        <p:spPr>
          <a:xfrm>
            <a:off x="825703" y="4206240"/>
            <a:ext cx="4069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2400" b="1" dirty="0">
                <a:solidFill>
                  <a:schemeClr val="accent1"/>
                </a:solidFill>
              </a:rPr>
              <a:t>السيارات الهجينة</a:t>
            </a:r>
            <a:endParaRPr lang="ar-TN" sz="2400" dirty="0"/>
          </a:p>
        </p:txBody>
      </p:sp>
      <p:sp>
        <p:nvSpPr>
          <p:cNvPr id="14" name="text-20"/>
          <p:cNvSpPr txBox="1"/>
          <p:nvPr/>
        </p:nvSpPr>
        <p:spPr>
          <a:xfrm>
            <a:off x="825703" y="49834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dirty="0">
                <a:solidFill>
                  <a:schemeClr val="tx1"/>
                </a:solidFill>
              </a:rPr>
              <a:t>الأصناف الأربعة (MHEV · HEV · PHEV · EV)، الامتيازات، الطرازات والأسعار، المقارنة والسوق</a:t>
            </a:r>
            <a:endParaRPr lang="ar-TN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21"/>
          <p:cNvSpPr/>
          <p:nvPr/>
        </p:nvSpPr>
        <p:spPr>
          <a:xfrm>
            <a:off x="9445752" y="1828800"/>
            <a:ext cx="2194560" cy="5303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3" name="text-22"/>
          <p:cNvSpPr txBox="1"/>
          <p:nvPr/>
        </p:nvSpPr>
        <p:spPr>
          <a:xfrm>
            <a:off x="9555480" y="1828800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500" b="1" dirty="0">
                <a:solidFill>
                  <a:schemeClr val="bg1"/>
                </a:solidFill>
              </a:rPr>
              <a:t>الجزء الأول</a:t>
            </a:r>
            <a:endParaRPr lang="ar-TN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0" y="2514600"/>
            <a:ext cx="5239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3600" b="1" dirty="0">
                <a:solidFill>
                  <a:schemeClr val="tx1"/>
                </a:solidFill>
              </a:rPr>
              <a:t>الإطار العام للجباية على السيارات</a:t>
            </a:r>
            <a:endParaRPr lang="ar-TN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0" y="4343400"/>
            <a:ext cx="5239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600" dirty="0">
                <a:solidFill>
                  <a:schemeClr val="accent5"/>
                </a:solidFill>
              </a:rPr>
              <a:t>مكوّنات السعر · الأنظمة التفاضلية · من ينتفع؟</a:t>
            </a:r>
            <a:endParaRPr lang="ar-TN" sz="1600" dirty="0"/>
          </a:p>
        </p:txBody>
      </p:sp>
      <p:pic>
        <p:nvPicPr>
          <p:cNvPr id="6" name="3d-car_tax-23" descr="car_ta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73511"/>
            <a:ext cx="4206240" cy="227280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ممّ يتكوّن العبء الجبائي على السيارة؟</a:t>
            </a:r>
            <a:endParaRPr lang="ar-TN" sz="3000" dirty="0"/>
          </a:p>
        </p:txBody>
      </p:sp>
      <p:sp>
        <p:nvSpPr>
          <p:cNvPr id="3" name="card-24"/>
          <p:cNvSpPr/>
          <p:nvPr/>
        </p:nvSpPr>
        <p:spPr>
          <a:xfrm>
            <a:off x="5257800" y="1371600"/>
            <a:ext cx="6382512" cy="841248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4" name="icon-bg-25"/>
          <p:cNvSpPr/>
          <p:nvPr/>
        </p:nvSpPr>
        <p:spPr>
          <a:xfrm>
            <a:off x="10954512" y="1591056"/>
            <a:ext cx="457200" cy="45720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5" name="icon-2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8812" y="1705356"/>
            <a:ext cx="228600" cy="228600"/>
          </a:xfrm>
          <a:prstGeom prst="rect">
            <a:avLst/>
          </a:prstGeom>
        </p:spPr>
      </p:pic>
      <p:sp>
        <p:nvSpPr>
          <p:cNvPr id="6" name="text-27"/>
          <p:cNvSpPr txBox="1"/>
          <p:nvPr/>
        </p:nvSpPr>
        <p:spPr>
          <a:xfrm>
            <a:off x="5486400" y="1572768"/>
            <a:ext cx="5239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450" b="1" dirty="0">
                <a:solidFill>
                  <a:schemeClr val="tx1"/>
                </a:solidFill>
              </a:rPr>
              <a:t>المعاليم الديوانية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تُستخلص عند التوريد حسب التعريفة الديوانية ومنشأ العربة.</a:t>
            </a:r>
            <a:endParaRPr lang="ar-TN" sz="1400" dirty="0"/>
          </a:p>
        </p:txBody>
      </p:sp>
      <p:sp>
        <p:nvSpPr>
          <p:cNvPr id="7" name="card-28"/>
          <p:cNvSpPr/>
          <p:nvPr/>
        </p:nvSpPr>
        <p:spPr>
          <a:xfrm>
            <a:off x="5257800" y="2322576"/>
            <a:ext cx="6382512" cy="841248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8" name="icon-bg-29"/>
          <p:cNvSpPr/>
          <p:nvPr/>
        </p:nvSpPr>
        <p:spPr>
          <a:xfrm>
            <a:off x="10954512" y="2542032"/>
            <a:ext cx="457200" cy="45720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9" name="icon-3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8812" y="2656332"/>
            <a:ext cx="228600" cy="228600"/>
          </a:xfrm>
          <a:prstGeom prst="rect">
            <a:avLst/>
          </a:prstGeom>
        </p:spPr>
      </p:pic>
      <p:sp>
        <p:nvSpPr>
          <p:cNvPr id="10" name="text-31"/>
          <p:cNvSpPr txBox="1"/>
          <p:nvPr/>
        </p:nvSpPr>
        <p:spPr>
          <a:xfrm>
            <a:off x="5486400" y="2523744"/>
            <a:ext cx="5239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450" b="1" dirty="0">
                <a:solidFill>
                  <a:schemeClr val="tx1"/>
                </a:solidFill>
              </a:rPr>
              <a:t>معلوم الاستهلاك (DC)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يتصاعد حسب سعة الأسطوانة ونوع المحرّك، وهو أثقل بند في السعر.</a:t>
            </a:r>
            <a:endParaRPr lang="ar-TN" sz="1400" dirty="0"/>
          </a:p>
        </p:txBody>
      </p:sp>
      <p:sp>
        <p:nvSpPr>
          <p:cNvPr id="11" name="card-32"/>
          <p:cNvSpPr/>
          <p:nvPr/>
        </p:nvSpPr>
        <p:spPr>
          <a:xfrm>
            <a:off x="5257800" y="3273552"/>
            <a:ext cx="6382512" cy="841248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2" name="icon-bg-33"/>
          <p:cNvSpPr/>
          <p:nvPr/>
        </p:nvSpPr>
        <p:spPr>
          <a:xfrm>
            <a:off x="10954512" y="3493008"/>
            <a:ext cx="457200" cy="45720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3" name="icon-3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8812" y="3607308"/>
            <a:ext cx="228600" cy="228600"/>
          </a:xfrm>
          <a:prstGeom prst="rect">
            <a:avLst/>
          </a:prstGeom>
        </p:spPr>
      </p:pic>
      <p:sp>
        <p:nvSpPr>
          <p:cNvPr id="14" name="text-35"/>
          <p:cNvSpPr txBox="1"/>
          <p:nvPr/>
        </p:nvSpPr>
        <p:spPr>
          <a:xfrm>
            <a:off x="5486400" y="3474720"/>
            <a:ext cx="5239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450" b="1" dirty="0">
                <a:solidFill>
                  <a:schemeClr val="tx1"/>
                </a:solidFill>
              </a:rPr>
              <a:t>الأداء على القيمة المضافة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النسبة العامة 19% على السيارات.</a:t>
            </a:r>
            <a:endParaRPr lang="ar-TN" sz="1400" dirty="0"/>
          </a:p>
        </p:txBody>
      </p:sp>
      <p:sp>
        <p:nvSpPr>
          <p:cNvPr id="15" name="card-36"/>
          <p:cNvSpPr/>
          <p:nvPr/>
        </p:nvSpPr>
        <p:spPr>
          <a:xfrm>
            <a:off x="5257800" y="4224528"/>
            <a:ext cx="6382512" cy="841248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6" name="icon-bg-37"/>
          <p:cNvSpPr/>
          <p:nvPr/>
        </p:nvSpPr>
        <p:spPr>
          <a:xfrm>
            <a:off x="10954512" y="4443984"/>
            <a:ext cx="457200" cy="45720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7" name="icon-3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8812" y="4558284"/>
            <a:ext cx="228600" cy="228600"/>
          </a:xfrm>
          <a:prstGeom prst="rect">
            <a:avLst/>
          </a:prstGeom>
        </p:spPr>
      </p:pic>
      <p:sp>
        <p:nvSpPr>
          <p:cNvPr id="18" name="text-39"/>
          <p:cNvSpPr txBox="1"/>
          <p:nvPr/>
        </p:nvSpPr>
        <p:spPr>
          <a:xfrm>
            <a:off x="5486400" y="4425696"/>
            <a:ext cx="5239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450" b="1" dirty="0">
                <a:solidFill>
                  <a:schemeClr val="tx1"/>
                </a:solidFill>
              </a:rPr>
              <a:t>معلوم التسجيل (البطاقة الرمادية)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يُدفع مرّة واحدة عند أول تسجيل للعربة.</a:t>
            </a:r>
            <a:endParaRPr lang="ar-TN" sz="1400" dirty="0"/>
          </a:p>
        </p:txBody>
      </p:sp>
      <p:sp>
        <p:nvSpPr>
          <p:cNvPr id="19" name="card-40"/>
          <p:cNvSpPr/>
          <p:nvPr/>
        </p:nvSpPr>
        <p:spPr>
          <a:xfrm>
            <a:off x="5257800" y="5175504"/>
            <a:ext cx="6382512" cy="841248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20" name="icon-bg-41"/>
          <p:cNvSpPr/>
          <p:nvPr/>
        </p:nvSpPr>
        <p:spPr>
          <a:xfrm>
            <a:off x="10954512" y="5394960"/>
            <a:ext cx="457200" cy="45720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21" name="icon-4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68812" y="5509260"/>
            <a:ext cx="228600" cy="228600"/>
          </a:xfrm>
          <a:prstGeom prst="rect">
            <a:avLst/>
          </a:prstGeom>
        </p:spPr>
      </p:pic>
      <p:sp>
        <p:nvSpPr>
          <p:cNvPr id="22" name="text-43"/>
          <p:cNvSpPr txBox="1"/>
          <p:nvPr/>
        </p:nvSpPr>
        <p:spPr>
          <a:xfrm>
            <a:off x="5486400" y="5376672"/>
            <a:ext cx="52395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450" b="1" dirty="0">
                <a:solidFill>
                  <a:schemeClr val="tx1"/>
                </a:solidFill>
              </a:rPr>
              <a:t>المعلوم الجولاني (الفينيات)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معلوم سنوي حسب القوة الجبائية للعربة.</a:t>
            </a:r>
            <a:endParaRPr lang="ar-TN" sz="1400" dirty="0"/>
          </a:p>
        </p:txBody>
      </p:sp>
      <p:pic>
        <p:nvPicPr>
          <p:cNvPr id="23" name="3d-car_tax-44" descr="car_tax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1750551"/>
            <a:ext cx="4206240" cy="2272809"/>
          </a:xfrm>
          <a:prstGeom prst="rect">
            <a:avLst/>
          </a:prstGeom>
        </p:spPr>
      </p:pic>
      <p:sp>
        <p:nvSpPr>
          <p:cNvPr id="24" name="card-45"/>
          <p:cNvSpPr/>
          <p:nvPr/>
        </p:nvSpPr>
        <p:spPr>
          <a:xfrm>
            <a:off x="914400" y="4343400"/>
            <a:ext cx="3749040" cy="173736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25" name="text-46"/>
          <p:cNvSpPr txBox="1"/>
          <p:nvPr/>
        </p:nvSpPr>
        <p:spPr>
          <a:xfrm>
            <a:off x="1097280" y="450799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3200" b="1" dirty="0">
                <a:solidFill>
                  <a:schemeClr val="accent2"/>
                </a:solidFill>
              </a:rPr>
              <a:t>قرابة النصف</a:t>
            </a:r>
            <a:endParaRPr lang="ar-TN" sz="3200" dirty="0"/>
          </a:p>
        </p:txBody>
      </p:sp>
      <p:sp>
        <p:nvSpPr>
          <p:cNvPr id="26" name="text-47"/>
          <p:cNvSpPr txBox="1"/>
          <p:nvPr/>
        </p:nvSpPr>
        <p:spPr>
          <a:xfrm>
            <a:off x="1097280" y="5257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من سعر السيارة الجديدة يذهب إلى الضرائب والمعاليم</a:t>
            </a:r>
            <a:endParaRPr lang="ar-TN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الأنظمة التفاضلية: من ينتفع؟</a:t>
            </a:r>
            <a:endParaRPr lang="ar-TN" sz="3000" dirty="0"/>
          </a:p>
        </p:txBody>
      </p:sp>
      <p:sp>
        <p:nvSpPr>
          <p:cNvPr id="3" name="card-48"/>
          <p:cNvSpPr/>
          <p:nvPr/>
        </p:nvSpPr>
        <p:spPr>
          <a:xfrm>
            <a:off x="9037015" y="146304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pic>
        <p:nvPicPr>
          <p:cNvPr id="4" name="3d-travel-49" descr="trav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42755" y="1865631"/>
            <a:ext cx="2194560" cy="1700529"/>
          </a:xfrm>
          <a:prstGeom prst="rect">
            <a:avLst/>
          </a:prstGeom>
        </p:spPr>
      </p:pic>
      <p:sp>
        <p:nvSpPr>
          <p:cNvPr id="5" name="icon-bg-50"/>
          <p:cNvSpPr/>
          <p:nvPr/>
        </p:nvSpPr>
        <p:spPr>
          <a:xfrm>
            <a:off x="10038283" y="3749040"/>
            <a:ext cx="603504" cy="603504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6" name="icon-5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89159" y="3899916"/>
            <a:ext cx="301752" cy="301752"/>
          </a:xfrm>
          <a:prstGeom prst="rect">
            <a:avLst/>
          </a:prstGeom>
        </p:spPr>
      </p:pic>
      <p:sp>
        <p:nvSpPr>
          <p:cNvPr id="7" name="text-52"/>
          <p:cNvSpPr txBox="1"/>
          <p:nvPr/>
        </p:nvSpPr>
        <p:spPr>
          <a:xfrm>
            <a:off x="9219895" y="4480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600" b="1" dirty="0">
                <a:solidFill>
                  <a:schemeClr val="accent1"/>
                </a:solidFill>
              </a:rPr>
              <a:t>نظام FCR</a:t>
            </a:r>
            <a:endParaRPr lang="ar-TN" sz="1600" dirty="0"/>
          </a:p>
        </p:txBody>
      </p:sp>
      <p:sp>
        <p:nvSpPr>
          <p:cNvPr id="8" name="text-53"/>
          <p:cNvSpPr txBox="1"/>
          <p:nvPr/>
        </p:nvSpPr>
        <p:spPr>
          <a:xfrm>
            <a:off x="9265615" y="502920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التونسيون المقيمون بالخارج عند العودة أو مرّة كل 10 سنوات</a:t>
            </a:r>
            <a:endParaRPr lang="ar-TN" sz="1300" dirty="0"/>
          </a:p>
        </p:txBody>
      </p:sp>
      <p:sp>
        <p:nvSpPr>
          <p:cNvPr id="9" name="card-54"/>
          <p:cNvSpPr/>
          <p:nvPr/>
        </p:nvSpPr>
        <p:spPr>
          <a:xfrm>
            <a:off x="6208776" y="146304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pic>
        <p:nvPicPr>
          <p:cNvPr id="10" name="3d-car_ev-55" descr="car_ev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16" y="2001930"/>
            <a:ext cx="2194560" cy="1564230"/>
          </a:xfrm>
          <a:prstGeom prst="rect">
            <a:avLst/>
          </a:prstGeom>
        </p:spPr>
      </p:pic>
      <p:sp>
        <p:nvSpPr>
          <p:cNvPr id="11" name="icon-bg-56"/>
          <p:cNvSpPr/>
          <p:nvPr/>
        </p:nvSpPr>
        <p:spPr>
          <a:xfrm>
            <a:off x="7210044" y="3749040"/>
            <a:ext cx="603504" cy="603504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2" name="icon-5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3899916"/>
            <a:ext cx="301752" cy="301752"/>
          </a:xfrm>
          <a:prstGeom prst="rect">
            <a:avLst/>
          </a:prstGeom>
        </p:spPr>
      </p:pic>
      <p:sp>
        <p:nvSpPr>
          <p:cNvPr id="13" name="text-58"/>
          <p:cNvSpPr txBox="1"/>
          <p:nvPr/>
        </p:nvSpPr>
        <p:spPr>
          <a:xfrm>
            <a:off x="6391656" y="4480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600" b="1" dirty="0">
                <a:solidFill>
                  <a:schemeClr val="accent1"/>
                </a:solidFill>
              </a:rPr>
              <a:t>السيارات الكهربائية والهجينة</a:t>
            </a:r>
            <a:endParaRPr lang="ar-TN" sz="1600" dirty="0"/>
          </a:p>
        </p:txBody>
      </p:sp>
      <p:sp>
        <p:nvSpPr>
          <p:cNvPr id="14" name="text-59"/>
          <p:cNvSpPr txBox="1"/>
          <p:nvPr/>
        </p:nvSpPr>
        <p:spPr>
          <a:xfrm>
            <a:off x="6437376" y="502920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كل مقتنٍ لعربة كهربائية أو هجينة تستوفي الشروط إلى غاية 31/12/2028</a:t>
            </a:r>
            <a:endParaRPr lang="ar-TN" sz="1300" dirty="0"/>
          </a:p>
        </p:txBody>
      </p:sp>
      <p:sp>
        <p:nvSpPr>
          <p:cNvPr id="15" name="card-60"/>
          <p:cNvSpPr/>
          <p:nvPr/>
        </p:nvSpPr>
        <p:spPr>
          <a:xfrm>
            <a:off x="3380537" y="146304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pic>
        <p:nvPicPr>
          <p:cNvPr id="16" name="3d-house-61" descr="hous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2294" y="1828800"/>
            <a:ext cx="2002525" cy="1737360"/>
          </a:xfrm>
          <a:prstGeom prst="rect">
            <a:avLst/>
          </a:prstGeom>
        </p:spPr>
      </p:pic>
      <p:sp>
        <p:nvSpPr>
          <p:cNvPr id="17" name="icon-bg-62"/>
          <p:cNvSpPr/>
          <p:nvPr/>
        </p:nvSpPr>
        <p:spPr>
          <a:xfrm>
            <a:off x="4381805" y="3749040"/>
            <a:ext cx="603504" cy="603504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8" name="icon-6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32681" y="3899916"/>
            <a:ext cx="301752" cy="301752"/>
          </a:xfrm>
          <a:prstGeom prst="rect">
            <a:avLst/>
          </a:prstGeom>
        </p:spPr>
      </p:pic>
      <p:sp>
        <p:nvSpPr>
          <p:cNvPr id="19" name="text-64"/>
          <p:cNvSpPr txBox="1"/>
          <p:nvPr/>
        </p:nvSpPr>
        <p:spPr>
          <a:xfrm>
            <a:off x="3563417" y="4480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600" b="1" dirty="0">
                <a:solidFill>
                  <a:schemeClr val="accent1"/>
                </a:solidFill>
              </a:rPr>
              <a:t>سيارة لكل عائلة</a:t>
            </a:r>
            <a:endParaRPr lang="ar-TN" sz="1600" dirty="0"/>
          </a:p>
        </p:txBody>
      </p:sp>
      <p:sp>
        <p:nvSpPr>
          <p:cNvPr id="20" name="text-65"/>
          <p:cNvSpPr txBox="1"/>
          <p:nvPr/>
        </p:nvSpPr>
        <p:spPr>
          <a:xfrm>
            <a:off x="3609137" y="502920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العائلات المقيمة، مرّة واحدة في العمر، حسب سقف الدخل</a:t>
            </a:r>
            <a:endParaRPr lang="ar-TN" sz="1300" dirty="0"/>
          </a:p>
        </p:txBody>
      </p:sp>
      <p:sp>
        <p:nvSpPr>
          <p:cNvPr id="21" name="card-66"/>
          <p:cNvSpPr/>
          <p:nvPr/>
        </p:nvSpPr>
        <p:spPr>
          <a:xfrm>
            <a:off x="552298" y="146304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pic>
        <p:nvPicPr>
          <p:cNvPr id="22" name="3d-towers-67" descr="tower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6790" y="1828800"/>
            <a:ext cx="1877055" cy="1737360"/>
          </a:xfrm>
          <a:prstGeom prst="rect">
            <a:avLst/>
          </a:prstGeom>
        </p:spPr>
      </p:pic>
      <p:sp>
        <p:nvSpPr>
          <p:cNvPr id="23" name="icon-bg-68"/>
          <p:cNvSpPr/>
          <p:nvPr/>
        </p:nvSpPr>
        <p:spPr>
          <a:xfrm>
            <a:off x="1553566" y="3749040"/>
            <a:ext cx="603504" cy="603504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24" name="icon-69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4442" y="3899916"/>
            <a:ext cx="301752" cy="301752"/>
          </a:xfrm>
          <a:prstGeom prst="rect">
            <a:avLst/>
          </a:prstGeom>
        </p:spPr>
      </p:pic>
      <p:sp>
        <p:nvSpPr>
          <p:cNvPr id="25" name="text-70"/>
          <p:cNvSpPr txBox="1"/>
          <p:nvPr/>
        </p:nvSpPr>
        <p:spPr>
          <a:xfrm>
            <a:off x="735178" y="44805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600" b="1" dirty="0">
                <a:solidFill>
                  <a:schemeClr val="accent1"/>
                </a:solidFill>
              </a:rPr>
              <a:t>التصنيع المحلي</a:t>
            </a:r>
            <a:endParaRPr lang="ar-TN" sz="1600" dirty="0"/>
          </a:p>
        </p:txBody>
      </p:sp>
      <p:sp>
        <p:nvSpPr>
          <p:cNvPr id="26" name="text-71"/>
          <p:cNvSpPr txBox="1"/>
          <p:nvPr/>
        </p:nvSpPr>
        <p:spPr>
          <a:xfrm>
            <a:off x="780898" y="502920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السيارات المصنّعة أو المركّبة في تونس ضمن البرنامج العائلي</a:t>
            </a:r>
            <a:endParaRPr lang="ar-TN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نظام FCR للتونسيين المقيمين بالخارج</a:t>
            </a:r>
            <a:endParaRPr lang="ar-TN" sz="3000" dirty="0"/>
          </a:p>
        </p:txBody>
      </p:sp>
      <p:sp>
        <p:nvSpPr>
          <p:cNvPr id="3" name="text-7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dirty="0">
                <a:solidFill>
                  <a:schemeClr val="accent5"/>
                </a:solidFill>
              </a:rPr>
              <a:t>الأمر عدد 370 لسنة 2024 المؤرخ في 19 جوان 2024</a:t>
            </a:r>
            <a:endParaRPr lang="ar-TN" sz="1500" dirty="0"/>
          </a:p>
        </p:txBody>
      </p:sp>
      <p:sp>
        <p:nvSpPr>
          <p:cNvPr id="4" name="card-73"/>
          <p:cNvSpPr/>
          <p:nvPr/>
        </p:nvSpPr>
        <p:spPr>
          <a:xfrm>
            <a:off x="8513064" y="1691640"/>
            <a:ext cx="3127248" cy="164592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5" name="icon-bg-74"/>
          <p:cNvSpPr/>
          <p:nvPr/>
        </p:nvSpPr>
        <p:spPr>
          <a:xfrm>
            <a:off x="10936224" y="1911096"/>
            <a:ext cx="475488" cy="47548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6" name="icon-7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2029968"/>
            <a:ext cx="237744" cy="237744"/>
          </a:xfrm>
          <a:prstGeom prst="rect">
            <a:avLst/>
          </a:prstGeom>
        </p:spPr>
      </p:pic>
      <p:sp>
        <p:nvSpPr>
          <p:cNvPr id="7" name="text-76"/>
          <p:cNvSpPr txBox="1"/>
          <p:nvPr/>
        </p:nvSpPr>
        <p:spPr>
          <a:xfrm>
            <a:off x="8741664" y="1892808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مرّة كل 10 سنوات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لم يعد الامتياز مقتصرًا على العودة النهائية: توريد سيارة أو درّاجة نارية مرّة كل 10 سنوات.</a:t>
            </a:r>
            <a:endParaRPr lang="ar-TN" sz="1400" dirty="0"/>
          </a:p>
        </p:txBody>
      </p:sp>
      <p:sp>
        <p:nvSpPr>
          <p:cNvPr id="8" name="card-77"/>
          <p:cNvSpPr/>
          <p:nvPr/>
        </p:nvSpPr>
        <p:spPr>
          <a:xfrm>
            <a:off x="5257800" y="1691640"/>
            <a:ext cx="3127248" cy="164592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9" name="icon-bg-78"/>
          <p:cNvSpPr/>
          <p:nvPr/>
        </p:nvSpPr>
        <p:spPr>
          <a:xfrm>
            <a:off x="7680960" y="1911096"/>
            <a:ext cx="475488" cy="47548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0" name="icon-7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2029968"/>
            <a:ext cx="237744" cy="237744"/>
          </a:xfrm>
          <a:prstGeom prst="rect">
            <a:avLst/>
          </a:prstGeom>
        </p:spPr>
      </p:pic>
      <p:sp>
        <p:nvSpPr>
          <p:cNvPr id="11" name="text-80"/>
          <p:cNvSpPr txBox="1"/>
          <p:nvPr/>
        </p:nvSpPr>
        <p:spPr>
          <a:xfrm>
            <a:off x="5486400" y="1892808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يشمل الهجينة والكهربائية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أُدمجت السيارات الهجينة والكهربائية ضمن الامتياز، إلى جانب السياحية ورباعية الدفع والنفعية.</a:t>
            </a:r>
            <a:endParaRPr lang="ar-TN" sz="1400" dirty="0"/>
          </a:p>
        </p:txBody>
      </p:sp>
      <p:sp>
        <p:nvSpPr>
          <p:cNvPr id="12" name="card-81"/>
          <p:cNvSpPr/>
          <p:nvPr/>
        </p:nvSpPr>
        <p:spPr>
          <a:xfrm>
            <a:off x="8513064" y="3474720"/>
            <a:ext cx="3127248" cy="164592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3" name="icon-bg-82"/>
          <p:cNvSpPr/>
          <p:nvPr/>
        </p:nvSpPr>
        <p:spPr>
          <a:xfrm>
            <a:off x="10936224" y="3694176"/>
            <a:ext cx="475488" cy="47548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4" name="icon-8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3813048"/>
            <a:ext cx="237744" cy="237744"/>
          </a:xfrm>
          <a:prstGeom prst="rect">
            <a:avLst/>
          </a:prstGeom>
        </p:spPr>
      </p:pic>
      <p:sp>
        <p:nvSpPr>
          <p:cNvPr id="15" name="text-84"/>
          <p:cNvSpPr txBox="1"/>
          <p:nvPr/>
        </p:nvSpPr>
        <p:spPr>
          <a:xfrm>
            <a:off x="8741664" y="3675888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نسبة 25% حسب الأسطوانة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بنزين أو هجين حتى 2000 صم³ — ديزل أو هجين حتى 2500 صم³.</a:t>
            </a:r>
            <a:endParaRPr lang="ar-TN" sz="1400" dirty="0"/>
          </a:p>
        </p:txBody>
      </p:sp>
      <p:sp>
        <p:nvSpPr>
          <p:cNvPr id="16" name="card-85"/>
          <p:cNvSpPr/>
          <p:nvPr/>
        </p:nvSpPr>
        <p:spPr>
          <a:xfrm>
            <a:off x="5257800" y="3474720"/>
            <a:ext cx="3127248" cy="164592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7" name="icon-bg-86"/>
          <p:cNvSpPr/>
          <p:nvPr/>
        </p:nvSpPr>
        <p:spPr>
          <a:xfrm>
            <a:off x="7680960" y="3694176"/>
            <a:ext cx="475488" cy="47548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8" name="icon-8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3813048"/>
            <a:ext cx="237744" cy="237744"/>
          </a:xfrm>
          <a:prstGeom prst="rect">
            <a:avLst/>
          </a:prstGeom>
        </p:spPr>
      </p:pic>
      <p:sp>
        <p:nvSpPr>
          <p:cNvPr id="19" name="text-88"/>
          <p:cNvSpPr txBox="1"/>
          <p:nvPr/>
        </p:nvSpPr>
        <p:spPr>
          <a:xfrm>
            <a:off x="5486400" y="3675888"/>
            <a:ext cx="1965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التسجيل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سلسلة RS لمدة سنة، ثم السلسلة التونسية العادية.</a:t>
            </a:r>
            <a:endParaRPr lang="ar-TN" sz="1400" dirty="0"/>
          </a:p>
        </p:txBody>
      </p:sp>
      <p:sp>
        <p:nvSpPr>
          <p:cNvPr id="20" name="card-89"/>
          <p:cNvSpPr/>
          <p:nvPr/>
        </p:nvSpPr>
        <p:spPr>
          <a:xfrm>
            <a:off x="5257800" y="5349240"/>
            <a:ext cx="6382512" cy="73152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21" name="text-90"/>
          <p:cNvSpPr txBox="1"/>
          <p:nvPr/>
        </p:nvSpPr>
        <p:spPr>
          <a:xfrm>
            <a:off x="5486400" y="5349240"/>
            <a:ext cx="5925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350" b="1" dirty="0">
                <a:solidFill>
                  <a:schemeClr val="tx1"/>
                </a:solidFill>
              </a:rPr>
              <a:t>شرط الإقامة بالخارج: سنتان على الأقل قبل آخر دخول، دون تجاوز 183 يومًا من الإقامة بتونس.</a:t>
            </a:r>
            <a:endParaRPr lang="ar-TN" sz="1350" dirty="0"/>
          </a:p>
        </p:txBody>
      </p:sp>
      <p:pic>
        <p:nvPicPr>
          <p:cNvPr id="22" name="3d-travel-91" descr="trave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2501373"/>
            <a:ext cx="4206240" cy="325934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برنامج «سيارة لكل عائلة» (قانون المالية 2026)</a:t>
            </a:r>
            <a:endParaRPr lang="ar-TN" sz="3000" dirty="0"/>
          </a:p>
        </p:txBody>
      </p:sp>
      <p:sp>
        <p:nvSpPr>
          <p:cNvPr id="3" name="card-92"/>
          <p:cNvSpPr/>
          <p:nvPr/>
        </p:nvSpPr>
        <p:spPr>
          <a:xfrm>
            <a:off x="8513064" y="1371600"/>
            <a:ext cx="3127248" cy="1691640"/>
          </a:xfrm>
          <a:prstGeom prst="roundRect">
            <a:avLst>
              <a:gd name="adj" fmla="val 864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4" name="icon-bg-93"/>
          <p:cNvSpPr/>
          <p:nvPr/>
        </p:nvSpPr>
        <p:spPr>
          <a:xfrm>
            <a:off x="10936224" y="1591056"/>
            <a:ext cx="475488" cy="47548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5" name="icon-94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55096" y="1709928"/>
            <a:ext cx="237744" cy="237744"/>
          </a:xfrm>
          <a:prstGeom prst="rect">
            <a:avLst/>
          </a:prstGeom>
        </p:spPr>
      </p:pic>
      <p:sp>
        <p:nvSpPr>
          <p:cNvPr id="6" name="text-95"/>
          <p:cNvSpPr txBox="1"/>
          <p:nvPr/>
        </p:nvSpPr>
        <p:spPr>
          <a:xfrm>
            <a:off x="8741664" y="1572768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مرّة واحدة في العمر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امتياز جبائي عند توريد أو شراء عربة جديدة أو مستعملة من السوق المحلية لفائدة العائلات المقيمة.</a:t>
            </a:r>
            <a:endParaRPr lang="ar-TN" sz="1400" dirty="0"/>
          </a:p>
        </p:txBody>
      </p:sp>
      <p:sp>
        <p:nvSpPr>
          <p:cNvPr id="7" name="card-96"/>
          <p:cNvSpPr/>
          <p:nvPr/>
        </p:nvSpPr>
        <p:spPr>
          <a:xfrm>
            <a:off x="5257800" y="1371600"/>
            <a:ext cx="3127248" cy="1691640"/>
          </a:xfrm>
          <a:prstGeom prst="roundRect">
            <a:avLst>
              <a:gd name="adj" fmla="val 864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8" name="icon-bg-97"/>
          <p:cNvSpPr/>
          <p:nvPr/>
        </p:nvSpPr>
        <p:spPr>
          <a:xfrm>
            <a:off x="7680960" y="1591056"/>
            <a:ext cx="475488" cy="47548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9" name="icon-9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9832" y="1709928"/>
            <a:ext cx="237744" cy="237744"/>
          </a:xfrm>
          <a:prstGeom prst="rect">
            <a:avLst/>
          </a:prstGeom>
        </p:spPr>
      </p:pic>
      <p:sp>
        <p:nvSpPr>
          <p:cNvPr id="10" name="text-99"/>
          <p:cNvSpPr txBox="1"/>
          <p:nvPr/>
        </p:nvSpPr>
        <p:spPr>
          <a:xfrm>
            <a:off x="5486400" y="1572768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سقف الدخل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الدخل الخام لا يتجاوز 10 مرّات الأجر الأدنى المضمون للفرد، و14 مرّة للزوجين.</a:t>
            </a:r>
            <a:endParaRPr lang="ar-TN" sz="1400" dirty="0"/>
          </a:p>
        </p:txBody>
      </p:sp>
      <p:sp>
        <p:nvSpPr>
          <p:cNvPr id="11" name="card-100"/>
          <p:cNvSpPr/>
          <p:nvPr/>
        </p:nvSpPr>
        <p:spPr>
          <a:xfrm>
            <a:off x="8513064" y="3200400"/>
            <a:ext cx="3127248" cy="1691640"/>
          </a:xfrm>
          <a:prstGeom prst="roundRect">
            <a:avLst>
              <a:gd name="adj" fmla="val 864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2" name="icon-bg-101"/>
          <p:cNvSpPr/>
          <p:nvPr/>
        </p:nvSpPr>
        <p:spPr>
          <a:xfrm>
            <a:off x="10936224" y="3419856"/>
            <a:ext cx="475488" cy="47548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3" name="icon-10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5096" y="3538728"/>
            <a:ext cx="237744" cy="237744"/>
          </a:xfrm>
          <a:prstGeom prst="rect">
            <a:avLst/>
          </a:prstGeom>
        </p:spPr>
      </p:pic>
      <p:sp>
        <p:nvSpPr>
          <p:cNvPr id="14" name="text-103"/>
          <p:cNvSpPr txBox="1"/>
          <p:nvPr/>
        </p:nvSpPr>
        <p:spPr>
          <a:xfrm>
            <a:off x="8741664" y="3401568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شروط العربة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عمرها لا يتجاوز 8 سنوات، والعائلة لا تملك عربة عمرها أقل من 8 سنوات.</a:t>
            </a:r>
            <a:endParaRPr lang="ar-TN" sz="1400" dirty="0"/>
          </a:p>
        </p:txBody>
      </p:sp>
      <p:sp>
        <p:nvSpPr>
          <p:cNvPr id="15" name="card-104"/>
          <p:cNvSpPr/>
          <p:nvPr/>
        </p:nvSpPr>
        <p:spPr>
          <a:xfrm>
            <a:off x="5257800" y="3200400"/>
            <a:ext cx="3127248" cy="1691640"/>
          </a:xfrm>
          <a:prstGeom prst="roundRect">
            <a:avLst>
              <a:gd name="adj" fmla="val 864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6" name="icon-bg-105"/>
          <p:cNvSpPr/>
          <p:nvPr/>
        </p:nvSpPr>
        <p:spPr>
          <a:xfrm>
            <a:off x="7680960" y="3419856"/>
            <a:ext cx="475488" cy="47548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7" name="icon-10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832" y="3538728"/>
            <a:ext cx="237744" cy="237744"/>
          </a:xfrm>
          <a:prstGeom prst="rect">
            <a:avLst/>
          </a:prstGeom>
        </p:spPr>
      </p:pic>
      <p:sp>
        <p:nvSpPr>
          <p:cNvPr id="18" name="text-107"/>
          <p:cNvSpPr txBox="1"/>
          <p:nvPr/>
        </p:nvSpPr>
        <p:spPr>
          <a:xfrm>
            <a:off x="5486400" y="3401568"/>
            <a:ext cx="19659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منع التفويت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لا يجوز التفويت في العربة لمدّة 5 سنوات، ويُنصَّص ذلك على البطاقة الرمادية.</a:t>
            </a:r>
            <a:endParaRPr lang="ar-TN" sz="1400" dirty="0"/>
          </a:p>
        </p:txBody>
      </p:sp>
      <p:sp>
        <p:nvSpPr>
          <p:cNvPr id="19" name="card-108"/>
          <p:cNvSpPr/>
          <p:nvPr/>
        </p:nvSpPr>
        <p:spPr>
          <a:xfrm>
            <a:off x="5257800" y="5120640"/>
            <a:ext cx="6382512" cy="960120"/>
          </a:xfrm>
          <a:prstGeom prst="roundRect">
            <a:avLst>
              <a:gd name="adj" fmla="val 15238"/>
            </a:avLst>
          </a:prstGeom>
          <a:solidFill>
            <a:schemeClr val="bg2"/>
          </a:solidFill>
          <a:ln w="12700">
            <a:solidFill>
              <a:srgbClr val="B8862B"/>
            </a:solidFill>
            <a:prstDash val="solid"/>
          </a:ln>
        </p:spPr>
      </p:sp>
      <p:sp>
        <p:nvSpPr>
          <p:cNvPr id="20" name="icon-bg-109"/>
          <p:cNvSpPr/>
          <p:nvPr/>
        </p:nvSpPr>
        <p:spPr>
          <a:xfrm>
            <a:off x="10908792" y="5349240"/>
            <a:ext cx="502920" cy="502920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21" name="icon-11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4522" y="5474970"/>
            <a:ext cx="251460" cy="251460"/>
          </a:xfrm>
          <a:prstGeom prst="rect">
            <a:avLst/>
          </a:prstGeom>
        </p:spPr>
      </p:pic>
      <p:sp>
        <p:nvSpPr>
          <p:cNvPr id="22" name="text-111"/>
          <p:cNvSpPr txBox="1"/>
          <p:nvPr/>
        </p:nvSpPr>
        <p:spPr>
          <a:xfrm>
            <a:off x="5486400" y="512064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التطبيق ما زال معلّقًا: صرّحت وزيرة المالية أمام البرلمان (جويلية 2026) بأنّ تفعيله يتطلّب حلّ إشكاليات مالية وقانونية وإدارية.</a:t>
            </a:r>
            <a:endParaRPr lang="ar-TN" sz="1300" dirty="0"/>
          </a:p>
        </p:txBody>
      </p:sp>
      <p:pic>
        <p:nvPicPr>
          <p:cNvPr id="23" name="3d-house-112" descr="hous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2474498"/>
            <a:ext cx="3840480" cy="333194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ll-113"/>
          <p:cNvSpPr/>
          <p:nvPr/>
        </p:nvSpPr>
        <p:spPr>
          <a:xfrm>
            <a:off x="9445752" y="1828800"/>
            <a:ext cx="2194560" cy="53035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3" name="text-114"/>
          <p:cNvSpPr txBox="1"/>
          <p:nvPr/>
        </p:nvSpPr>
        <p:spPr>
          <a:xfrm>
            <a:off x="9555480" y="1828800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500" b="1" dirty="0">
                <a:solidFill>
                  <a:schemeClr val="bg1"/>
                </a:solidFill>
              </a:rPr>
              <a:t>الجزء الثاني</a:t>
            </a:r>
            <a:endParaRPr lang="ar-TN" sz="15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6400800" y="2514600"/>
            <a:ext cx="523951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3600" b="1" dirty="0">
                <a:solidFill>
                  <a:schemeClr val="tx1"/>
                </a:solidFill>
              </a:rPr>
              <a:t>السيارات الهجينة: الأصناف والامتيازات</a:t>
            </a:r>
            <a:endParaRPr lang="ar-TN" sz="36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6400800" y="4343400"/>
            <a:ext cx="5239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600" dirty="0">
                <a:solidFill>
                  <a:schemeClr val="accent5"/>
                </a:solidFill>
              </a:rPr>
              <a:t>MHEV · HEV · PHEV — مع الكهربائية EV للمقارنة</a:t>
            </a:r>
            <a:endParaRPr lang="ar-TN" sz="1600" dirty="0"/>
          </a:p>
        </p:txBody>
      </p:sp>
      <p:pic>
        <p:nvPicPr>
          <p:cNvPr id="6" name="3d-car_hev-115" descr="car_he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246105"/>
            <a:ext cx="4206240" cy="28745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سلّم الكهربة: من الهجين الخفيف إلى الكهربائي</a:t>
            </a:r>
            <a:endParaRPr lang="ar-TN" sz="3000" dirty="0"/>
          </a:p>
        </p:txBody>
      </p:sp>
      <p:sp>
        <p:nvSpPr>
          <p:cNvPr id="3" name="text-116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dirty="0">
                <a:solidFill>
                  <a:schemeClr val="accent5"/>
                </a:solidFill>
              </a:rPr>
              <a:t>كلّما صعدنا السلّم: بطارية أكبر، قيادة كهربائية أطول، وامتيازات جبائية أوسع</a:t>
            </a:r>
            <a:endParaRPr lang="ar-TN" sz="1500" dirty="0"/>
          </a:p>
        </p:txBody>
      </p:sp>
      <p:sp>
        <p:nvSpPr>
          <p:cNvPr id="4" name="card-117"/>
          <p:cNvSpPr/>
          <p:nvPr/>
        </p:nvSpPr>
        <p:spPr>
          <a:xfrm>
            <a:off x="9037015" y="3703320"/>
            <a:ext cx="2606040" cy="2377440"/>
          </a:xfrm>
          <a:prstGeom prst="roundRect">
            <a:avLst>
              <a:gd name="adj" fmla="val 615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5" name="rung-118"/>
          <p:cNvSpPr/>
          <p:nvPr/>
        </p:nvSpPr>
        <p:spPr>
          <a:xfrm>
            <a:off x="9174175" y="3840480"/>
            <a:ext cx="2331720" cy="640080"/>
          </a:xfrm>
          <a:prstGeom prst="roundRect">
            <a:avLst>
              <a:gd name="adj" fmla="val 17143"/>
            </a:avLst>
          </a:prstGeom>
          <a:solidFill>
            <a:schemeClr val="accent5"/>
          </a:solidFill>
          <a:ln/>
        </p:spPr>
      </p:sp>
      <p:sp>
        <p:nvSpPr>
          <p:cNvPr id="6" name="text-119"/>
          <p:cNvSpPr txBox="1"/>
          <p:nvPr/>
        </p:nvSpPr>
        <p:spPr>
          <a:xfrm>
            <a:off x="9219895" y="38404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TN" altLang="en-US" sz="1800" b="1" dirty="0">
                <a:solidFill>
                  <a:schemeClr val="bg1"/>
                </a:solidFill>
              </a:rPr>
              <a:t>MHEV</a:t>
            </a:r>
            <a:endParaRPr lang="ar-TN" sz="1400" dirty="0"/>
          </a:p>
          <a:p>
            <a:pPr rtl="1" algn="ctr" indent="0" marL="0">
              <a:buNone/>
            </a:pPr>
            <a:r>
              <a:rPr lang="ar-TN" altLang="en-US" sz="1150" dirty="0">
                <a:solidFill>
                  <a:schemeClr val="bg1"/>
                </a:solidFill>
              </a:rPr>
              <a:t>هجينة خفيفة</a:t>
            </a:r>
            <a:endParaRPr lang="ar-TN" sz="1400" dirty="0"/>
          </a:p>
        </p:txBody>
      </p:sp>
      <p:sp>
        <p:nvSpPr>
          <p:cNvPr id="7" name="text-120"/>
          <p:cNvSpPr txBox="1"/>
          <p:nvPr/>
        </p:nvSpPr>
        <p:spPr>
          <a:xfrm>
            <a:off x="9219895" y="45720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محرّك كهربائي صغير (48V) يساعد المحرّك الحراري فقط</a:t>
            </a:r>
            <a:endParaRPr lang="ar-TN" sz="1250" dirty="0"/>
          </a:p>
        </p:txBody>
      </p:sp>
      <p:sp>
        <p:nvSpPr>
          <p:cNvPr id="8" name="card-121"/>
          <p:cNvSpPr/>
          <p:nvPr/>
        </p:nvSpPr>
        <p:spPr>
          <a:xfrm>
            <a:off x="6208776" y="3246120"/>
            <a:ext cx="2606040" cy="283464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9" name="rung-122"/>
          <p:cNvSpPr/>
          <p:nvPr/>
        </p:nvSpPr>
        <p:spPr>
          <a:xfrm>
            <a:off x="6345936" y="3383280"/>
            <a:ext cx="2331720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/>
        </p:spPr>
      </p:sp>
      <p:sp>
        <p:nvSpPr>
          <p:cNvPr id="10" name="text-123"/>
          <p:cNvSpPr txBox="1"/>
          <p:nvPr/>
        </p:nvSpPr>
        <p:spPr>
          <a:xfrm>
            <a:off x="6391656" y="33832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TN" altLang="en-US" sz="1800" b="1" dirty="0">
                <a:solidFill>
                  <a:schemeClr val="bg1"/>
                </a:solidFill>
              </a:rPr>
              <a:t>HEV</a:t>
            </a:r>
            <a:endParaRPr lang="ar-TN" sz="1400" dirty="0"/>
          </a:p>
          <a:p>
            <a:pPr rtl="1" algn="ctr" indent="0" marL="0">
              <a:buNone/>
            </a:pPr>
            <a:r>
              <a:rPr lang="ar-TN" altLang="en-US" sz="1150" dirty="0">
                <a:solidFill>
                  <a:schemeClr val="bg1"/>
                </a:solidFill>
              </a:rPr>
              <a:t>هجينة كاملة</a:t>
            </a:r>
            <a:endParaRPr lang="ar-TN" sz="1400" dirty="0"/>
          </a:p>
        </p:txBody>
      </p:sp>
      <p:sp>
        <p:nvSpPr>
          <p:cNvPr id="11" name="text-124"/>
          <p:cNvSpPr txBox="1"/>
          <p:nvPr/>
        </p:nvSpPr>
        <p:spPr>
          <a:xfrm>
            <a:off x="6391656" y="41148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تشحن نفسها بنفسها وتسير كهربائيًا لمسافات قصيرة</a:t>
            </a:r>
            <a:endParaRPr lang="ar-TN" sz="1250" dirty="0"/>
          </a:p>
        </p:txBody>
      </p:sp>
      <p:pic>
        <p:nvPicPr>
          <p:cNvPr id="12" name="3d-car_hev-125" descr="car_he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9335" y="4983480"/>
            <a:ext cx="1404921" cy="960120"/>
          </a:xfrm>
          <a:prstGeom prst="rect">
            <a:avLst/>
          </a:prstGeom>
        </p:spPr>
      </p:pic>
      <p:sp>
        <p:nvSpPr>
          <p:cNvPr id="13" name="card-126"/>
          <p:cNvSpPr/>
          <p:nvPr/>
        </p:nvSpPr>
        <p:spPr>
          <a:xfrm>
            <a:off x="3380537" y="2788920"/>
            <a:ext cx="2606040" cy="329184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4" name="rung-127"/>
          <p:cNvSpPr/>
          <p:nvPr/>
        </p:nvSpPr>
        <p:spPr>
          <a:xfrm>
            <a:off x="3517697" y="2926080"/>
            <a:ext cx="233172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</p:sp>
      <p:sp>
        <p:nvSpPr>
          <p:cNvPr id="15" name="text-128"/>
          <p:cNvSpPr txBox="1"/>
          <p:nvPr/>
        </p:nvSpPr>
        <p:spPr>
          <a:xfrm>
            <a:off x="3563417" y="29260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TN" altLang="en-US" sz="1800" b="1" dirty="0">
                <a:solidFill>
                  <a:schemeClr val="bg1"/>
                </a:solidFill>
              </a:rPr>
              <a:t>PHEV</a:t>
            </a:r>
            <a:endParaRPr lang="ar-TN" sz="1400" dirty="0"/>
          </a:p>
          <a:p>
            <a:pPr rtl="1" algn="ctr" indent="0" marL="0">
              <a:buNone/>
            </a:pPr>
            <a:r>
              <a:rPr lang="ar-TN" altLang="en-US" sz="1150" dirty="0">
                <a:solidFill>
                  <a:schemeClr val="bg1"/>
                </a:solidFill>
              </a:rPr>
              <a:t>هجينة قابلة للشحن</a:t>
            </a:r>
            <a:endParaRPr lang="ar-TN" sz="1400" dirty="0"/>
          </a:p>
        </p:txBody>
      </p:sp>
      <p:sp>
        <p:nvSpPr>
          <p:cNvPr id="16" name="text-129"/>
          <p:cNvSpPr txBox="1"/>
          <p:nvPr/>
        </p:nvSpPr>
        <p:spPr>
          <a:xfrm>
            <a:off x="3563417" y="36576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بطارية كبيرة تُشحن من المقبس: 50 إلى 100 كم كهربائيًا</a:t>
            </a:r>
            <a:endParaRPr lang="ar-TN" sz="1250" dirty="0"/>
          </a:p>
        </p:txBody>
      </p:sp>
      <p:pic>
        <p:nvPicPr>
          <p:cNvPr id="17" name="3d-car_phev-130" descr="car_ph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417" y="4672652"/>
            <a:ext cx="2240280" cy="1270948"/>
          </a:xfrm>
          <a:prstGeom prst="rect">
            <a:avLst/>
          </a:prstGeom>
        </p:spPr>
      </p:pic>
      <p:sp>
        <p:nvSpPr>
          <p:cNvPr id="18" name="card-131"/>
          <p:cNvSpPr/>
          <p:nvPr/>
        </p:nvSpPr>
        <p:spPr>
          <a:xfrm>
            <a:off x="552298" y="2331720"/>
            <a:ext cx="2606040" cy="374904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9" name="rung-132"/>
          <p:cNvSpPr/>
          <p:nvPr/>
        </p:nvSpPr>
        <p:spPr>
          <a:xfrm>
            <a:off x="689458" y="2468880"/>
            <a:ext cx="2331720" cy="640080"/>
          </a:xfrm>
          <a:prstGeom prst="roundRect">
            <a:avLst>
              <a:gd name="adj" fmla="val 17143"/>
            </a:avLst>
          </a:prstGeom>
          <a:solidFill>
            <a:schemeClr val="accent2"/>
          </a:solidFill>
          <a:ln/>
        </p:spPr>
      </p:sp>
      <p:sp>
        <p:nvSpPr>
          <p:cNvPr id="20" name="text-133"/>
          <p:cNvSpPr txBox="1"/>
          <p:nvPr/>
        </p:nvSpPr>
        <p:spPr>
          <a:xfrm>
            <a:off x="735178" y="246888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TN" altLang="en-US" sz="1800" b="1" dirty="0">
                <a:solidFill>
                  <a:schemeClr val="bg1"/>
                </a:solidFill>
              </a:rPr>
              <a:t>EV</a:t>
            </a:r>
            <a:endParaRPr lang="ar-TN" sz="1400" dirty="0"/>
          </a:p>
          <a:p>
            <a:pPr rtl="1" algn="ctr" indent="0" marL="0">
              <a:buNone/>
            </a:pPr>
            <a:r>
              <a:rPr lang="ar-TN" altLang="en-US" sz="1150" dirty="0">
                <a:solidFill>
                  <a:schemeClr val="bg1"/>
                </a:solidFill>
              </a:rPr>
              <a:t>كهربائية 100%</a:t>
            </a:r>
            <a:endParaRPr lang="ar-TN" sz="1400" dirty="0"/>
          </a:p>
        </p:txBody>
      </p:sp>
      <p:sp>
        <p:nvSpPr>
          <p:cNvPr id="21" name="text-134"/>
          <p:cNvSpPr txBox="1"/>
          <p:nvPr/>
        </p:nvSpPr>
        <p:spPr>
          <a:xfrm>
            <a:off x="735178" y="3200400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دون محرّك حراري: بطارية ومحرّك كهربائي فقط</a:t>
            </a:r>
            <a:endParaRPr lang="ar-TN" sz="1250" dirty="0"/>
          </a:p>
        </p:txBody>
      </p:sp>
      <p:pic>
        <p:nvPicPr>
          <p:cNvPr id="22" name="3d-car_ev-135" descr="car_ev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178" y="4346782"/>
            <a:ext cx="2240280" cy="1596818"/>
          </a:xfrm>
          <a:prstGeom prst="rect">
            <a:avLst/>
          </a:prstGeom>
        </p:spPr>
      </p:pic>
      <p:pic>
        <p:nvPicPr>
          <p:cNvPr id="23" name="3d-car_mhev-136" descr="car_mhev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5676" y="2880360"/>
            <a:ext cx="1203232" cy="822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الهجينة الخفيفة (MHEV)</a:t>
            </a:r>
            <a:endParaRPr lang="ar-TN" sz="3000" dirty="0"/>
          </a:p>
        </p:txBody>
      </p:sp>
      <p:sp>
        <p:nvSpPr>
          <p:cNvPr id="3" name="text-137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chemeClr val="accent5"/>
                </a:solidFill>
              </a:rPr>
              <a:t>Mild Hybrid Electric Vehicle</a:t>
            </a:r>
            <a:endParaRPr lang="en-US" sz="1500" dirty="0"/>
          </a:p>
        </p:txBody>
      </p:sp>
      <p:sp>
        <p:nvSpPr>
          <p:cNvPr id="4" name="card-138"/>
          <p:cNvSpPr/>
          <p:nvPr/>
        </p:nvSpPr>
        <p:spPr>
          <a:xfrm>
            <a:off x="5257800" y="1691640"/>
            <a:ext cx="6382512" cy="118872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5" name="icon-bg-139"/>
          <p:cNvSpPr/>
          <p:nvPr/>
        </p:nvSpPr>
        <p:spPr>
          <a:xfrm>
            <a:off x="10844784" y="1911096"/>
            <a:ext cx="566928" cy="56692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6" name="icon-14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6516" y="2052828"/>
            <a:ext cx="283464" cy="283464"/>
          </a:xfrm>
          <a:prstGeom prst="rect">
            <a:avLst/>
          </a:prstGeom>
        </p:spPr>
      </p:pic>
      <p:sp>
        <p:nvSpPr>
          <p:cNvPr id="7" name="text-141"/>
          <p:cNvSpPr txBox="1"/>
          <p:nvPr/>
        </p:nvSpPr>
        <p:spPr>
          <a:xfrm>
            <a:off x="5486400" y="1892808"/>
            <a:ext cx="5129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كيف تعمل؟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محرّك كهربائي صغير وبطارية 48V يساعدان المحرّك الحراري عند الإقلاع والتسارع ويستعيدان طاقة الكبح، دون قيادة كهربائية مستقلّة.</a:t>
            </a:r>
            <a:endParaRPr lang="ar-TN" sz="1400" dirty="0"/>
          </a:p>
        </p:txBody>
      </p:sp>
      <p:sp>
        <p:nvSpPr>
          <p:cNvPr id="8" name="card-142"/>
          <p:cNvSpPr/>
          <p:nvPr/>
        </p:nvSpPr>
        <p:spPr>
          <a:xfrm>
            <a:off x="8513064" y="3017520"/>
            <a:ext cx="3127248" cy="128016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9" name="icon-bg-143"/>
          <p:cNvSpPr/>
          <p:nvPr/>
        </p:nvSpPr>
        <p:spPr>
          <a:xfrm>
            <a:off x="10991088" y="3236976"/>
            <a:ext cx="420624" cy="420624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0" name="icon-14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244" y="3342132"/>
            <a:ext cx="210312" cy="210312"/>
          </a:xfrm>
          <a:prstGeom prst="rect">
            <a:avLst/>
          </a:prstGeom>
        </p:spPr>
      </p:pic>
      <p:sp>
        <p:nvSpPr>
          <p:cNvPr id="11" name="text-145"/>
          <p:cNvSpPr txBox="1"/>
          <p:nvPr/>
        </p:nvSpPr>
        <p:spPr>
          <a:xfrm>
            <a:off x="8741664" y="3218688"/>
            <a:ext cx="2020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400" b="1" dirty="0">
                <a:solidFill>
                  <a:schemeClr val="tx1"/>
                </a:solidFill>
              </a:rPr>
              <a:t>المزايا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00" dirty="0">
                <a:solidFill>
                  <a:schemeClr val="tx1"/>
                </a:solidFill>
              </a:rPr>
              <a:t>سعر قريب من الحراري، استهلاك أقل في المدينة.</a:t>
            </a:r>
            <a:endParaRPr lang="ar-TN" sz="1400" dirty="0"/>
          </a:p>
        </p:txBody>
      </p:sp>
      <p:sp>
        <p:nvSpPr>
          <p:cNvPr id="12" name="card-146"/>
          <p:cNvSpPr/>
          <p:nvPr/>
        </p:nvSpPr>
        <p:spPr>
          <a:xfrm>
            <a:off x="5257800" y="3017520"/>
            <a:ext cx="3127248" cy="128016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3" name="icon-bg-147"/>
          <p:cNvSpPr/>
          <p:nvPr/>
        </p:nvSpPr>
        <p:spPr>
          <a:xfrm>
            <a:off x="7735824" y="3236976"/>
            <a:ext cx="420624" cy="420624"/>
          </a:xfrm>
          <a:prstGeom prst="ellipse">
            <a:avLst/>
          </a:prstGeom>
          <a:solidFill>
            <a:schemeClr val="accent5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4" name="icon-14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0" y="3342132"/>
            <a:ext cx="210312" cy="210312"/>
          </a:xfrm>
          <a:prstGeom prst="rect">
            <a:avLst/>
          </a:prstGeom>
        </p:spPr>
      </p:pic>
      <p:sp>
        <p:nvSpPr>
          <p:cNvPr id="15" name="text-149"/>
          <p:cNvSpPr txBox="1"/>
          <p:nvPr/>
        </p:nvSpPr>
        <p:spPr>
          <a:xfrm>
            <a:off x="5486400" y="3218688"/>
            <a:ext cx="2020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400" b="1" dirty="0">
                <a:solidFill>
                  <a:schemeClr val="tx1"/>
                </a:solidFill>
              </a:rPr>
              <a:t>الحدود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00" dirty="0">
                <a:solidFill>
                  <a:schemeClr val="tx1"/>
                </a:solidFill>
              </a:rPr>
              <a:t>لا تسير كهربائيًا أبدًا، والتوفير محدود.</a:t>
            </a:r>
            <a:endParaRPr lang="ar-TN" sz="1400" dirty="0"/>
          </a:p>
        </p:txBody>
      </p:sp>
      <p:sp>
        <p:nvSpPr>
          <p:cNvPr id="16" name="card-150"/>
          <p:cNvSpPr/>
          <p:nvPr/>
        </p:nvSpPr>
        <p:spPr>
          <a:xfrm>
            <a:off x="5257800" y="4434840"/>
            <a:ext cx="6382512" cy="164592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rgbClr val="5B7F7E"/>
            </a:solidFill>
            <a:prstDash val="solid"/>
          </a:ln>
        </p:spPr>
      </p:sp>
      <p:sp>
        <p:nvSpPr>
          <p:cNvPr id="17" name="icon-bg-151"/>
          <p:cNvSpPr/>
          <p:nvPr/>
        </p:nvSpPr>
        <p:spPr>
          <a:xfrm>
            <a:off x="10863072" y="4617720"/>
            <a:ext cx="548640" cy="548640"/>
          </a:xfrm>
          <a:prstGeom prst="ellipse">
            <a:avLst/>
          </a:prstGeom>
          <a:solidFill>
            <a:srgbClr val="5B7F7E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8" name="icon-15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0232" y="4754880"/>
            <a:ext cx="274320" cy="274320"/>
          </a:xfrm>
          <a:prstGeom prst="rect">
            <a:avLst/>
          </a:prstGeom>
        </p:spPr>
      </p:pic>
      <p:sp>
        <p:nvSpPr>
          <p:cNvPr id="19" name="text-153"/>
          <p:cNvSpPr txBox="1"/>
          <p:nvPr/>
        </p:nvSpPr>
        <p:spPr>
          <a:xfrm>
            <a:off x="5486400" y="4572000"/>
            <a:ext cx="5349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b="1" dirty="0">
                <a:solidFill>
                  <a:srgbClr val="5B7F7E"/>
                </a:solidFill>
              </a:rPr>
              <a:t>المعاملة الجبائية</a:t>
            </a:r>
            <a:endParaRPr lang="ar-TN" sz="1400" dirty="0"/>
          </a:p>
          <a:p>
            <a:pPr rtl="1" algn="r" indent="0" marL="0"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لا تنصّ قوانين المالية على امتياز خاص بها بالاسم: يتوقّف الانتفاع على تصنيف الديوانة للعربة كـ«هجينة» (التعريفة 8703).</a:t>
            </a:r>
            <a:endParaRPr lang="ar-TN" sz="1400" dirty="0"/>
          </a:p>
        </p:txBody>
      </p:sp>
      <p:pic>
        <p:nvPicPr>
          <p:cNvPr id="20" name="3d-car_mhev-154" descr="car_mhev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813" y="1600200"/>
            <a:ext cx="4010774" cy="2743200"/>
          </a:xfrm>
          <a:prstGeom prst="rect">
            <a:avLst/>
          </a:prstGeom>
        </p:spPr>
      </p:pic>
      <p:sp>
        <p:nvSpPr>
          <p:cNvPr id="21" name="text-155"/>
          <p:cNvSpPr txBox="1"/>
          <p:nvPr/>
        </p:nvSpPr>
        <p:spPr>
          <a:xfrm>
            <a:off x="640080" y="4572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400" b="1" dirty="0">
                <a:solidFill>
                  <a:schemeClr val="accent1"/>
                </a:solidFill>
              </a:rPr>
              <a:t>أمثلة</a:t>
            </a:r>
            <a:endParaRPr lang="ar-TN" sz="1400" dirty="0"/>
          </a:p>
        </p:txBody>
      </p:sp>
      <p:sp>
        <p:nvSpPr>
          <p:cNvPr id="22" name="pill-156"/>
          <p:cNvSpPr/>
          <p:nvPr/>
        </p:nvSpPr>
        <p:spPr>
          <a:xfrm>
            <a:off x="640080" y="5010912"/>
            <a:ext cx="205740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3" name="text-157"/>
          <p:cNvSpPr txBox="1"/>
          <p:nvPr/>
        </p:nvSpPr>
        <p:spPr>
          <a:xfrm>
            <a:off x="749808" y="5010912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250" b="1" dirty="0">
                <a:solidFill>
                  <a:schemeClr val="tx1"/>
                </a:solidFill>
              </a:rPr>
              <a:t>Suzuki Swift Hybrid</a:t>
            </a:r>
            <a:endParaRPr lang="ar-TN" sz="1250" dirty="0"/>
          </a:p>
        </p:txBody>
      </p:sp>
      <p:sp>
        <p:nvSpPr>
          <p:cNvPr id="24" name="pill-158"/>
          <p:cNvSpPr/>
          <p:nvPr/>
        </p:nvSpPr>
        <p:spPr>
          <a:xfrm>
            <a:off x="2788920" y="5010912"/>
            <a:ext cx="205740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5" name="text-159"/>
          <p:cNvSpPr txBox="1"/>
          <p:nvPr/>
        </p:nvSpPr>
        <p:spPr>
          <a:xfrm>
            <a:off x="2898648" y="5010912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250" b="1" dirty="0">
                <a:solidFill>
                  <a:schemeClr val="tx1"/>
                </a:solidFill>
              </a:rPr>
              <a:t>Fiat Panda Hybrid</a:t>
            </a:r>
            <a:endParaRPr lang="ar-TN" sz="1250" dirty="0"/>
          </a:p>
        </p:txBody>
      </p:sp>
      <p:sp>
        <p:nvSpPr>
          <p:cNvPr id="26" name="pill-160"/>
          <p:cNvSpPr/>
          <p:nvPr/>
        </p:nvSpPr>
        <p:spPr>
          <a:xfrm>
            <a:off x="640080" y="5541264"/>
            <a:ext cx="205740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7" name="text-161"/>
          <p:cNvSpPr txBox="1"/>
          <p:nvPr/>
        </p:nvSpPr>
        <p:spPr>
          <a:xfrm>
            <a:off x="749808" y="5541264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250" b="1" dirty="0">
                <a:solidFill>
                  <a:schemeClr val="tx1"/>
                </a:solidFill>
              </a:rPr>
              <a:t>Kia / Hyundai MHEV</a:t>
            </a:r>
            <a:endParaRPr lang="ar-TN" sz="1250" dirty="0"/>
          </a:p>
        </p:txBody>
      </p:sp>
      <p:sp>
        <p:nvSpPr>
          <p:cNvPr id="28" name="pill-162"/>
          <p:cNvSpPr/>
          <p:nvPr/>
        </p:nvSpPr>
        <p:spPr>
          <a:xfrm>
            <a:off x="2788920" y="5541264"/>
            <a:ext cx="205740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9" name="text-163"/>
          <p:cNvSpPr txBox="1"/>
          <p:nvPr/>
        </p:nvSpPr>
        <p:spPr>
          <a:xfrm>
            <a:off x="2898648" y="5541264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250" b="1" dirty="0">
                <a:solidFill>
                  <a:schemeClr val="tx1"/>
                </a:solidFill>
              </a:rPr>
              <a:t>Renault mild hybrid</a:t>
            </a:r>
            <a:endParaRPr lang="ar-TN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الهجينة الكاملة (HEV)</a:t>
            </a:r>
            <a:endParaRPr lang="ar-TN" sz="3000" dirty="0"/>
          </a:p>
        </p:txBody>
      </p:sp>
      <p:sp>
        <p:nvSpPr>
          <p:cNvPr id="3" name="text-164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chemeClr val="accent5"/>
                </a:solidFill>
              </a:rPr>
              <a:t>Full Hybrid Electric Vehicle</a:t>
            </a:r>
            <a:endParaRPr lang="en-US" sz="1500" dirty="0"/>
          </a:p>
        </p:txBody>
      </p:sp>
      <p:sp>
        <p:nvSpPr>
          <p:cNvPr id="4" name="card-165"/>
          <p:cNvSpPr/>
          <p:nvPr/>
        </p:nvSpPr>
        <p:spPr>
          <a:xfrm>
            <a:off x="5257800" y="1691640"/>
            <a:ext cx="6382512" cy="118872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5" name="icon-bg-166"/>
          <p:cNvSpPr/>
          <p:nvPr/>
        </p:nvSpPr>
        <p:spPr>
          <a:xfrm>
            <a:off x="10844784" y="1911096"/>
            <a:ext cx="566928" cy="56692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6" name="icon-16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6516" y="2052828"/>
            <a:ext cx="283464" cy="283464"/>
          </a:xfrm>
          <a:prstGeom prst="rect">
            <a:avLst/>
          </a:prstGeom>
        </p:spPr>
      </p:pic>
      <p:sp>
        <p:nvSpPr>
          <p:cNvPr id="7" name="text-168"/>
          <p:cNvSpPr txBox="1"/>
          <p:nvPr/>
        </p:nvSpPr>
        <p:spPr>
          <a:xfrm>
            <a:off x="5486400" y="1892808"/>
            <a:ext cx="5129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كيف تعمل؟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محرّك حراري ومحرّك كهربائي يعملان معًا أو منفصلين؛ البطارية تُشحن ذاتيًا بالكبح والمحرّك، ولا تحتاج إلى مقبس.</a:t>
            </a:r>
            <a:endParaRPr lang="ar-TN" sz="1400" dirty="0"/>
          </a:p>
        </p:txBody>
      </p:sp>
      <p:sp>
        <p:nvSpPr>
          <p:cNvPr id="8" name="card-169"/>
          <p:cNvSpPr/>
          <p:nvPr/>
        </p:nvSpPr>
        <p:spPr>
          <a:xfrm>
            <a:off x="8513064" y="3017520"/>
            <a:ext cx="3127248" cy="128016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9" name="icon-bg-170"/>
          <p:cNvSpPr/>
          <p:nvPr/>
        </p:nvSpPr>
        <p:spPr>
          <a:xfrm>
            <a:off x="10991088" y="3236976"/>
            <a:ext cx="420624" cy="420624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0" name="icon-17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244" y="3342132"/>
            <a:ext cx="210312" cy="210312"/>
          </a:xfrm>
          <a:prstGeom prst="rect">
            <a:avLst/>
          </a:prstGeom>
        </p:spPr>
      </p:pic>
      <p:sp>
        <p:nvSpPr>
          <p:cNvPr id="11" name="text-172"/>
          <p:cNvSpPr txBox="1"/>
          <p:nvPr/>
        </p:nvSpPr>
        <p:spPr>
          <a:xfrm>
            <a:off x="8741664" y="3218688"/>
            <a:ext cx="2020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400" b="1" dirty="0">
                <a:solidFill>
                  <a:schemeClr val="tx1"/>
                </a:solidFill>
              </a:rPr>
              <a:t>المزايا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00" dirty="0">
                <a:solidFill>
                  <a:schemeClr val="tx1"/>
                </a:solidFill>
              </a:rPr>
              <a:t>قيادة كهربائية في المدينة، استهلاك منخفض، دون شحن.</a:t>
            </a:r>
            <a:endParaRPr lang="ar-TN" sz="1400" dirty="0"/>
          </a:p>
        </p:txBody>
      </p:sp>
      <p:sp>
        <p:nvSpPr>
          <p:cNvPr id="12" name="card-173"/>
          <p:cNvSpPr/>
          <p:nvPr/>
        </p:nvSpPr>
        <p:spPr>
          <a:xfrm>
            <a:off x="5257800" y="3017520"/>
            <a:ext cx="3127248" cy="128016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3" name="icon-bg-174"/>
          <p:cNvSpPr/>
          <p:nvPr/>
        </p:nvSpPr>
        <p:spPr>
          <a:xfrm>
            <a:off x="7735824" y="3236976"/>
            <a:ext cx="420624" cy="420624"/>
          </a:xfrm>
          <a:prstGeom prst="ellipse">
            <a:avLst/>
          </a:prstGeom>
          <a:solidFill>
            <a:schemeClr val="accent5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4" name="icon-17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0" y="3342132"/>
            <a:ext cx="210312" cy="210312"/>
          </a:xfrm>
          <a:prstGeom prst="rect">
            <a:avLst/>
          </a:prstGeom>
        </p:spPr>
      </p:pic>
      <p:sp>
        <p:nvSpPr>
          <p:cNvPr id="15" name="text-176"/>
          <p:cNvSpPr txBox="1"/>
          <p:nvPr/>
        </p:nvSpPr>
        <p:spPr>
          <a:xfrm>
            <a:off x="5486400" y="3218688"/>
            <a:ext cx="2020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400" b="1" dirty="0">
                <a:solidFill>
                  <a:schemeClr val="tx1"/>
                </a:solidFill>
              </a:rPr>
              <a:t>الحدود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00" dirty="0">
                <a:solidFill>
                  <a:schemeClr val="tx1"/>
                </a:solidFill>
              </a:rPr>
              <a:t>مسافة كهربائية قصيرة جدًا، وسعر أعلى من الحراري.</a:t>
            </a:r>
            <a:endParaRPr lang="ar-TN" sz="1400" dirty="0"/>
          </a:p>
        </p:txBody>
      </p:sp>
      <p:sp>
        <p:nvSpPr>
          <p:cNvPr id="16" name="card-177"/>
          <p:cNvSpPr/>
          <p:nvPr/>
        </p:nvSpPr>
        <p:spPr>
          <a:xfrm>
            <a:off x="5257800" y="4434840"/>
            <a:ext cx="6382512" cy="164592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rgbClr val="1F6F6B"/>
            </a:solidFill>
            <a:prstDash val="solid"/>
          </a:ln>
        </p:spPr>
      </p:sp>
      <p:sp>
        <p:nvSpPr>
          <p:cNvPr id="17" name="icon-bg-178"/>
          <p:cNvSpPr/>
          <p:nvPr/>
        </p:nvSpPr>
        <p:spPr>
          <a:xfrm>
            <a:off x="10863072" y="4617720"/>
            <a:ext cx="548640" cy="548640"/>
          </a:xfrm>
          <a:prstGeom prst="ellipse">
            <a:avLst/>
          </a:prstGeom>
          <a:solidFill>
            <a:srgbClr val="1F6F6B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8" name="icon-17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0232" y="4754880"/>
            <a:ext cx="274320" cy="274320"/>
          </a:xfrm>
          <a:prstGeom prst="rect">
            <a:avLst/>
          </a:prstGeom>
        </p:spPr>
      </p:pic>
      <p:sp>
        <p:nvSpPr>
          <p:cNvPr id="19" name="text-180"/>
          <p:cNvSpPr txBox="1"/>
          <p:nvPr/>
        </p:nvSpPr>
        <p:spPr>
          <a:xfrm>
            <a:off x="5486400" y="4572000"/>
            <a:ext cx="5349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b="1" dirty="0">
                <a:solidFill>
                  <a:srgbClr val="1F6F6B"/>
                </a:solidFill>
              </a:rPr>
              <a:t>المعاملة الجبائية</a:t>
            </a:r>
            <a:endParaRPr lang="ar-TN" sz="1400" dirty="0"/>
          </a:p>
          <a:p>
            <a:pPr rtl="1" algn="r" indent="0" marL="0"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قانون المالية 2026: تخفيض 50% من معلوم الاستهلاك، بشرط ألّا تتجاوز سعة المحرّك الحراري 1700 صم³ (بنزين). خارج هذا السقف: لا امتياز.</a:t>
            </a:r>
            <a:endParaRPr lang="ar-TN" sz="1400" dirty="0"/>
          </a:p>
        </p:txBody>
      </p:sp>
      <p:pic>
        <p:nvPicPr>
          <p:cNvPr id="20" name="3d-car_hev-181" descr="car_hev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169" y="1600200"/>
            <a:ext cx="4014061" cy="2743200"/>
          </a:xfrm>
          <a:prstGeom prst="rect">
            <a:avLst/>
          </a:prstGeom>
        </p:spPr>
      </p:pic>
      <p:sp>
        <p:nvSpPr>
          <p:cNvPr id="21" name="text-182"/>
          <p:cNvSpPr txBox="1"/>
          <p:nvPr/>
        </p:nvSpPr>
        <p:spPr>
          <a:xfrm>
            <a:off x="640080" y="4572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400" b="1" dirty="0">
                <a:solidFill>
                  <a:schemeClr val="accent1"/>
                </a:solidFill>
              </a:rPr>
              <a:t>أمثلة</a:t>
            </a:r>
            <a:endParaRPr lang="ar-TN" sz="1400" dirty="0"/>
          </a:p>
        </p:txBody>
      </p:sp>
      <p:sp>
        <p:nvSpPr>
          <p:cNvPr id="22" name="pill-183"/>
          <p:cNvSpPr/>
          <p:nvPr/>
        </p:nvSpPr>
        <p:spPr>
          <a:xfrm>
            <a:off x="640080" y="5010912"/>
            <a:ext cx="205740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3" name="text-184"/>
          <p:cNvSpPr txBox="1"/>
          <p:nvPr/>
        </p:nvSpPr>
        <p:spPr>
          <a:xfrm>
            <a:off x="749808" y="5010912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250" b="1" dirty="0">
                <a:solidFill>
                  <a:schemeClr val="tx1"/>
                </a:solidFill>
              </a:rPr>
              <a:t>Toyota Yaris Hybride</a:t>
            </a:r>
            <a:endParaRPr lang="ar-TN" sz="1250" dirty="0"/>
          </a:p>
        </p:txBody>
      </p:sp>
      <p:sp>
        <p:nvSpPr>
          <p:cNvPr id="24" name="pill-185"/>
          <p:cNvSpPr/>
          <p:nvPr/>
        </p:nvSpPr>
        <p:spPr>
          <a:xfrm>
            <a:off x="2788920" y="5010912"/>
            <a:ext cx="205740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5" name="text-186"/>
          <p:cNvSpPr txBox="1"/>
          <p:nvPr/>
        </p:nvSpPr>
        <p:spPr>
          <a:xfrm>
            <a:off x="2898648" y="5010912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250" b="1" dirty="0">
                <a:solidFill>
                  <a:schemeClr val="tx1"/>
                </a:solidFill>
              </a:rPr>
              <a:t>MG3 Hybrid+</a:t>
            </a:r>
            <a:endParaRPr lang="ar-TN" sz="1250" dirty="0"/>
          </a:p>
        </p:txBody>
      </p:sp>
      <p:sp>
        <p:nvSpPr>
          <p:cNvPr id="26" name="pill-187"/>
          <p:cNvSpPr/>
          <p:nvPr/>
        </p:nvSpPr>
        <p:spPr>
          <a:xfrm>
            <a:off x="640080" y="5541264"/>
            <a:ext cx="205740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7" name="text-188"/>
          <p:cNvSpPr txBox="1"/>
          <p:nvPr/>
        </p:nvSpPr>
        <p:spPr>
          <a:xfrm>
            <a:off x="749808" y="5541264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250" b="1" dirty="0">
                <a:solidFill>
                  <a:schemeClr val="tx1"/>
                </a:solidFill>
              </a:rPr>
              <a:t>Kia Niro</a:t>
            </a:r>
            <a:endParaRPr lang="ar-TN" sz="1250" dirty="0"/>
          </a:p>
        </p:txBody>
      </p:sp>
      <p:sp>
        <p:nvSpPr>
          <p:cNvPr id="28" name="pill-189"/>
          <p:cNvSpPr/>
          <p:nvPr/>
        </p:nvSpPr>
        <p:spPr>
          <a:xfrm>
            <a:off x="2788920" y="5541264"/>
            <a:ext cx="205740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9" name="text-190"/>
          <p:cNvSpPr txBox="1"/>
          <p:nvPr/>
        </p:nvSpPr>
        <p:spPr>
          <a:xfrm>
            <a:off x="2898648" y="5541264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250" b="1" dirty="0">
                <a:solidFill>
                  <a:schemeClr val="tx1"/>
                </a:solidFill>
              </a:rPr>
              <a:t>Honda Jazz</a:t>
            </a:r>
            <a:endParaRPr lang="ar-TN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الطرازات الهجينة الكاملة (HEV) في السوق التونسية</a:t>
            </a:r>
            <a:endParaRPr lang="ar-TN" sz="3000" dirty="0"/>
          </a:p>
        </p:txBody>
      </p:sp>
      <p:sp>
        <p:nvSpPr>
          <p:cNvPr id="3" name="text-191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dirty="0">
                <a:solidFill>
                  <a:schemeClr val="accent5"/>
                </a:solidFill>
              </a:rPr>
              <a:t>سعر الانطلاق بالدينار التونسي (2026)</a:t>
            </a:r>
            <a:endParaRPr lang="ar-TN" sz="1500" dirty="0"/>
          </a:p>
        </p:txBody>
      </p:sp>
      <p:sp>
        <p:nvSpPr>
          <p:cNvPr id="4" name="card-192"/>
          <p:cNvSpPr/>
          <p:nvPr/>
        </p:nvSpPr>
        <p:spPr>
          <a:xfrm>
            <a:off x="548640" y="1600200"/>
            <a:ext cx="7863840" cy="4434840"/>
          </a:xfrm>
          <a:prstGeom prst="roundRect">
            <a:avLst>
              <a:gd name="adj" fmla="val 329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graphicFrame>
        <p:nvGraphicFramePr>
          <p:cNvPr id="5" name="chart-hev-prices" descr=""/>
          <p:cNvGraphicFramePr/>
          <p:nvPr/>
        </p:nvGraphicFramePr>
        <p:xfrm>
          <a:off x="685800" y="1691640"/>
          <a:ext cx="7589520" cy="4251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-193"/>
          <p:cNvSpPr/>
          <p:nvPr/>
        </p:nvSpPr>
        <p:spPr>
          <a:xfrm>
            <a:off x="8641080" y="1600200"/>
            <a:ext cx="2999232" cy="2057400"/>
          </a:xfrm>
          <a:prstGeom prst="roundRect">
            <a:avLst>
              <a:gd name="adj" fmla="val 7111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7" name="text-194"/>
          <p:cNvSpPr txBox="1"/>
          <p:nvPr/>
        </p:nvSpPr>
        <p:spPr>
          <a:xfrm>
            <a:off x="8823960" y="1764792"/>
            <a:ext cx="26334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3000" b="1" dirty="0">
                <a:solidFill>
                  <a:schemeClr val="accent2"/>
                </a:solidFill>
              </a:rPr>
              <a:t>16 طرازًا</a:t>
            </a:r>
            <a:endParaRPr lang="ar-TN" sz="3000" dirty="0"/>
          </a:p>
        </p:txBody>
      </p:sp>
      <p:sp>
        <p:nvSpPr>
          <p:cNvPr id="8" name="text-195"/>
          <p:cNvSpPr txBox="1"/>
          <p:nvPr/>
        </p:nvSpPr>
        <p:spPr>
          <a:xfrm>
            <a:off x="8823960" y="2560320"/>
            <a:ext cx="2633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هجينًا كاملًا معروضًا، من 77,950 إلى 249,980 د</a:t>
            </a:r>
            <a:endParaRPr lang="ar-TN" sz="1300" dirty="0"/>
          </a:p>
        </p:txBody>
      </p:sp>
      <p:sp>
        <p:nvSpPr>
          <p:cNvPr id="9" name="card-196"/>
          <p:cNvSpPr/>
          <p:nvPr/>
        </p:nvSpPr>
        <p:spPr>
          <a:xfrm>
            <a:off x="8641080" y="3840480"/>
            <a:ext cx="2999232" cy="21945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10" name="text-197"/>
          <p:cNvSpPr txBox="1"/>
          <p:nvPr/>
        </p:nvSpPr>
        <p:spPr>
          <a:xfrm>
            <a:off x="8823960" y="3977640"/>
            <a:ext cx="263347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300" b="1" dirty="0">
                <a:solidFill>
                  <a:schemeClr val="accent4"/>
                </a:solidFill>
              </a:rPr>
              <a:t>تنبيه: </a:t>
            </a:r>
            <a:pPr rtl="1" algn="r" indent="0" marL="0"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سعة المحرّك تحدّد الامتياز. Toyota RAV4 Hybride (2.5 لتر) مُقصاة من تخفيض معلوم الاستهلاك.</a:t>
            </a:r>
            <a:endParaRPr lang="ar-TN" sz="1300" dirty="0"/>
          </a:p>
        </p:txBody>
      </p:sp>
      <p:sp>
        <p:nvSpPr>
          <p:cNvPr id="11" name="text-198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000" i="1" dirty="0">
                <a:solidFill>
                  <a:schemeClr val="accent5"/>
                </a:solidFill>
              </a:rPr>
              <a:t>المصدر: automobile.tn — أسعار انطلاق تقريبية قابلة للتغيير.</a:t>
            </a:r>
            <a:endParaRPr lang="ar-T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الهجينة القابلة للشحن (PHEV)</a:t>
            </a:r>
            <a:endParaRPr lang="ar-TN" sz="3000" dirty="0"/>
          </a:p>
        </p:txBody>
      </p:sp>
      <p:sp>
        <p:nvSpPr>
          <p:cNvPr id="3" name="text-199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altLang="en-US" sz="1500" dirty="0">
                <a:solidFill>
                  <a:schemeClr val="accent5"/>
                </a:solidFill>
              </a:rPr>
              <a:t>Plug-in Hybrid Electric Vehicle</a:t>
            </a:r>
            <a:endParaRPr lang="en-US" sz="1500" dirty="0"/>
          </a:p>
        </p:txBody>
      </p:sp>
      <p:sp>
        <p:nvSpPr>
          <p:cNvPr id="4" name="card-200"/>
          <p:cNvSpPr/>
          <p:nvPr/>
        </p:nvSpPr>
        <p:spPr>
          <a:xfrm>
            <a:off x="5257800" y="1691640"/>
            <a:ext cx="6382512" cy="1188720"/>
          </a:xfrm>
          <a:prstGeom prst="roundRect">
            <a:avLst>
              <a:gd name="adj" fmla="val 1230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5" name="icon-bg-201"/>
          <p:cNvSpPr/>
          <p:nvPr/>
        </p:nvSpPr>
        <p:spPr>
          <a:xfrm>
            <a:off x="10844784" y="1911096"/>
            <a:ext cx="566928" cy="56692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6" name="icon-20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86516" y="2052828"/>
            <a:ext cx="283464" cy="283464"/>
          </a:xfrm>
          <a:prstGeom prst="rect">
            <a:avLst/>
          </a:prstGeom>
        </p:spPr>
      </p:pic>
      <p:sp>
        <p:nvSpPr>
          <p:cNvPr id="7" name="text-203"/>
          <p:cNvSpPr txBox="1"/>
          <p:nvPr/>
        </p:nvSpPr>
        <p:spPr>
          <a:xfrm>
            <a:off x="5486400" y="1892808"/>
            <a:ext cx="51297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كيف تعمل؟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بطارية كبيرة تُشحن من المقبس أو المحطّة، تسمح بقيادة كهربائية يومية، مع محرّك حراري للمسافات الطويلة.</a:t>
            </a:r>
            <a:endParaRPr lang="ar-TN" sz="1400" dirty="0"/>
          </a:p>
        </p:txBody>
      </p:sp>
      <p:sp>
        <p:nvSpPr>
          <p:cNvPr id="8" name="card-204"/>
          <p:cNvSpPr/>
          <p:nvPr/>
        </p:nvSpPr>
        <p:spPr>
          <a:xfrm>
            <a:off x="8513064" y="3017520"/>
            <a:ext cx="3127248" cy="128016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9" name="icon-bg-205"/>
          <p:cNvSpPr/>
          <p:nvPr/>
        </p:nvSpPr>
        <p:spPr>
          <a:xfrm>
            <a:off x="10991088" y="3236976"/>
            <a:ext cx="420624" cy="420624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0" name="icon-20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6244" y="3342132"/>
            <a:ext cx="210312" cy="210312"/>
          </a:xfrm>
          <a:prstGeom prst="rect">
            <a:avLst/>
          </a:prstGeom>
        </p:spPr>
      </p:pic>
      <p:sp>
        <p:nvSpPr>
          <p:cNvPr id="11" name="text-207"/>
          <p:cNvSpPr txBox="1"/>
          <p:nvPr/>
        </p:nvSpPr>
        <p:spPr>
          <a:xfrm>
            <a:off x="8741664" y="3218688"/>
            <a:ext cx="2020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400" b="1" dirty="0">
                <a:solidFill>
                  <a:schemeClr val="tx1"/>
                </a:solidFill>
              </a:rPr>
              <a:t>المزايا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00" dirty="0">
                <a:solidFill>
                  <a:schemeClr val="tx1"/>
                </a:solidFill>
              </a:rPr>
              <a:t>50–100 كم كهربائيًا، استهلاك شبه منعدم يوميًا.</a:t>
            </a:r>
            <a:endParaRPr lang="ar-TN" sz="1400" dirty="0"/>
          </a:p>
        </p:txBody>
      </p:sp>
      <p:sp>
        <p:nvSpPr>
          <p:cNvPr id="12" name="card-208"/>
          <p:cNvSpPr/>
          <p:nvPr/>
        </p:nvSpPr>
        <p:spPr>
          <a:xfrm>
            <a:off x="5257800" y="3017520"/>
            <a:ext cx="3127248" cy="128016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3" name="icon-bg-209"/>
          <p:cNvSpPr/>
          <p:nvPr/>
        </p:nvSpPr>
        <p:spPr>
          <a:xfrm>
            <a:off x="7735824" y="3236976"/>
            <a:ext cx="420624" cy="420624"/>
          </a:xfrm>
          <a:prstGeom prst="ellipse">
            <a:avLst/>
          </a:prstGeom>
          <a:solidFill>
            <a:schemeClr val="accent5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4" name="icon-21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0980" y="3342132"/>
            <a:ext cx="210312" cy="210312"/>
          </a:xfrm>
          <a:prstGeom prst="rect">
            <a:avLst/>
          </a:prstGeom>
        </p:spPr>
      </p:pic>
      <p:sp>
        <p:nvSpPr>
          <p:cNvPr id="15" name="text-211"/>
          <p:cNvSpPr txBox="1"/>
          <p:nvPr/>
        </p:nvSpPr>
        <p:spPr>
          <a:xfrm>
            <a:off x="5486400" y="3218688"/>
            <a:ext cx="2020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400" b="1" dirty="0">
                <a:solidFill>
                  <a:schemeClr val="tx1"/>
                </a:solidFill>
              </a:rPr>
              <a:t>الحدود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00" dirty="0">
                <a:solidFill>
                  <a:schemeClr val="tx1"/>
                </a:solidFill>
              </a:rPr>
              <a:t>تحتاج إلى نقطة شحن، وبطارية أثقل.</a:t>
            </a:r>
            <a:endParaRPr lang="ar-TN" sz="1400" dirty="0"/>
          </a:p>
        </p:txBody>
      </p:sp>
      <p:sp>
        <p:nvSpPr>
          <p:cNvPr id="16" name="card-212"/>
          <p:cNvSpPr/>
          <p:nvPr/>
        </p:nvSpPr>
        <p:spPr>
          <a:xfrm>
            <a:off x="5257800" y="4434840"/>
            <a:ext cx="6382512" cy="164592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 w="12700">
            <a:solidFill>
              <a:srgbClr val="B8862B"/>
            </a:solidFill>
            <a:prstDash val="solid"/>
          </a:ln>
        </p:spPr>
      </p:sp>
      <p:sp>
        <p:nvSpPr>
          <p:cNvPr id="17" name="icon-bg-213"/>
          <p:cNvSpPr/>
          <p:nvPr/>
        </p:nvSpPr>
        <p:spPr>
          <a:xfrm>
            <a:off x="10863072" y="4617720"/>
            <a:ext cx="548640" cy="548640"/>
          </a:xfrm>
          <a:prstGeom prst="ellipse">
            <a:avLst/>
          </a:prstGeom>
          <a:solidFill>
            <a:srgbClr val="B8862B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8" name="icon-21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0232" y="4754880"/>
            <a:ext cx="274320" cy="274320"/>
          </a:xfrm>
          <a:prstGeom prst="rect">
            <a:avLst/>
          </a:prstGeom>
        </p:spPr>
      </p:pic>
      <p:sp>
        <p:nvSpPr>
          <p:cNvPr id="19" name="text-215"/>
          <p:cNvSpPr txBox="1"/>
          <p:nvPr/>
        </p:nvSpPr>
        <p:spPr>
          <a:xfrm>
            <a:off x="5486400" y="4572000"/>
            <a:ext cx="53492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b="1" dirty="0">
                <a:solidFill>
                  <a:srgbClr val="B8862B"/>
                </a:solidFill>
              </a:rPr>
              <a:t>المعاملة الجبائية</a:t>
            </a:r>
            <a:endParaRPr lang="ar-TN" sz="1400" dirty="0"/>
          </a:p>
          <a:p>
            <a:pPr rtl="1" algn="r" indent="0" marL="0"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قانون المالية 2026 يعاملها كالكهربائية: إعفاء من المعاليم الديوانية ومعلوم الاستهلاك، أداء على القيمة المضافة 7% بدل 19%، وتخفيض 50% من البطاقة الرمادية والمعلوم الجولاني.</a:t>
            </a:r>
            <a:endParaRPr lang="ar-TN" sz="1400" dirty="0"/>
          </a:p>
        </p:txBody>
      </p:sp>
      <p:pic>
        <p:nvPicPr>
          <p:cNvPr id="20" name="3d-car_phev-216" descr="car_phev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1957130"/>
            <a:ext cx="4206240" cy="2386270"/>
          </a:xfrm>
          <a:prstGeom prst="rect">
            <a:avLst/>
          </a:prstGeom>
        </p:spPr>
      </p:pic>
      <p:sp>
        <p:nvSpPr>
          <p:cNvPr id="21" name="text-217"/>
          <p:cNvSpPr txBox="1"/>
          <p:nvPr/>
        </p:nvSpPr>
        <p:spPr>
          <a:xfrm>
            <a:off x="640080" y="4572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400" b="1" dirty="0">
                <a:solidFill>
                  <a:schemeClr val="accent1"/>
                </a:solidFill>
              </a:rPr>
              <a:t>أمثلة</a:t>
            </a:r>
            <a:endParaRPr lang="ar-TN" sz="1400" dirty="0"/>
          </a:p>
        </p:txBody>
      </p:sp>
      <p:sp>
        <p:nvSpPr>
          <p:cNvPr id="22" name="pill-218"/>
          <p:cNvSpPr/>
          <p:nvPr/>
        </p:nvSpPr>
        <p:spPr>
          <a:xfrm>
            <a:off x="640080" y="5010912"/>
            <a:ext cx="205740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3" name="text-219"/>
          <p:cNvSpPr txBox="1"/>
          <p:nvPr/>
        </p:nvSpPr>
        <p:spPr>
          <a:xfrm>
            <a:off x="749808" y="5010912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250" b="1" dirty="0">
                <a:solidFill>
                  <a:schemeClr val="tx1"/>
                </a:solidFill>
              </a:rPr>
              <a:t>BYD Song Plus DM-i</a:t>
            </a:r>
            <a:endParaRPr lang="ar-TN" sz="1250" dirty="0"/>
          </a:p>
        </p:txBody>
      </p:sp>
      <p:sp>
        <p:nvSpPr>
          <p:cNvPr id="24" name="pill-220"/>
          <p:cNvSpPr/>
          <p:nvPr/>
        </p:nvSpPr>
        <p:spPr>
          <a:xfrm>
            <a:off x="2788920" y="5010912"/>
            <a:ext cx="205740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5" name="text-221"/>
          <p:cNvSpPr txBox="1"/>
          <p:nvPr/>
        </p:nvSpPr>
        <p:spPr>
          <a:xfrm>
            <a:off x="2898648" y="5010912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250" b="1" dirty="0">
                <a:solidFill>
                  <a:schemeClr val="tx1"/>
                </a:solidFill>
              </a:rPr>
              <a:t>Chery Tiggo 8 PHEV</a:t>
            </a:r>
            <a:endParaRPr lang="ar-TN" sz="1250" dirty="0"/>
          </a:p>
        </p:txBody>
      </p:sp>
      <p:sp>
        <p:nvSpPr>
          <p:cNvPr id="26" name="pill-222"/>
          <p:cNvSpPr/>
          <p:nvPr/>
        </p:nvSpPr>
        <p:spPr>
          <a:xfrm>
            <a:off x="640080" y="5541264"/>
            <a:ext cx="205740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7" name="text-223"/>
          <p:cNvSpPr txBox="1"/>
          <p:nvPr/>
        </p:nvSpPr>
        <p:spPr>
          <a:xfrm>
            <a:off x="749808" y="5541264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250" b="1" dirty="0">
                <a:solidFill>
                  <a:schemeClr val="tx1"/>
                </a:solidFill>
              </a:rPr>
              <a:t>Geely EX5</a:t>
            </a:r>
            <a:endParaRPr lang="ar-TN" sz="1250" dirty="0"/>
          </a:p>
        </p:txBody>
      </p:sp>
      <p:sp>
        <p:nvSpPr>
          <p:cNvPr id="28" name="pill-224"/>
          <p:cNvSpPr/>
          <p:nvPr/>
        </p:nvSpPr>
        <p:spPr>
          <a:xfrm>
            <a:off x="2788920" y="5541264"/>
            <a:ext cx="2057400" cy="43891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9" name="text-225"/>
          <p:cNvSpPr txBox="1"/>
          <p:nvPr/>
        </p:nvSpPr>
        <p:spPr>
          <a:xfrm>
            <a:off x="2898648" y="5541264"/>
            <a:ext cx="18379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250" b="1" dirty="0">
                <a:solidFill>
                  <a:schemeClr val="tx1"/>
                </a:solidFill>
              </a:rPr>
              <a:t>Chery Arrizo 8 PHEV</a:t>
            </a:r>
            <a:endParaRPr lang="ar-TN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الطرازات القابلة للشحن (PHEV) في السوق التونسية</a:t>
            </a:r>
            <a:endParaRPr lang="ar-TN" sz="3000" dirty="0"/>
          </a:p>
        </p:txBody>
      </p:sp>
      <p:sp>
        <p:nvSpPr>
          <p:cNvPr id="3" name="text-226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dirty="0">
                <a:solidFill>
                  <a:schemeClr val="accent5"/>
                </a:solidFill>
              </a:rPr>
              <a:t>سعر الانطلاق بالدينار التونسي (2026)</a:t>
            </a:r>
            <a:endParaRPr lang="ar-TN" sz="1500" dirty="0"/>
          </a:p>
        </p:txBody>
      </p:sp>
      <p:sp>
        <p:nvSpPr>
          <p:cNvPr id="4" name="card-227"/>
          <p:cNvSpPr/>
          <p:nvPr/>
        </p:nvSpPr>
        <p:spPr>
          <a:xfrm>
            <a:off x="4069080" y="1600200"/>
            <a:ext cx="7571232" cy="4434840"/>
          </a:xfrm>
          <a:prstGeom prst="roundRect">
            <a:avLst>
              <a:gd name="adj" fmla="val 3299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graphicFrame>
        <p:nvGraphicFramePr>
          <p:cNvPr id="5" name="chart-phev-prices" descr=""/>
          <p:cNvGraphicFramePr/>
          <p:nvPr/>
        </p:nvGraphicFramePr>
        <p:xfrm>
          <a:off x="4206240" y="1737360"/>
          <a:ext cx="726948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-228"/>
          <p:cNvSpPr/>
          <p:nvPr/>
        </p:nvSpPr>
        <p:spPr>
          <a:xfrm>
            <a:off x="548640" y="1600200"/>
            <a:ext cx="3337560" cy="4434840"/>
          </a:xfrm>
          <a:prstGeom prst="roundRect">
            <a:avLst>
              <a:gd name="adj" fmla="val 438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7" name="text-229"/>
          <p:cNvSpPr txBox="1"/>
          <p:nvPr/>
        </p:nvSpPr>
        <p:spPr>
          <a:xfrm>
            <a:off x="777240" y="178308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b="1" dirty="0">
                <a:solidFill>
                  <a:schemeClr val="accent1"/>
                </a:solidFill>
              </a:rPr>
              <a:t>مثال: Chery Tiggo 8 PHEV</a:t>
            </a:r>
            <a:endParaRPr lang="ar-TN" sz="1500" dirty="0"/>
          </a:p>
        </p:txBody>
      </p:sp>
      <p:sp>
        <p:nvSpPr>
          <p:cNvPr id="8" name="text-230"/>
          <p:cNvSpPr txBox="1"/>
          <p:nvPr/>
        </p:nvSpPr>
        <p:spPr>
          <a:xfrm>
            <a:off x="777240" y="228600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2400" b="1" dirty="0">
                <a:solidFill>
                  <a:schemeClr val="accent2"/>
                </a:solidFill>
              </a:rPr>
              <a:t>1.5T + كهربائي</a:t>
            </a:r>
            <a:endParaRPr lang="ar-TN" sz="2400" dirty="0"/>
          </a:p>
        </p:txBody>
      </p:sp>
      <p:sp>
        <p:nvSpPr>
          <p:cNvPr id="9" name="text-231"/>
          <p:cNvSpPr txBox="1"/>
          <p:nvPr/>
        </p:nvSpPr>
        <p:spPr>
          <a:xfrm>
            <a:off x="777240" y="281635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محرّك حراري 143 حصانًا + كهربائي 201 حصان</a:t>
            </a:r>
            <a:endParaRPr lang="ar-TN" sz="1250" dirty="0"/>
          </a:p>
        </p:txBody>
      </p:sp>
      <p:sp>
        <p:nvSpPr>
          <p:cNvPr id="10" name="text-232"/>
          <p:cNvSpPr txBox="1"/>
          <p:nvPr/>
        </p:nvSpPr>
        <p:spPr>
          <a:xfrm>
            <a:off x="777240" y="347472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ar-TN" altLang="en-US" sz="2400" b="1" dirty="0">
                <a:solidFill>
                  <a:schemeClr val="accent2"/>
                </a:solidFill>
              </a:rPr>
              <a:t>18.3 kWh</a:t>
            </a:r>
            <a:endParaRPr lang="ar-TN" sz="2400" dirty="0"/>
          </a:p>
        </p:txBody>
      </p:sp>
      <p:sp>
        <p:nvSpPr>
          <p:cNvPr id="11" name="text-233"/>
          <p:cNvSpPr txBox="1"/>
          <p:nvPr/>
        </p:nvSpPr>
        <p:spPr>
          <a:xfrm>
            <a:off x="777240" y="400507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سعة البطارية</a:t>
            </a:r>
            <a:endParaRPr lang="ar-TN" sz="1250" dirty="0"/>
          </a:p>
        </p:txBody>
      </p:sp>
      <p:sp>
        <p:nvSpPr>
          <p:cNvPr id="12" name="text-234"/>
          <p:cNvSpPr txBox="1"/>
          <p:nvPr/>
        </p:nvSpPr>
        <p:spPr>
          <a:xfrm>
            <a:off x="777240" y="46634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2400" b="1" dirty="0">
                <a:solidFill>
                  <a:schemeClr val="accent2"/>
                </a:solidFill>
              </a:rPr>
              <a:t>95 كم</a:t>
            </a:r>
            <a:endParaRPr lang="ar-TN" sz="2400" dirty="0"/>
          </a:p>
        </p:txBody>
      </p:sp>
      <p:sp>
        <p:nvSpPr>
          <p:cNvPr id="13" name="text-235"/>
          <p:cNvSpPr txBox="1"/>
          <p:nvPr/>
        </p:nvSpPr>
        <p:spPr>
          <a:xfrm>
            <a:off x="777240" y="5193792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مدى كهربائي مصادق عليه</a:t>
            </a:r>
            <a:endParaRPr lang="ar-TN" sz="1250" dirty="0"/>
          </a:p>
        </p:txBody>
      </p:sp>
      <p:sp>
        <p:nvSpPr>
          <p:cNvPr id="14" name="text-236"/>
          <p:cNvSpPr txBox="1"/>
          <p:nvPr/>
        </p:nvSpPr>
        <p:spPr>
          <a:xfrm>
            <a:off x="548640" y="605332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000" i="1" dirty="0">
                <a:solidFill>
                  <a:schemeClr val="accent5"/>
                </a:solidFill>
              </a:rPr>
              <a:t>المصدر: automobile.tn — أسعار انطلاق تقريبية قابلة للتغيير.</a:t>
            </a:r>
            <a:endParaRPr lang="ar-T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للمقارنة: الكهربائية 100% (EV)</a:t>
            </a:r>
            <a:endParaRPr lang="ar-TN" sz="3000" dirty="0"/>
          </a:p>
        </p:txBody>
      </p:sp>
      <p:sp>
        <p:nvSpPr>
          <p:cNvPr id="3" name="text-237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dirty="0">
                <a:solidFill>
                  <a:schemeClr val="accent5"/>
                </a:solidFill>
              </a:rPr>
              <a:t>نفس الامتيازات الجبائية للهجينة القابلة للشحن، مع حوافز مالية إضافية</a:t>
            </a:r>
            <a:endParaRPr lang="ar-TN" sz="1500" dirty="0"/>
          </a:p>
        </p:txBody>
      </p:sp>
      <p:sp>
        <p:nvSpPr>
          <p:cNvPr id="4" name="card-238"/>
          <p:cNvSpPr/>
          <p:nvPr/>
        </p:nvSpPr>
        <p:spPr>
          <a:xfrm>
            <a:off x="8513064" y="1737360"/>
            <a:ext cx="3127248" cy="7315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5" name="icon-bg-239"/>
          <p:cNvSpPr/>
          <p:nvPr/>
        </p:nvSpPr>
        <p:spPr>
          <a:xfrm>
            <a:off x="11018520" y="1847088"/>
            <a:ext cx="512064" cy="512064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6" name="icon-24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46536" y="1975104"/>
            <a:ext cx="256032" cy="256032"/>
          </a:xfrm>
          <a:prstGeom prst="rect">
            <a:avLst/>
          </a:prstGeom>
        </p:spPr>
      </p:pic>
      <p:sp>
        <p:nvSpPr>
          <p:cNvPr id="7" name="text-241"/>
          <p:cNvSpPr txBox="1"/>
          <p:nvPr/>
        </p:nvSpPr>
        <p:spPr>
          <a:xfrm>
            <a:off x="8695944" y="1737360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450" b="1" dirty="0">
                <a:solidFill>
                  <a:schemeClr val="tx1"/>
                </a:solidFill>
              </a:rPr>
              <a:t>0% معاليم ديوانية</a:t>
            </a:r>
            <a:endParaRPr lang="ar-TN" sz="1450" dirty="0"/>
          </a:p>
        </p:txBody>
      </p:sp>
      <p:sp>
        <p:nvSpPr>
          <p:cNvPr id="8" name="card-242"/>
          <p:cNvSpPr/>
          <p:nvPr/>
        </p:nvSpPr>
        <p:spPr>
          <a:xfrm>
            <a:off x="5257800" y="1737360"/>
            <a:ext cx="3127248" cy="7315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9" name="icon-bg-243"/>
          <p:cNvSpPr/>
          <p:nvPr/>
        </p:nvSpPr>
        <p:spPr>
          <a:xfrm>
            <a:off x="7763256" y="1847088"/>
            <a:ext cx="512064" cy="512064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0" name="icon-24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1272" y="1975104"/>
            <a:ext cx="256032" cy="256032"/>
          </a:xfrm>
          <a:prstGeom prst="rect">
            <a:avLst/>
          </a:prstGeom>
        </p:spPr>
      </p:pic>
      <p:sp>
        <p:nvSpPr>
          <p:cNvPr id="11" name="text-245"/>
          <p:cNvSpPr txBox="1"/>
          <p:nvPr/>
        </p:nvSpPr>
        <p:spPr>
          <a:xfrm>
            <a:off x="5440680" y="1737360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450" b="1" dirty="0">
                <a:solidFill>
                  <a:schemeClr val="tx1"/>
                </a:solidFill>
              </a:rPr>
              <a:t>0% معلوم استهلاك</a:t>
            </a:r>
            <a:endParaRPr lang="ar-TN" sz="1450" dirty="0"/>
          </a:p>
        </p:txBody>
      </p:sp>
      <p:sp>
        <p:nvSpPr>
          <p:cNvPr id="12" name="card-246"/>
          <p:cNvSpPr/>
          <p:nvPr/>
        </p:nvSpPr>
        <p:spPr>
          <a:xfrm>
            <a:off x="8513064" y="2606040"/>
            <a:ext cx="3127248" cy="7315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3" name="icon-bg-247"/>
          <p:cNvSpPr/>
          <p:nvPr/>
        </p:nvSpPr>
        <p:spPr>
          <a:xfrm>
            <a:off x="11018520" y="2715768"/>
            <a:ext cx="512064" cy="512064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4" name="icon-24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6536" y="2843784"/>
            <a:ext cx="256032" cy="256032"/>
          </a:xfrm>
          <a:prstGeom prst="rect">
            <a:avLst/>
          </a:prstGeom>
        </p:spPr>
      </p:pic>
      <p:sp>
        <p:nvSpPr>
          <p:cNvPr id="15" name="text-249"/>
          <p:cNvSpPr txBox="1"/>
          <p:nvPr/>
        </p:nvSpPr>
        <p:spPr>
          <a:xfrm>
            <a:off x="8695944" y="2606040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450" b="1" dirty="0">
                <a:solidFill>
                  <a:schemeClr val="tx1"/>
                </a:solidFill>
              </a:rPr>
              <a:t>TVA 7% بدل 19%</a:t>
            </a:r>
            <a:endParaRPr lang="ar-TN" sz="1450" dirty="0"/>
          </a:p>
        </p:txBody>
      </p:sp>
      <p:sp>
        <p:nvSpPr>
          <p:cNvPr id="16" name="card-250"/>
          <p:cNvSpPr/>
          <p:nvPr/>
        </p:nvSpPr>
        <p:spPr>
          <a:xfrm>
            <a:off x="5257800" y="2606040"/>
            <a:ext cx="3127248" cy="7315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7" name="icon-bg-251"/>
          <p:cNvSpPr/>
          <p:nvPr/>
        </p:nvSpPr>
        <p:spPr>
          <a:xfrm>
            <a:off x="7763256" y="2715768"/>
            <a:ext cx="512064" cy="512064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8" name="icon-25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1272" y="2843784"/>
            <a:ext cx="256032" cy="256032"/>
          </a:xfrm>
          <a:prstGeom prst="rect">
            <a:avLst/>
          </a:prstGeom>
        </p:spPr>
      </p:pic>
      <p:sp>
        <p:nvSpPr>
          <p:cNvPr id="19" name="text-253"/>
          <p:cNvSpPr txBox="1"/>
          <p:nvPr/>
        </p:nvSpPr>
        <p:spPr>
          <a:xfrm>
            <a:off x="5440680" y="2606040"/>
            <a:ext cx="225856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450" b="1" dirty="0">
                <a:solidFill>
                  <a:schemeClr val="tx1"/>
                </a:solidFill>
              </a:rPr>
              <a:t>−50% بطاقة رمادية وفينيات</a:t>
            </a:r>
            <a:endParaRPr lang="ar-TN" sz="1450" dirty="0"/>
          </a:p>
        </p:txBody>
      </p:sp>
      <p:sp>
        <p:nvSpPr>
          <p:cNvPr id="20" name="card-254"/>
          <p:cNvSpPr/>
          <p:nvPr/>
        </p:nvSpPr>
        <p:spPr>
          <a:xfrm>
            <a:off x="5257800" y="3566160"/>
            <a:ext cx="6382512" cy="1234440"/>
          </a:xfrm>
          <a:prstGeom prst="roundRect">
            <a:avLst>
              <a:gd name="adj" fmla="val 11852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21" name="icon-bg-255"/>
          <p:cNvSpPr/>
          <p:nvPr/>
        </p:nvSpPr>
        <p:spPr>
          <a:xfrm>
            <a:off x="10844784" y="3785616"/>
            <a:ext cx="566928" cy="566928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22" name="icon-256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86516" y="3927348"/>
            <a:ext cx="283464" cy="283464"/>
          </a:xfrm>
          <a:prstGeom prst="rect">
            <a:avLst/>
          </a:prstGeom>
        </p:spPr>
      </p:pic>
      <p:sp>
        <p:nvSpPr>
          <p:cNvPr id="23" name="text-257"/>
          <p:cNvSpPr txBox="1"/>
          <p:nvPr/>
        </p:nvSpPr>
        <p:spPr>
          <a:xfrm>
            <a:off x="5486400" y="3767328"/>
            <a:ext cx="5129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منحة 10,000 دينار (صندوق الانتقال الطاقي)</a:t>
            </a:r>
            <a:endParaRPr lang="ar-TN" sz="1400" dirty="0"/>
          </a:p>
          <a:p>
            <a:pPr rtl="1" algn="r" indent="0" marL="0">
              <a:lnSpc>
                <a:spcPct val="105000"/>
              </a:lnSpc>
              <a:spcAft>
                <a:spcPts val="300"/>
              </a:spcAft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لكل عربة كهربائية جديدة تقتنيها المؤسسات العمومية والجماعات المحلية والمهنيون، مع مرحلة نموذجية لأصحاب سيارات الأجرة، وتكفّل بجزء من فوائد القروض.</a:t>
            </a:r>
            <a:endParaRPr lang="ar-TN" sz="1400" dirty="0"/>
          </a:p>
        </p:txBody>
      </p:sp>
      <p:sp>
        <p:nvSpPr>
          <p:cNvPr id="24" name="card-258"/>
          <p:cNvSpPr/>
          <p:nvPr/>
        </p:nvSpPr>
        <p:spPr>
          <a:xfrm>
            <a:off x="10177272" y="4956048"/>
            <a:ext cx="1463040" cy="1124712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25" name="text-259"/>
          <p:cNvSpPr txBox="1"/>
          <p:nvPr/>
        </p:nvSpPr>
        <p:spPr>
          <a:xfrm>
            <a:off x="10268712" y="4956048"/>
            <a:ext cx="1280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TN" altLang="en-US" sz="1150" b="1" dirty="0">
                <a:solidFill>
                  <a:schemeClr val="tx1"/>
                </a:solidFill>
              </a:rPr>
              <a:t>BYD Dolphin Surf</a:t>
            </a:r>
            <a:endParaRPr lang="ar-TN" sz="1400" dirty="0"/>
          </a:p>
          <a:p>
            <a:pPr rtl="1" algn="ctr" indent="0" marL="0">
              <a:buNone/>
            </a:pPr>
            <a:r>
              <a:rPr lang="ar-TN" altLang="en-US" sz="1500" b="1" dirty="0">
                <a:solidFill>
                  <a:schemeClr val="accent2"/>
                </a:solidFill>
              </a:rPr>
              <a:t>51,000 د</a:t>
            </a:r>
            <a:endParaRPr lang="ar-TN" sz="1400" dirty="0"/>
          </a:p>
        </p:txBody>
      </p:sp>
      <p:sp>
        <p:nvSpPr>
          <p:cNvPr id="26" name="card-260"/>
          <p:cNvSpPr/>
          <p:nvPr/>
        </p:nvSpPr>
        <p:spPr>
          <a:xfrm>
            <a:off x="8537753" y="4956048"/>
            <a:ext cx="1463040" cy="1124712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27" name="text-261"/>
          <p:cNvSpPr txBox="1"/>
          <p:nvPr/>
        </p:nvSpPr>
        <p:spPr>
          <a:xfrm>
            <a:off x="8629193" y="4956048"/>
            <a:ext cx="1280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TN" altLang="en-US" sz="1150" b="1" dirty="0">
                <a:solidFill>
                  <a:schemeClr val="tx1"/>
                </a:solidFill>
              </a:rPr>
              <a:t>MG4 Urban</a:t>
            </a:r>
            <a:endParaRPr lang="ar-TN" sz="1400" dirty="0"/>
          </a:p>
          <a:p>
            <a:pPr rtl="1" algn="ctr" indent="0" marL="0">
              <a:buNone/>
            </a:pPr>
            <a:r>
              <a:rPr lang="ar-TN" altLang="en-US" sz="1500" b="1" dirty="0">
                <a:solidFill>
                  <a:schemeClr val="accent2"/>
                </a:solidFill>
              </a:rPr>
              <a:t>54,950 د</a:t>
            </a:r>
            <a:endParaRPr lang="ar-TN" sz="1400" dirty="0"/>
          </a:p>
        </p:txBody>
      </p:sp>
      <p:sp>
        <p:nvSpPr>
          <p:cNvPr id="28" name="card-262"/>
          <p:cNvSpPr/>
          <p:nvPr/>
        </p:nvSpPr>
        <p:spPr>
          <a:xfrm>
            <a:off x="6898234" y="4956048"/>
            <a:ext cx="1463040" cy="1124712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29" name="text-263"/>
          <p:cNvSpPr txBox="1"/>
          <p:nvPr/>
        </p:nvSpPr>
        <p:spPr>
          <a:xfrm>
            <a:off x="6989674" y="4956048"/>
            <a:ext cx="1280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TN" altLang="en-US" sz="1150" b="1" dirty="0">
                <a:solidFill>
                  <a:schemeClr val="tx1"/>
                </a:solidFill>
              </a:rPr>
              <a:t>BYD Dolphin</a:t>
            </a:r>
            <a:endParaRPr lang="ar-TN" sz="1400" dirty="0"/>
          </a:p>
          <a:p>
            <a:pPr rtl="1" algn="ctr" indent="0" marL="0">
              <a:buNone/>
            </a:pPr>
            <a:r>
              <a:rPr lang="ar-TN" altLang="en-US" sz="1500" b="1" dirty="0">
                <a:solidFill>
                  <a:schemeClr val="accent2"/>
                </a:solidFill>
              </a:rPr>
              <a:t>94,990 د</a:t>
            </a:r>
            <a:endParaRPr lang="ar-TN" sz="1400" dirty="0"/>
          </a:p>
        </p:txBody>
      </p:sp>
      <p:sp>
        <p:nvSpPr>
          <p:cNvPr id="30" name="card-264"/>
          <p:cNvSpPr/>
          <p:nvPr/>
        </p:nvSpPr>
        <p:spPr>
          <a:xfrm>
            <a:off x="5258714" y="4956048"/>
            <a:ext cx="1463040" cy="1124712"/>
          </a:xfrm>
          <a:prstGeom prst="roundRect">
            <a:avLst>
              <a:gd name="adj" fmla="val 1463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31" name="text-265"/>
          <p:cNvSpPr txBox="1"/>
          <p:nvPr/>
        </p:nvSpPr>
        <p:spPr>
          <a:xfrm>
            <a:off x="5350154" y="4956048"/>
            <a:ext cx="12801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ar-TN" altLang="en-US" sz="1150" b="1" dirty="0">
                <a:solidFill>
                  <a:schemeClr val="tx1"/>
                </a:solidFill>
              </a:rPr>
              <a:t>BYD Atto 3</a:t>
            </a:r>
            <a:endParaRPr lang="ar-TN" sz="1400" dirty="0"/>
          </a:p>
          <a:p>
            <a:pPr rtl="1" algn="ctr" indent="0" marL="0">
              <a:buNone/>
            </a:pPr>
            <a:r>
              <a:rPr lang="ar-TN" altLang="en-US" sz="1500" b="1" dirty="0">
                <a:solidFill>
                  <a:schemeClr val="accent2"/>
                </a:solidFill>
              </a:rPr>
              <a:t>123,990 د</a:t>
            </a:r>
            <a:endParaRPr lang="ar-TN" sz="1400" dirty="0"/>
          </a:p>
        </p:txBody>
      </p:sp>
      <p:pic>
        <p:nvPicPr>
          <p:cNvPr id="32" name="3d-car_ev-266" descr="car_ev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180" y="1371600"/>
            <a:ext cx="3592039" cy="2560320"/>
          </a:xfrm>
          <a:prstGeom prst="rect">
            <a:avLst/>
          </a:prstGeom>
        </p:spPr>
      </p:pic>
      <p:sp>
        <p:nvSpPr>
          <p:cNvPr id="33" name="card-267"/>
          <p:cNvSpPr/>
          <p:nvPr/>
        </p:nvSpPr>
        <p:spPr>
          <a:xfrm>
            <a:off x="914400" y="4206240"/>
            <a:ext cx="3749040" cy="1874520"/>
          </a:xfrm>
          <a:prstGeom prst="roundRect">
            <a:avLst>
              <a:gd name="adj" fmla="val 7805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34" name="text-268"/>
          <p:cNvSpPr txBox="1"/>
          <p:nvPr/>
        </p:nvSpPr>
        <p:spPr>
          <a:xfrm>
            <a:off x="1097280" y="4370832"/>
            <a:ext cx="3383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3400" b="1" dirty="0">
                <a:solidFill>
                  <a:schemeClr val="accent2"/>
                </a:solidFill>
              </a:rPr>
              <a:t>50,000</a:t>
            </a:r>
            <a:endParaRPr lang="ar-TN" sz="3400" dirty="0"/>
          </a:p>
        </p:txBody>
      </p:sp>
      <p:sp>
        <p:nvSpPr>
          <p:cNvPr id="35" name="text-269"/>
          <p:cNvSpPr txBox="1"/>
          <p:nvPr/>
        </p:nvSpPr>
        <p:spPr>
          <a:xfrm>
            <a:off x="1097280" y="51206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سيارة كهربائية و5,000 نقطة شحن: هدف تونس في أفق 2030</a:t>
            </a:r>
            <a:endParaRPr lang="ar-TN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جدول المقارنة الجبائية حسب الصنف</a:t>
            </a:r>
            <a:endParaRPr lang="ar-TN" sz="3000" dirty="0"/>
          </a:p>
        </p:txBody>
      </p:sp>
      <p:sp>
        <p:nvSpPr>
          <p:cNvPr id="3" name="text-270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dirty="0">
                <a:solidFill>
                  <a:schemeClr val="accent5"/>
                </a:solidFill>
              </a:rPr>
              <a:t>قانون المالية 2026 — امتيازات سارية إلى غاية 31 ديسمبر 2028</a:t>
            </a:r>
            <a:endParaRPr lang="ar-TN" sz="1500" dirty="0"/>
          </a:p>
        </p:txBody>
      </p:sp>
      <p:sp>
        <p:nvSpPr>
          <p:cNvPr id="4" name="th-271"/>
          <p:cNvSpPr/>
          <p:nvPr/>
        </p:nvSpPr>
        <p:spPr>
          <a:xfrm>
            <a:off x="7257821" y="1645920"/>
            <a:ext cx="2144954" cy="685800"/>
          </a:xfrm>
          <a:prstGeom prst="roundRect">
            <a:avLst>
              <a:gd name="adj" fmla="val 16000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5" name="text-272"/>
          <p:cNvSpPr txBox="1"/>
          <p:nvPr/>
        </p:nvSpPr>
        <p:spPr>
          <a:xfrm>
            <a:off x="7257821" y="164592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600" b="1" dirty="0">
                <a:solidFill>
                  <a:schemeClr val="bg1"/>
                </a:solidFill>
              </a:rPr>
              <a:t>حرارية</a:t>
            </a:r>
            <a:endParaRPr lang="ar-TN" sz="1600" dirty="0"/>
          </a:p>
        </p:txBody>
      </p:sp>
      <p:sp>
        <p:nvSpPr>
          <p:cNvPr id="6" name="th-273"/>
          <p:cNvSpPr/>
          <p:nvPr/>
        </p:nvSpPr>
        <p:spPr>
          <a:xfrm>
            <a:off x="5021428" y="1645920"/>
            <a:ext cx="2144954" cy="685800"/>
          </a:xfrm>
          <a:prstGeom prst="roundRect">
            <a:avLst>
              <a:gd name="adj" fmla="val 1600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7" name="text-274"/>
          <p:cNvSpPr txBox="1"/>
          <p:nvPr/>
        </p:nvSpPr>
        <p:spPr>
          <a:xfrm>
            <a:off x="5021428" y="164592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600" b="1" dirty="0">
                <a:solidFill>
                  <a:schemeClr val="bg1"/>
                </a:solidFill>
              </a:rPr>
              <a:t>HEV ≤ 1700 صم³</a:t>
            </a:r>
            <a:endParaRPr lang="ar-TN" sz="1600" dirty="0"/>
          </a:p>
        </p:txBody>
      </p:sp>
      <p:sp>
        <p:nvSpPr>
          <p:cNvPr id="8" name="th-275"/>
          <p:cNvSpPr/>
          <p:nvPr/>
        </p:nvSpPr>
        <p:spPr>
          <a:xfrm>
            <a:off x="2785034" y="1645920"/>
            <a:ext cx="2144954" cy="685800"/>
          </a:xfrm>
          <a:prstGeom prst="roundRect">
            <a:avLst>
              <a:gd name="adj" fmla="val 16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9" name="text-276"/>
          <p:cNvSpPr txBox="1"/>
          <p:nvPr/>
        </p:nvSpPr>
        <p:spPr>
          <a:xfrm>
            <a:off x="2785034" y="164592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600" b="1" dirty="0">
                <a:solidFill>
                  <a:schemeClr val="bg1"/>
                </a:solidFill>
              </a:rPr>
              <a:t>PHEV</a:t>
            </a:r>
            <a:endParaRPr lang="ar-TN" sz="1600" dirty="0"/>
          </a:p>
        </p:txBody>
      </p:sp>
      <p:sp>
        <p:nvSpPr>
          <p:cNvPr id="10" name="th-277"/>
          <p:cNvSpPr/>
          <p:nvPr/>
        </p:nvSpPr>
        <p:spPr>
          <a:xfrm>
            <a:off x="548640" y="1645920"/>
            <a:ext cx="2144954" cy="685800"/>
          </a:xfrm>
          <a:prstGeom prst="roundRect">
            <a:avLst>
              <a:gd name="adj" fmla="val 16000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11" name="text-278"/>
          <p:cNvSpPr txBox="1"/>
          <p:nvPr/>
        </p:nvSpPr>
        <p:spPr>
          <a:xfrm>
            <a:off x="548640" y="164592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600" b="1" dirty="0">
                <a:solidFill>
                  <a:schemeClr val="bg1"/>
                </a:solidFill>
              </a:rPr>
              <a:t>EV</a:t>
            </a:r>
            <a:endParaRPr lang="ar-TN" sz="1600" dirty="0"/>
          </a:p>
        </p:txBody>
      </p:sp>
      <p:sp>
        <p:nvSpPr>
          <p:cNvPr id="12" name="card-279"/>
          <p:cNvSpPr/>
          <p:nvPr/>
        </p:nvSpPr>
        <p:spPr>
          <a:xfrm>
            <a:off x="9494215" y="2423160"/>
            <a:ext cx="2148840" cy="73152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13" name="text-280"/>
          <p:cNvSpPr txBox="1"/>
          <p:nvPr/>
        </p:nvSpPr>
        <p:spPr>
          <a:xfrm>
            <a:off x="9631375" y="2423160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400" b="1" dirty="0">
                <a:solidFill>
                  <a:schemeClr val="tx1"/>
                </a:solidFill>
              </a:rPr>
              <a:t>المعاليم الديوانية</a:t>
            </a:r>
            <a:endParaRPr lang="ar-TN" sz="1400" dirty="0"/>
          </a:p>
        </p:txBody>
      </p:sp>
      <p:sp>
        <p:nvSpPr>
          <p:cNvPr id="14" name="card-281"/>
          <p:cNvSpPr/>
          <p:nvPr/>
        </p:nvSpPr>
        <p:spPr>
          <a:xfrm>
            <a:off x="7257821" y="2423160"/>
            <a:ext cx="2144954" cy="7315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5" name="text-282"/>
          <p:cNvSpPr txBox="1"/>
          <p:nvPr/>
        </p:nvSpPr>
        <p:spPr>
          <a:xfrm>
            <a:off x="7257821" y="2423160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450" dirty="0">
                <a:solidFill>
                  <a:schemeClr val="accent5"/>
                </a:solidFill>
              </a:rPr>
              <a:t>حسب التعريفة</a:t>
            </a:r>
            <a:endParaRPr lang="ar-TN" sz="1450" dirty="0"/>
          </a:p>
        </p:txBody>
      </p:sp>
      <p:sp>
        <p:nvSpPr>
          <p:cNvPr id="16" name="card-283"/>
          <p:cNvSpPr/>
          <p:nvPr/>
        </p:nvSpPr>
        <p:spPr>
          <a:xfrm>
            <a:off x="5021428" y="2423160"/>
            <a:ext cx="2144954" cy="7315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7" name="text-284"/>
          <p:cNvSpPr txBox="1"/>
          <p:nvPr/>
        </p:nvSpPr>
        <p:spPr>
          <a:xfrm>
            <a:off x="5021428" y="2423160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450" dirty="0">
                <a:solidFill>
                  <a:schemeClr val="accent5"/>
                </a:solidFill>
              </a:rPr>
              <a:t>حسب التعريفة</a:t>
            </a:r>
            <a:endParaRPr lang="ar-TN" sz="1450" dirty="0"/>
          </a:p>
        </p:txBody>
      </p:sp>
      <p:sp>
        <p:nvSpPr>
          <p:cNvPr id="18" name="card-285"/>
          <p:cNvSpPr/>
          <p:nvPr/>
        </p:nvSpPr>
        <p:spPr>
          <a:xfrm>
            <a:off x="2785034" y="2423160"/>
            <a:ext cx="2144954" cy="7315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9" name="text-286"/>
          <p:cNvSpPr txBox="1"/>
          <p:nvPr/>
        </p:nvSpPr>
        <p:spPr>
          <a:xfrm>
            <a:off x="2785034" y="2423160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700" b="1" dirty="0">
                <a:solidFill>
                  <a:schemeClr val="accent1"/>
                </a:solidFill>
              </a:rPr>
              <a:t>إعفاء كلّي</a:t>
            </a:r>
            <a:endParaRPr lang="ar-TN" sz="1700" dirty="0"/>
          </a:p>
        </p:txBody>
      </p:sp>
      <p:sp>
        <p:nvSpPr>
          <p:cNvPr id="20" name="card-287"/>
          <p:cNvSpPr/>
          <p:nvPr/>
        </p:nvSpPr>
        <p:spPr>
          <a:xfrm>
            <a:off x="548640" y="2423160"/>
            <a:ext cx="2144954" cy="7315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21" name="text-288"/>
          <p:cNvSpPr txBox="1"/>
          <p:nvPr/>
        </p:nvSpPr>
        <p:spPr>
          <a:xfrm>
            <a:off x="548640" y="2423160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700" b="1" dirty="0">
                <a:solidFill>
                  <a:schemeClr val="accent1"/>
                </a:solidFill>
              </a:rPr>
              <a:t>إعفاء كلّي</a:t>
            </a:r>
            <a:endParaRPr lang="ar-TN" sz="1700" dirty="0"/>
          </a:p>
        </p:txBody>
      </p:sp>
      <p:sp>
        <p:nvSpPr>
          <p:cNvPr id="22" name="card-289"/>
          <p:cNvSpPr/>
          <p:nvPr/>
        </p:nvSpPr>
        <p:spPr>
          <a:xfrm>
            <a:off x="9494215" y="3227832"/>
            <a:ext cx="2148840" cy="73152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23" name="text-290"/>
          <p:cNvSpPr txBox="1"/>
          <p:nvPr/>
        </p:nvSpPr>
        <p:spPr>
          <a:xfrm>
            <a:off x="9631375" y="3227832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400" b="1" dirty="0">
                <a:solidFill>
                  <a:schemeClr val="tx1"/>
                </a:solidFill>
              </a:rPr>
              <a:t>معلوم الاستهلاك</a:t>
            </a:r>
            <a:endParaRPr lang="ar-TN" sz="1400" dirty="0"/>
          </a:p>
        </p:txBody>
      </p:sp>
      <p:sp>
        <p:nvSpPr>
          <p:cNvPr id="24" name="card-291"/>
          <p:cNvSpPr/>
          <p:nvPr/>
        </p:nvSpPr>
        <p:spPr>
          <a:xfrm>
            <a:off x="7257821" y="3227832"/>
            <a:ext cx="2144954" cy="7315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25" name="text-292"/>
          <p:cNvSpPr txBox="1"/>
          <p:nvPr/>
        </p:nvSpPr>
        <p:spPr>
          <a:xfrm>
            <a:off x="7257821" y="3227832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450" dirty="0">
                <a:solidFill>
                  <a:schemeClr val="accent5"/>
                </a:solidFill>
              </a:rPr>
              <a:t>كامل</a:t>
            </a:r>
            <a:endParaRPr lang="ar-TN" sz="1450" dirty="0"/>
          </a:p>
        </p:txBody>
      </p:sp>
      <p:sp>
        <p:nvSpPr>
          <p:cNvPr id="26" name="card-293"/>
          <p:cNvSpPr/>
          <p:nvPr/>
        </p:nvSpPr>
        <p:spPr>
          <a:xfrm>
            <a:off x="5021428" y="3227832"/>
            <a:ext cx="2144954" cy="7315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27" name="text-294"/>
          <p:cNvSpPr txBox="1"/>
          <p:nvPr/>
        </p:nvSpPr>
        <p:spPr>
          <a:xfrm>
            <a:off x="5021428" y="3227832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700" b="1" dirty="0">
                <a:solidFill>
                  <a:schemeClr val="accent1"/>
                </a:solidFill>
              </a:rPr>
              <a:t>−50%</a:t>
            </a:r>
            <a:endParaRPr lang="ar-TN" sz="1700" dirty="0"/>
          </a:p>
        </p:txBody>
      </p:sp>
      <p:sp>
        <p:nvSpPr>
          <p:cNvPr id="28" name="card-295"/>
          <p:cNvSpPr/>
          <p:nvPr/>
        </p:nvSpPr>
        <p:spPr>
          <a:xfrm>
            <a:off x="2785034" y="3227832"/>
            <a:ext cx="2144954" cy="7315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29" name="text-296"/>
          <p:cNvSpPr txBox="1"/>
          <p:nvPr/>
        </p:nvSpPr>
        <p:spPr>
          <a:xfrm>
            <a:off x="2785034" y="3227832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700" b="1" dirty="0">
                <a:solidFill>
                  <a:schemeClr val="accent1"/>
                </a:solidFill>
              </a:rPr>
              <a:t>إعفاء كلّي</a:t>
            </a:r>
            <a:endParaRPr lang="ar-TN" sz="1700" dirty="0"/>
          </a:p>
        </p:txBody>
      </p:sp>
      <p:sp>
        <p:nvSpPr>
          <p:cNvPr id="30" name="card-297"/>
          <p:cNvSpPr/>
          <p:nvPr/>
        </p:nvSpPr>
        <p:spPr>
          <a:xfrm>
            <a:off x="548640" y="3227832"/>
            <a:ext cx="2144954" cy="7315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31" name="text-298"/>
          <p:cNvSpPr txBox="1"/>
          <p:nvPr/>
        </p:nvSpPr>
        <p:spPr>
          <a:xfrm>
            <a:off x="548640" y="3227832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700" b="1" dirty="0">
                <a:solidFill>
                  <a:schemeClr val="accent1"/>
                </a:solidFill>
              </a:rPr>
              <a:t>إعفاء كلّي</a:t>
            </a:r>
            <a:endParaRPr lang="ar-TN" sz="1700" dirty="0"/>
          </a:p>
        </p:txBody>
      </p:sp>
      <p:sp>
        <p:nvSpPr>
          <p:cNvPr id="32" name="card-299"/>
          <p:cNvSpPr/>
          <p:nvPr/>
        </p:nvSpPr>
        <p:spPr>
          <a:xfrm>
            <a:off x="9494215" y="4032504"/>
            <a:ext cx="2148840" cy="73152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33" name="text-300"/>
          <p:cNvSpPr txBox="1"/>
          <p:nvPr/>
        </p:nvSpPr>
        <p:spPr>
          <a:xfrm>
            <a:off x="9631375" y="4032504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400" b="1" dirty="0">
                <a:solidFill>
                  <a:schemeClr val="tx1"/>
                </a:solidFill>
              </a:rPr>
              <a:t>الأداء على القيمة المضافة</a:t>
            </a:r>
            <a:endParaRPr lang="ar-TN" sz="1400" dirty="0"/>
          </a:p>
        </p:txBody>
      </p:sp>
      <p:sp>
        <p:nvSpPr>
          <p:cNvPr id="34" name="card-301"/>
          <p:cNvSpPr/>
          <p:nvPr/>
        </p:nvSpPr>
        <p:spPr>
          <a:xfrm>
            <a:off x="7257821" y="4032504"/>
            <a:ext cx="2144954" cy="7315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35" name="text-302"/>
          <p:cNvSpPr txBox="1"/>
          <p:nvPr/>
        </p:nvSpPr>
        <p:spPr>
          <a:xfrm>
            <a:off x="7257821" y="4032504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450" dirty="0">
                <a:solidFill>
                  <a:schemeClr val="accent5"/>
                </a:solidFill>
              </a:rPr>
              <a:t>19%</a:t>
            </a:r>
            <a:endParaRPr lang="ar-TN" sz="1450" dirty="0"/>
          </a:p>
        </p:txBody>
      </p:sp>
      <p:sp>
        <p:nvSpPr>
          <p:cNvPr id="36" name="card-303"/>
          <p:cNvSpPr/>
          <p:nvPr/>
        </p:nvSpPr>
        <p:spPr>
          <a:xfrm>
            <a:off x="5021428" y="4032504"/>
            <a:ext cx="2144954" cy="7315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37" name="text-304"/>
          <p:cNvSpPr txBox="1"/>
          <p:nvPr/>
        </p:nvSpPr>
        <p:spPr>
          <a:xfrm>
            <a:off x="5021428" y="4032504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450" dirty="0">
                <a:solidFill>
                  <a:schemeClr val="accent5"/>
                </a:solidFill>
              </a:rPr>
              <a:t>19% *</a:t>
            </a:r>
            <a:endParaRPr lang="ar-TN" sz="1450" dirty="0"/>
          </a:p>
        </p:txBody>
      </p:sp>
      <p:sp>
        <p:nvSpPr>
          <p:cNvPr id="38" name="card-305"/>
          <p:cNvSpPr/>
          <p:nvPr/>
        </p:nvSpPr>
        <p:spPr>
          <a:xfrm>
            <a:off x="2785034" y="4032504"/>
            <a:ext cx="2144954" cy="7315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39" name="text-306"/>
          <p:cNvSpPr txBox="1"/>
          <p:nvPr/>
        </p:nvSpPr>
        <p:spPr>
          <a:xfrm>
            <a:off x="2785034" y="4032504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700" b="1" dirty="0">
                <a:solidFill>
                  <a:schemeClr val="accent1"/>
                </a:solidFill>
              </a:rPr>
              <a:t>7%</a:t>
            </a:r>
            <a:endParaRPr lang="ar-TN" sz="1700" dirty="0"/>
          </a:p>
        </p:txBody>
      </p:sp>
      <p:sp>
        <p:nvSpPr>
          <p:cNvPr id="40" name="card-307"/>
          <p:cNvSpPr/>
          <p:nvPr/>
        </p:nvSpPr>
        <p:spPr>
          <a:xfrm>
            <a:off x="548640" y="4032504"/>
            <a:ext cx="2144954" cy="7315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41" name="text-308"/>
          <p:cNvSpPr txBox="1"/>
          <p:nvPr/>
        </p:nvSpPr>
        <p:spPr>
          <a:xfrm>
            <a:off x="548640" y="4032504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700" b="1" dirty="0">
                <a:solidFill>
                  <a:schemeClr val="accent1"/>
                </a:solidFill>
              </a:rPr>
              <a:t>7%</a:t>
            </a:r>
            <a:endParaRPr lang="ar-TN" sz="1700" dirty="0"/>
          </a:p>
        </p:txBody>
      </p:sp>
      <p:sp>
        <p:nvSpPr>
          <p:cNvPr id="42" name="card-309"/>
          <p:cNvSpPr/>
          <p:nvPr/>
        </p:nvSpPr>
        <p:spPr>
          <a:xfrm>
            <a:off x="9494215" y="4837176"/>
            <a:ext cx="2148840" cy="731520"/>
          </a:xfrm>
          <a:prstGeom prst="roundRect">
            <a:avLst>
              <a:gd name="adj" fmla="val 20000"/>
            </a:avLst>
          </a:prstGeom>
          <a:solidFill>
            <a:schemeClr val="bg2"/>
          </a:solidFill>
          <a:ln/>
        </p:spPr>
      </p:sp>
      <p:sp>
        <p:nvSpPr>
          <p:cNvPr id="43" name="text-310"/>
          <p:cNvSpPr txBox="1"/>
          <p:nvPr/>
        </p:nvSpPr>
        <p:spPr>
          <a:xfrm>
            <a:off x="9631375" y="4837176"/>
            <a:ext cx="1874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400" b="1" dirty="0">
                <a:solidFill>
                  <a:schemeClr val="tx1"/>
                </a:solidFill>
              </a:rPr>
              <a:t>البطاقة الرمادية والفينيات</a:t>
            </a:r>
            <a:endParaRPr lang="ar-TN" sz="1400" dirty="0"/>
          </a:p>
        </p:txBody>
      </p:sp>
      <p:sp>
        <p:nvSpPr>
          <p:cNvPr id="44" name="card-311"/>
          <p:cNvSpPr/>
          <p:nvPr/>
        </p:nvSpPr>
        <p:spPr>
          <a:xfrm>
            <a:off x="7257821" y="4837176"/>
            <a:ext cx="2144954" cy="7315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45" name="text-312"/>
          <p:cNvSpPr txBox="1"/>
          <p:nvPr/>
        </p:nvSpPr>
        <p:spPr>
          <a:xfrm>
            <a:off x="7257821" y="4837176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450" dirty="0">
                <a:solidFill>
                  <a:schemeClr val="accent5"/>
                </a:solidFill>
              </a:rPr>
              <a:t>كاملة</a:t>
            </a:r>
            <a:endParaRPr lang="ar-TN" sz="1450" dirty="0"/>
          </a:p>
        </p:txBody>
      </p:sp>
      <p:sp>
        <p:nvSpPr>
          <p:cNvPr id="46" name="card-313"/>
          <p:cNvSpPr/>
          <p:nvPr/>
        </p:nvSpPr>
        <p:spPr>
          <a:xfrm>
            <a:off x="5021428" y="4837176"/>
            <a:ext cx="2144954" cy="7315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47" name="text-314"/>
          <p:cNvSpPr txBox="1"/>
          <p:nvPr/>
        </p:nvSpPr>
        <p:spPr>
          <a:xfrm>
            <a:off x="5021428" y="4837176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450" dirty="0">
                <a:solidFill>
                  <a:schemeClr val="accent5"/>
                </a:solidFill>
              </a:rPr>
              <a:t>كاملة</a:t>
            </a:r>
            <a:endParaRPr lang="ar-TN" sz="1450" dirty="0"/>
          </a:p>
        </p:txBody>
      </p:sp>
      <p:sp>
        <p:nvSpPr>
          <p:cNvPr id="48" name="card-315"/>
          <p:cNvSpPr/>
          <p:nvPr/>
        </p:nvSpPr>
        <p:spPr>
          <a:xfrm>
            <a:off x="2785034" y="4837176"/>
            <a:ext cx="2144954" cy="7315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49" name="text-316"/>
          <p:cNvSpPr txBox="1"/>
          <p:nvPr/>
        </p:nvSpPr>
        <p:spPr>
          <a:xfrm>
            <a:off x="2785034" y="4837176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700" b="1" dirty="0">
                <a:solidFill>
                  <a:schemeClr val="accent1"/>
                </a:solidFill>
              </a:rPr>
              <a:t>−50%</a:t>
            </a:r>
            <a:endParaRPr lang="ar-TN" sz="1700" dirty="0"/>
          </a:p>
        </p:txBody>
      </p:sp>
      <p:sp>
        <p:nvSpPr>
          <p:cNvPr id="50" name="card-317"/>
          <p:cNvSpPr/>
          <p:nvPr/>
        </p:nvSpPr>
        <p:spPr>
          <a:xfrm>
            <a:off x="548640" y="4837176"/>
            <a:ext cx="2144954" cy="731520"/>
          </a:xfrm>
          <a:prstGeom prst="roundRect">
            <a:avLst>
              <a:gd name="adj" fmla="val 20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51" name="text-318"/>
          <p:cNvSpPr txBox="1"/>
          <p:nvPr/>
        </p:nvSpPr>
        <p:spPr>
          <a:xfrm>
            <a:off x="548640" y="4837176"/>
            <a:ext cx="214495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700" b="1" dirty="0">
                <a:solidFill>
                  <a:schemeClr val="accent1"/>
                </a:solidFill>
              </a:rPr>
              <a:t>−50%</a:t>
            </a:r>
            <a:endParaRPr lang="ar-TN" sz="1700" dirty="0"/>
          </a:p>
        </p:txBody>
      </p:sp>
      <p:sp>
        <p:nvSpPr>
          <p:cNvPr id="52" name="text-319"/>
          <p:cNvSpPr txBox="1"/>
          <p:nvPr/>
        </p:nvSpPr>
        <p:spPr>
          <a:xfrm>
            <a:off x="548640" y="58064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000" i="1" dirty="0">
                <a:solidFill>
                  <a:schemeClr val="accent5"/>
                </a:solidFill>
              </a:rPr>
              <a:t>* تشير بعض المصادر إلى نسبة 7% للهجينة غير القابلة للشحن أيضًا — يُرجى التثبّت من النصّ المنشور بالرائد الرسمي.</a:t>
            </a:r>
            <a:endParaRPr lang="ar-TN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تطوّر الامتيازات عبر قوانين المالية</a:t>
            </a:r>
            <a:endParaRPr lang="ar-TN" sz="3000" dirty="0"/>
          </a:p>
        </p:txBody>
      </p:sp>
      <p:sp>
        <p:nvSpPr>
          <p:cNvPr id="3" name="timeline"/>
          <p:cNvSpPr/>
          <p:nvPr/>
        </p:nvSpPr>
        <p:spPr>
          <a:xfrm>
            <a:off x="914400" y="3063240"/>
            <a:ext cx="10362895" cy="0"/>
          </a:xfrm>
          <a:prstGeom prst="line">
            <a:avLst/>
          </a:prstGeom>
          <a:noFill/>
          <a:ln w="38100">
            <a:solidFill>
              <a:srgbClr val="7FC8BE"/>
            </a:solidFill>
            <a:prstDash val="solid"/>
          </a:ln>
        </p:spPr>
      </p:sp>
      <p:sp>
        <p:nvSpPr>
          <p:cNvPr id="4" name="badge-320"/>
          <p:cNvSpPr/>
          <p:nvPr/>
        </p:nvSpPr>
        <p:spPr>
          <a:xfrm>
            <a:off x="9955987" y="2679192"/>
            <a:ext cx="768096" cy="768096"/>
          </a:xfrm>
          <a:prstGeom prst="ellipse">
            <a:avLst/>
          </a:prstGeom>
          <a:solidFill>
            <a:schemeClr val="accent5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5" name="badge-txt-321"/>
          <p:cNvSpPr txBox="1"/>
          <p:nvPr/>
        </p:nvSpPr>
        <p:spPr>
          <a:xfrm>
            <a:off x="9955987" y="2679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-322"/>
          <p:cNvSpPr txBox="1"/>
          <p:nvPr/>
        </p:nvSpPr>
        <p:spPr>
          <a:xfrm>
            <a:off x="9037015" y="1737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2400" b="1" dirty="0">
                <a:solidFill>
                  <a:schemeClr val="accent5"/>
                </a:solidFill>
              </a:rPr>
              <a:t>قبل 2024</a:t>
            </a:r>
            <a:endParaRPr lang="ar-TN" sz="2400" dirty="0"/>
          </a:p>
        </p:txBody>
      </p:sp>
      <p:sp>
        <p:nvSpPr>
          <p:cNvPr id="7" name="card-323"/>
          <p:cNvSpPr/>
          <p:nvPr/>
        </p:nvSpPr>
        <p:spPr>
          <a:xfrm>
            <a:off x="9037015" y="3657600"/>
            <a:ext cx="2606040" cy="1828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8" name="text-324"/>
          <p:cNvSpPr txBox="1"/>
          <p:nvPr/>
        </p:nvSpPr>
        <p:spPr>
          <a:xfrm>
            <a:off x="9219895" y="37490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350" dirty="0">
                <a:solidFill>
                  <a:schemeClr val="tx1"/>
                </a:solidFill>
              </a:rPr>
              <a:t>الهجينة (HEV وPHEV) تخضع للمعاليم الديوانية وTVA بنسبة 19%.</a:t>
            </a:r>
            <a:endParaRPr lang="ar-TN" sz="1350" dirty="0"/>
          </a:p>
        </p:txBody>
      </p:sp>
      <p:sp>
        <p:nvSpPr>
          <p:cNvPr id="9" name="badge-325"/>
          <p:cNvSpPr/>
          <p:nvPr/>
        </p:nvSpPr>
        <p:spPr>
          <a:xfrm>
            <a:off x="7127748" y="2679192"/>
            <a:ext cx="768096" cy="768096"/>
          </a:xfrm>
          <a:prstGeom prst="ellipse">
            <a:avLst/>
          </a:prstGeom>
          <a:solidFill>
            <a:schemeClr val="accent3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10" name="badge-txt-326"/>
          <p:cNvSpPr txBox="1"/>
          <p:nvPr/>
        </p:nvSpPr>
        <p:spPr>
          <a:xfrm>
            <a:off x="7127748" y="2679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-327"/>
          <p:cNvSpPr txBox="1"/>
          <p:nvPr/>
        </p:nvSpPr>
        <p:spPr>
          <a:xfrm>
            <a:off x="6208776" y="1737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2400" b="1" dirty="0">
                <a:solidFill>
                  <a:schemeClr val="accent3"/>
                </a:solidFill>
              </a:rPr>
              <a:t>2024</a:t>
            </a:r>
            <a:endParaRPr lang="ar-TN" sz="2400" dirty="0"/>
          </a:p>
        </p:txBody>
      </p:sp>
      <p:sp>
        <p:nvSpPr>
          <p:cNvPr id="12" name="card-328"/>
          <p:cNvSpPr/>
          <p:nvPr/>
        </p:nvSpPr>
        <p:spPr>
          <a:xfrm>
            <a:off x="6208776" y="3657600"/>
            <a:ext cx="2606040" cy="1828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3" name="text-329"/>
          <p:cNvSpPr txBox="1"/>
          <p:nvPr/>
        </p:nvSpPr>
        <p:spPr>
          <a:xfrm>
            <a:off x="6391656" y="37490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350" dirty="0">
                <a:solidFill>
                  <a:schemeClr val="tx1"/>
                </a:solidFill>
              </a:rPr>
              <a:t>تخفيف جبائي على السيارات والدرّاجات الكهربائية: إعفاءات وTVA مخفّضة إلى 7%.</a:t>
            </a:r>
            <a:endParaRPr lang="ar-TN" sz="1350" dirty="0"/>
          </a:p>
        </p:txBody>
      </p:sp>
      <p:sp>
        <p:nvSpPr>
          <p:cNvPr id="14" name="badge-330"/>
          <p:cNvSpPr/>
          <p:nvPr/>
        </p:nvSpPr>
        <p:spPr>
          <a:xfrm>
            <a:off x="4299509" y="2679192"/>
            <a:ext cx="768096" cy="768096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15" name="badge-txt-331"/>
          <p:cNvSpPr txBox="1"/>
          <p:nvPr/>
        </p:nvSpPr>
        <p:spPr>
          <a:xfrm>
            <a:off x="4299509" y="2679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-332"/>
          <p:cNvSpPr txBox="1"/>
          <p:nvPr/>
        </p:nvSpPr>
        <p:spPr>
          <a:xfrm>
            <a:off x="3380537" y="1737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2400" b="1" dirty="0">
                <a:solidFill>
                  <a:schemeClr val="accent1"/>
                </a:solidFill>
              </a:rPr>
              <a:t>2025</a:t>
            </a:r>
            <a:endParaRPr lang="ar-TN" sz="2400" dirty="0"/>
          </a:p>
        </p:txBody>
      </p:sp>
      <p:sp>
        <p:nvSpPr>
          <p:cNvPr id="17" name="card-333"/>
          <p:cNvSpPr/>
          <p:nvPr/>
        </p:nvSpPr>
        <p:spPr>
          <a:xfrm>
            <a:off x="3380537" y="3657600"/>
            <a:ext cx="2606040" cy="1828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8" name="text-334"/>
          <p:cNvSpPr txBox="1"/>
          <p:nvPr/>
        </p:nvSpPr>
        <p:spPr>
          <a:xfrm>
            <a:off x="3563417" y="37490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350" dirty="0">
                <a:solidFill>
                  <a:schemeClr val="tx1"/>
                </a:solidFill>
              </a:rPr>
              <a:t>إعفاء العربات الخفيفة الهجينة القابلة للشحن من معلوم الاستهلاك.</a:t>
            </a:r>
            <a:endParaRPr lang="ar-TN" sz="1350" dirty="0"/>
          </a:p>
        </p:txBody>
      </p:sp>
      <p:sp>
        <p:nvSpPr>
          <p:cNvPr id="19" name="badge-335"/>
          <p:cNvSpPr/>
          <p:nvPr/>
        </p:nvSpPr>
        <p:spPr>
          <a:xfrm>
            <a:off x="1471270" y="2679192"/>
            <a:ext cx="768096" cy="768096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20" name="badge-txt-336"/>
          <p:cNvSpPr txBox="1"/>
          <p:nvPr/>
        </p:nvSpPr>
        <p:spPr>
          <a:xfrm>
            <a:off x="1471270" y="267919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-337"/>
          <p:cNvSpPr txBox="1"/>
          <p:nvPr/>
        </p:nvSpPr>
        <p:spPr>
          <a:xfrm>
            <a:off x="552298" y="173736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2400" b="1" dirty="0">
                <a:solidFill>
                  <a:schemeClr val="accent2"/>
                </a:solidFill>
              </a:rPr>
              <a:t>2026</a:t>
            </a:r>
            <a:endParaRPr lang="ar-TN" sz="2400" dirty="0"/>
          </a:p>
        </p:txBody>
      </p:sp>
      <p:sp>
        <p:nvSpPr>
          <p:cNvPr id="22" name="card-338"/>
          <p:cNvSpPr/>
          <p:nvPr/>
        </p:nvSpPr>
        <p:spPr>
          <a:xfrm>
            <a:off x="552298" y="3657600"/>
            <a:ext cx="2606040" cy="18288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23" name="text-339"/>
          <p:cNvSpPr txBox="1"/>
          <p:nvPr/>
        </p:nvSpPr>
        <p:spPr>
          <a:xfrm>
            <a:off x="735178" y="374904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350" dirty="0">
                <a:solidFill>
                  <a:schemeClr val="tx1"/>
                </a:solidFill>
              </a:rPr>
              <a:t>مساواة PHEV بالكهربائية، وتخفيض 50% من معلوم الاستهلاك للهجينة الكاملة حتى 1700 صم³.</a:t>
            </a:r>
            <a:endParaRPr lang="ar-TN" sz="1350" dirty="0"/>
          </a:p>
        </p:txBody>
      </p:sp>
      <p:sp>
        <p:nvSpPr>
          <p:cNvPr id="24" name="pill-340"/>
          <p:cNvSpPr/>
          <p:nvPr/>
        </p:nvSpPr>
        <p:spPr>
          <a:xfrm>
            <a:off x="3813048" y="5623560"/>
            <a:ext cx="45720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25" name="text-341"/>
          <p:cNvSpPr txBox="1"/>
          <p:nvPr/>
        </p:nvSpPr>
        <p:spPr>
          <a:xfrm>
            <a:off x="3922776" y="5623560"/>
            <a:ext cx="4352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400" b="1" dirty="0">
                <a:solidFill>
                  <a:schemeClr val="bg1"/>
                </a:solidFill>
              </a:rPr>
              <a:t>امتيازات سارية إلى غاية 31 ديسمبر 2028</a:t>
            </a:r>
            <a:endParaRPr lang="ar-TN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السوق: مبيعات الربع الأول من 2026</a:t>
            </a:r>
            <a:endParaRPr lang="ar-TN" sz="3000" dirty="0"/>
          </a:p>
        </p:txBody>
      </p:sp>
      <p:sp>
        <p:nvSpPr>
          <p:cNvPr id="3" name="text-342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dirty="0">
                <a:solidFill>
                  <a:schemeClr val="accent5"/>
                </a:solidFill>
              </a:rPr>
              <a:t>عدد السيارات المبيعة حسب نوع المحرّك البديل</a:t>
            </a:r>
            <a:endParaRPr lang="ar-TN" sz="1500" dirty="0"/>
          </a:p>
        </p:txBody>
      </p:sp>
      <p:sp>
        <p:nvSpPr>
          <p:cNvPr id="4" name="card-343"/>
          <p:cNvSpPr/>
          <p:nvPr/>
        </p:nvSpPr>
        <p:spPr>
          <a:xfrm>
            <a:off x="4069080" y="1645920"/>
            <a:ext cx="7571232" cy="438912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graphicFrame>
        <p:nvGraphicFramePr>
          <p:cNvPr id="5" name="chart-market" descr=""/>
          <p:cNvGraphicFramePr/>
          <p:nvPr/>
        </p:nvGraphicFramePr>
        <p:xfrm>
          <a:off x="4297680" y="1828800"/>
          <a:ext cx="71323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card-344"/>
          <p:cNvSpPr/>
          <p:nvPr/>
        </p:nvSpPr>
        <p:spPr>
          <a:xfrm>
            <a:off x="548640" y="1645920"/>
            <a:ext cx="3337560" cy="210312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7" name="text-345"/>
          <p:cNvSpPr txBox="1"/>
          <p:nvPr/>
        </p:nvSpPr>
        <p:spPr>
          <a:xfrm>
            <a:off x="731520" y="1810512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4000" b="1" dirty="0">
                <a:solidFill>
                  <a:schemeClr val="accent2"/>
                </a:solidFill>
              </a:rPr>
              <a:t>1,506</a:t>
            </a:r>
            <a:endParaRPr lang="ar-TN" sz="4000" dirty="0"/>
          </a:p>
        </p:txBody>
      </p:sp>
      <p:sp>
        <p:nvSpPr>
          <p:cNvPr id="8" name="text-346"/>
          <p:cNvSpPr txBox="1"/>
          <p:nvPr/>
        </p:nvSpPr>
        <p:spPr>
          <a:xfrm>
            <a:off x="731520" y="26517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سيارة بمحرّك بديل في ربع واحد</a:t>
            </a:r>
            <a:endParaRPr lang="ar-TN" sz="1300" dirty="0"/>
          </a:p>
        </p:txBody>
      </p:sp>
      <p:sp>
        <p:nvSpPr>
          <p:cNvPr id="9" name="card-347"/>
          <p:cNvSpPr/>
          <p:nvPr/>
        </p:nvSpPr>
        <p:spPr>
          <a:xfrm>
            <a:off x="548640" y="3931920"/>
            <a:ext cx="3337560" cy="210312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0" name="text-348"/>
          <p:cNvSpPr txBox="1"/>
          <p:nvPr/>
        </p:nvSpPr>
        <p:spPr>
          <a:xfrm>
            <a:off x="777240" y="406908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spcAft>
                <a:spcPts val="600"/>
              </a:spcAft>
              <a:buNone/>
            </a:pPr>
            <a:r>
              <a:rPr lang="ar-TN" altLang="en-US" sz="1500" b="1" dirty="0">
                <a:solidFill>
                  <a:schemeClr val="accent1"/>
                </a:solidFill>
              </a:rPr>
              <a:t>روّاد PHEV</a:t>
            </a:r>
            <a:endParaRPr lang="ar-TN" sz="1400" dirty="0"/>
          </a:p>
          <a:p>
            <a:pPr rtl="1" algn="r" indent="0" marL="0">
              <a:spcAft>
                <a:spcPts val="600"/>
              </a:spcAft>
              <a:buNone/>
            </a:pPr>
            <a:r>
              <a:rPr lang="ar-TN" altLang="en-US" sz="1400" dirty="0">
                <a:solidFill>
                  <a:schemeClr val="tx1"/>
                </a:solidFill>
              </a:rPr>
              <a:t>BYD: 189 وحدة</a:t>
            </a:r>
            <a:endParaRPr lang="ar-TN" sz="1400" dirty="0"/>
          </a:p>
          <a:p>
            <a:pPr rtl="1" algn="r" indent="0" marL="0">
              <a:spcAft>
                <a:spcPts val="600"/>
              </a:spcAft>
              <a:buNone/>
            </a:pPr>
            <a:r>
              <a:rPr lang="ar-TN" altLang="en-US" sz="1400" dirty="0">
                <a:solidFill>
                  <a:schemeClr val="tx1"/>
                </a:solidFill>
              </a:rPr>
              <a:t>Omoda &amp; Jaecoo: 187 وحدة</a:t>
            </a:r>
            <a:endParaRPr lang="ar-TN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حالة تطبيقية: سقف سعة الأسطوانة</a:t>
            </a:r>
            <a:endParaRPr lang="ar-TN" sz="3000" dirty="0"/>
          </a:p>
        </p:txBody>
      </p:sp>
      <p:sp>
        <p:nvSpPr>
          <p:cNvPr id="3" name="text-349"/>
          <p:cNvSpPr txBox="1"/>
          <p:nvPr/>
        </p:nvSpPr>
        <p:spPr>
          <a:xfrm>
            <a:off x="548640" y="1115568"/>
            <a:ext cx="1109441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TN" altLang="en-US" sz="1500" dirty="0">
                <a:solidFill>
                  <a:schemeClr val="accent5"/>
                </a:solidFill>
              </a:rPr>
              <a:t>نفس الصنف (HEV)، نفس الفئة (SUV)، ومعاملة جبائية مختلفة</a:t>
            </a:r>
            <a:endParaRPr lang="ar-TN" sz="1500" dirty="0"/>
          </a:p>
        </p:txBody>
      </p:sp>
      <p:sp>
        <p:nvSpPr>
          <p:cNvPr id="4" name="card-350"/>
          <p:cNvSpPr/>
          <p:nvPr/>
        </p:nvSpPr>
        <p:spPr>
          <a:xfrm>
            <a:off x="8513064" y="1783080"/>
            <a:ext cx="3127248" cy="3291840"/>
          </a:xfrm>
          <a:prstGeom prst="roundRect">
            <a:avLst>
              <a:gd name="adj" fmla="val 46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5" name="icon-bg-351"/>
          <p:cNvSpPr/>
          <p:nvPr/>
        </p:nvSpPr>
        <p:spPr>
          <a:xfrm>
            <a:off x="9710928" y="2057400"/>
            <a:ext cx="731520" cy="731520"/>
          </a:xfrm>
          <a:prstGeom prst="ellipse">
            <a:avLst/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6" name="icon-35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08" y="2240280"/>
            <a:ext cx="365760" cy="365760"/>
          </a:xfrm>
          <a:prstGeom prst="rect">
            <a:avLst/>
          </a:prstGeom>
        </p:spPr>
      </p:pic>
      <p:sp>
        <p:nvSpPr>
          <p:cNvPr id="7" name="text-353"/>
          <p:cNvSpPr txBox="1"/>
          <p:nvPr/>
        </p:nvSpPr>
        <p:spPr>
          <a:xfrm>
            <a:off x="8695944" y="2926080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2000" b="1" dirty="0">
                <a:solidFill>
                  <a:schemeClr val="accent1"/>
                </a:solidFill>
              </a:rPr>
              <a:t>حتى 1700 صم³</a:t>
            </a:r>
            <a:endParaRPr lang="ar-TN" sz="2000" dirty="0"/>
          </a:p>
        </p:txBody>
      </p:sp>
      <p:sp>
        <p:nvSpPr>
          <p:cNvPr id="8" name="text-354"/>
          <p:cNvSpPr txBox="1"/>
          <p:nvPr/>
        </p:nvSpPr>
        <p:spPr>
          <a:xfrm>
            <a:off x="8741664" y="3520440"/>
            <a:ext cx="2670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تخفيض 50% من معلوم الاستهلاك</a:t>
            </a:r>
            <a:endParaRPr lang="ar-TN" sz="1500" dirty="0"/>
          </a:p>
        </p:txBody>
      </p:sp>
      <p:sp>
        <p:nvSpPr>
          <p:cNvPr id="9" name="text-355"/>
          <p:cNvSpPr txBox="1"/>
          <p:nvPr/>
        </p:nvSpPr>
        <p:spPr>
          <a:xfrm>
            <a:off x="8741664" y="4206240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dirty="0">
                <a:solidFill>
                  <a:schemeClr val="accent5"/>
                </a:solidFill>
              </a:rPr>
              <a:t>مثال: طرازات SUV هجينة بمحرّك 1.5 أو 1.6 لتر</a:t>
            </a:r>
            <a:endParaRPr lang="ar-TN" sz="1300" dirty="0"/>
          </a:p>
        </p:txBody>
      </p:sp>
      <p:sp>
        <p:nvSpPr>
          <p:cNvPr id="10" name="card-356"/>
          <p:cNvSpPr/>
          <p:nvPr/>
        </p:nvSpPr>
        <p:spPr>
          <a:xfrm>
            <a:off x="5257800" y="1783080"/>
            <a:ext cx="3127248" cy="3291840"/>
          </a:xfrm>
          <a:prstGeom prst="roundRect">
            <a:avLst>
              <a:gd name="adj" fmla="val 4678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1" name="icon-bg-357"/>
          <p:cNvSpPr/>
          <p:nvPr/>
        </p:nvSpPr>
        <p:spPr>
          <a:xfrm>
            <a:off x="6455664" y="2057400"/>
            <a:ext cx="731520" cy="731520"/>
          </a:xfrm>
          <a:prstGeom prst="ellipse">
            <a:avLst/>
          </a:prstGeom>
          <a:solidFill>
            <a:schemeClr val="accent4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12" name="icon-35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544" y="2240280"/>
            <a:ext cx="365760" cy="365760"/>
          </a:xfrm>
          <a:prstGeom prst="rect">
            <a:avLst/>
          </a:prstGeom>
        </p:spPr>
      </p:pic>
      <p:sp>
        <p:nvSpPr>
          <p:cNvPr id="13" name="text-359"/>
          <p:cNvSpPr txBox="1"/>
          <p:nvPr/>
        </p:nvSpPr>
        <p:spPr>
          <a:xfrm>
            <a:off x="5440680" y="2926080"/>
            <a:ext cx="2761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2000" b="1" dirty="0">
                <a:solidFill>
                  <a:schemeClr val="accent4"/>
                </a:solidFill>
              </a:rPr>
              <a:t>أكثر من 1700 صم³</a:t>
            </a:r>
            <a:endParaRPr lang="ar-TN" sz="2000" dirty="0"/>
          </a:p>
        </p:txBody>
      </p:sp>
      <p:sp>
        <p:nvSpPr>
          <p:cNvPr id="14" name="text-360"/>
          <p:cNvSpPr txBox="1"/>
          <p:nvPr/>
        </p:nvSpPr>
        <p:spPr>
          <a:xfrm>
            <a:off x="5486400" y="3520440"/>
            <a:ext cx="267004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500" b="1" dirty="0">
                <a:solidFill>
                  <a:schemeClr val="tx1"/>
                </a:solidFill>
              </a:rPr>
              <a:t>لا تخفيض: معلوم استهلاك كامل</a:t>
            </a:r>
            <a:endParaRPr lang="ar-TN" sz="1500" dirty="0"/>
          </a:p>
        </p:txBody>
      </p:sp>
      <p:sp>
        <p:nvSpPr>
          <p:cNvPr id="15" name="text-361"/>
          <p:cNvSpPr txBox="1"/>
          <p:nvPr/>
        </p:nvSpPr>
        <p:spPr>
          <a:xfrm>
            <a:off x="5486400" y="4206240"/>
            <a:ext cx="2670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dirty="0">
                <a:solidFill>
                  <a:schemeClr val="accent5"/>
                </a:solidFill>
              </a:rPr>
              <a:t>مثال: Toyota RAV4 Hybride بمحرّك 2.5 لتر</a:t>
            </a:r>
            <a:endParaRPr lang="ar-TN" sz="1300" dirty="0"/>
          </a:p>
        </p:txBody>
      </p:sp>
      <p:sp>
        <p:nvSpPr>
          <p:cNvPr id="16" name="card-362"/>
          <p:cNvSpPr/>
          <p:nvPr/>
        </p:nvSpPr>
        <p:spPr>
          <a:xfrm>
            <a:off x="5257800" y="5257800"/>
            <a:ext cx="6382512" cy="822960"/>
          </a:xfrm>
          <a:prstGeom prst="roundRect">
            <a:avLst>
              <a:gd name="adj" fmla="val 17778"/>
            </a:avLst>
          </a:prstGeom>
          <a:solidFill>
            <a:schemeClr val="bg2"/>
          </a:solidFill>
          <a:ln w="12700">
            <a:solidFill>
              <a:srgbClr val="7FC8BE"/>
            </a:solidFill>
            <a:prstDash val="solid"/>
          </a:ln>
        </p:spPr>
      </p:sp>
      <p:sp>
        <p:nvSpPr>
          <p:cNvPr id="17" name="text-363"/>
          <p:cNvSpPr txBox="1"/>
          <p:nvPr/>
        </p:nvSpPr>
        <p:spPr>
          <a:xfrm>
            <a:off x="5486400" y="5257800"/>
            <a:ext cx="59253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350" b="1" dirty="0">
                <a:solidFill>
                  <a:schemeClr val="tx1"/>
                </a:solidFill>
              </a:rPr>
              <a:t>الخلاصة: قبل أيّ استنتاج جبائي، يُتثبَّت من صنف المحرّك وسعة الأسطوانة الواردة بشهادة المطابقة.</a:t>
            </a:r>
            <a:endParaRPr lang="ar-TN" sz="1350" dirty="0"/>
          </a:p>
        </p:txBody>
      </p:sp>
      <p:pic>
        <p:nvPicPr>
          <p:cNvPr id="18" name="3d-car_hev-364" descr="car_hev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86185"/>
            <a:ext cx="4206240" cy="28745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أيّ صنف لأيّ استعمال؟</a:t>
            </a:r>
            <a:endParaRPr lang="ar-TN" sz="3000" dirty="0"/>
          </a:p>
        </p:txBody>
      </p:sp>
      <p:sp>
        <p:nvSpPr>
          <p:cNvPr id="3" name="card-365"/>
          <p:cNvSpPr/>
          <p:nvPr/>
        </p:nvSpPr>
        <p:spPr>
          <a:xfrm>
            <a:off x="9037015" y="146304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pic>
        <p:nvPicPr>
          <p:cNvPr id="4" name="3d-car_mhev-366" descr="car_mhev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0495" y="1691640"/>
            <a:ext cx="2139080" cy="1463040"/>
          </a:xfrm>
          <a:prstGeom prst="rect">
            <a:avLst/>
          </a:prstGeom>
        </p:spPr>
      </p:pic>
      <p:sp>
        <p:nvSpPr>
          <p:cNvPr id="5" name="pill-367"/>
          <p:cNvSpPr/>
          <p:nvPr/>
        </p:nvSpPr>
        <p:spPr>
          <a:xfrm>
            <a:off x="9654235" y="3291840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6" name="text-368"/>
          <p:cNvSpPr txBox="1"/>
          <p:nvPr/>
        </p:nvSpPr>
        <p:spPr>
          <a:xfrm>
            <a:off x="9763963" y="32918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500" b="1" dirty="0">
                <a:solidFill>
                  <a:schemeClr val="bg1"/>
                </a:solidFill>
              </a:rPr>
              <a:t>MHEV</a:t>
            </a:r>
            <a:endParaRPr lang="ar-TN" sz="1500" dirty="0"/>
          </a:p>
        </p:txBody>
      </p:sp>
      <p:sp>
        <p:nvSpPr>
          <p:cNvPr id="7" name="text-369"/>
          <p:cNvSpPr txBox="1"/>
          <p:nvPr/>
        </p:nvSpPr>
        <p:spPr>
          <a:xfrm>
            <a:off x="9219895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550" b="1" dirty="0">
                <a:solidFill>
                  <a:schemeClr val="accent1"/>
                </a:solidFill>
              </a:rPr>
              <a:t>ميزانية محدودة</a:t>
            </a:r>
            <a:endParaRPr lang="ar-TN" sz="1550" dirty="0"/>
          </a:p>
        </p:txBody>
      </p:sp>
      <p:sp>
        <p:nvSpPr>
          <p:cNvPr id="8" name="text-370"/>
          <p:cNvSpPr txBox="1"/>
          <p:nvPr/>
        </p:nvSpPr>
        <p:spPr>
          <a:xfrm>
            <a:off x="9265615" y="443484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تنقّلات مختلطة، دون إمكانية شحن، وبحث عن سعر قريب من الحراري.</a:t>
            </a:r>
            <a:endParaRPr lang="ar-TN" sz="1300" dirty="0"/>
          </a:p>
        </p:txBody>
      </p:sp>
      <p:sp>
        <p:nvSpPr>
          <p:cNvPr id="9" name="card-371"/>
          <p:cNvSpPr/>
          <p:nvPr/>
        </p:nvSpPr>
        <p:spPr>
          <a:xfrm>
            <a:off x="6208776" y="146304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pic>
        <p:nvPicPr>
          <p:cNvPr id="10" name="3d-car_hev-372" descr="car_hev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380" y="1691640"/>
            <a:ext cx="2140833" cy="1463040"/>
          </a:xfrm>
          <a:prstGeom prst="rect">
            <a:avLst/>
          </a:prstGeom>
        </p:spPr>
      </p:pic>
      <p:sp>
        <p:nvSpPr>
          <p:cNvPr id="11" name="pill-373"/>
          <p:cNvSpPr/>
          <p:nvPr/>
        </p:nvSpPr>
        <p:spPr>
          <a:xfrm>
            <a:off x="6825996" y="3291840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12" name="text-374"/>
          <p:cNvSpPr txBox="1"/>
          <p:nvPr/>
        </p:nvSpPr>
        <p:spPr>
          <a:xfrm>
            <a:off x="6935724" y="32918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500" b="1" dirty="0">
                <a:solidFill>
                  <a:schemeClr val="bg1"/>
                </a:solidFill>
              </a:rPr>
              <a:t>HEV</a:t>
            </a:r>
            <a:endParaRPr lang="ar-TN" sz="1500" dirty="0"/>
          </a:p>
        </p:txBody>
      </p:sp>
      <p:sp>
        <p:nvSpPr>
          <p:cNvPr id="13" name="text-375"/>
          <p:cNvSpPr txBox="1"/>
          <p:nvPr/>
        </p:nvSpPr>
        <p:spPr>
          <a:xfrm>
            <a:off x="6391656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550" b="1" dirty="0">
                <a:solidFill>
                  <a:schemeClr val="accent1"/>
                </a:solidFill>
              </a:rPr>
              <a:t>كثرة التنقّل في المدينة</a:t>
            </a:r>
            <a:endParaRPr lang="ar-TN" sz="1550" dirty="0"/>
          </a:p>
        </p:txBody>
      </p:sp>
      <p:sp>
        <p:nvSpPr>
          <p:cNvPr id="14" name="text-376"/>
          <p:cNvSpPr txBox="1"/>
          <p:nvPr/>
        </p:nvSpPr>
        <p:spPr>
          <a:xfrm>
            <a:off x="6437376" y="443484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أكبر توفير دون شحن؛ مع اختيار محرّك لا يتجاوز 1700 صم³ للانتفاع بالتخفيض.</a:t>
            </a:r>
            <a:endParaRPr lang="ar-TN" sz="1300" dirty="0"/>
          </a:p>
        </p:txBody>
      </p:sp>
      <p:sp>
        <p:nvSpPr>
          <p:cNvPr id="15" name="card-377"/>
          <p:cNvSpPr/>
          <p:nvPr/>
        </p:nvSpPr>
        <p:spPr>
          <a:xfrm>
            <a:off x="3380537" y="146304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pic>
        <p:nvPicPr>
          <p:cNvPr id="16" name="3d-car_phev-378" descr="car_phev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3417" y="1883732"/>
            <a:ext cx="2240280" cy="1270948"/>
          </a:xfrm>
          <a:prstGeom prst="rect">
            <a:avLst/>
          </a:prstGeom>
        </p:spPr>
      </p:pic>
      <p:sp>
        <p:nvSpPr>
          <p:cNvPr id="17" name="pill-379"/>
          <p:cNvSpPr/>
          <p:nvPr/>
        </p:nvSpPr>
        <p:spPr>
          <a:xfrm>
            <a:off x="3997757" y="3291840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18" name="text-380"/>
          <p:cNvSpPr txBox="1"/>
          <p:nvPr/>
        </p:nvSpPr>
        <p:spPr>
          <a:xfrm>
            <a:off x="4107485" y="32918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500" b="1" dirty="0">
                <a:solidFill>
                  <a:schemeClr val="bg1"/>
                </a:solidFill>
              </a:rPr>
              <a:t>PHEV</a:t>
            </a:r>
            <a:endParaRPr lang="ar-TN" sz="1500" dirty="0"/>
          </a:p>
        </p:txBody>
      </p:sp>
      <p:sp>
        <p:nvSpPr>
          <p:cNvPr id="19" name="text-381"/>
          <p:cNvSpPr txBox="1"/>
          <p:nvPr/>
        </p:nvSpPr>
        <p:spPr>
          <a:xfrm>
            <a:off x="3563417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550" b="1" dirty="0">
                <a:solidFill>
                  <a:schemeClr val="accent1"/>
                </a:solidFill>
              </a:rPr>
              <a:t>شحن في المنزل أو العمل</a:t>
            </a:r>
            <a:endParaRPr lang="ar-TN" sz="1550" dirty="0"/>
          </a:p>
        </p:txBody>
      </p:sp>
      <p:sp>
        <p:nvSpPr>
          <p:cNvPr id="20" name="text-382"/>
          <p:cNvSpPr txBox="1"/>
          <p:nvPr/>
        </p:nvSpPr>
        <p:spPr>
          <a:xfrm>
            <a:off x="3609137" y="443484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تنقّلات يومية قصيرة كهربائيًا، وسفرات طويلة بالمحرّك الحراري؛ أقصى امتياز جبائي.</a:t>
            </a:r>
            <a:endParaRPr lang="ar-TN" sz="1300" dirty="0"/>
          </a:p>
        </p:txBody>
      </p:sp>
      <p:sp>
        <p:nvSpPr>
          <p:cNvPr id="21" name="card-383"/>
          <p:cNvSpPr/>
          <p:nvPr/>
        </p:nvSpPr>
        <p:spPr>
          <a:xfrm>
            <a:off x="552298" y="1463040"/>
            <a:ext cx="2606040" cy="461772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pic>
        <p:nvPicPr>
          <p:cNvPr id="22" name="3d-car_ev-384" descr="car_ev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21" y="1691640"/>
            <a:ext cx="2052594" cy="1463040"/>
          </a:xfrm>
          <a:prstGeom prst="rect">
            <a:avLst/>
          </a:prstGeom>
        </p:spPr>
      </p:pic>
      <p:sp>
        <p:nvSpPr>
          <p:cNvPr id="23" name="pill-385"/>
          <p:cNvSpPr/>
          <p:nvPr/>
        </p:nvSpPr>
        <p:spPr>
          <a:xfrm>
            <a:off x="1169518" y="3291840"/>
            <a:ext cx="137160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sp>
        <p:nvSpPr>
          <p:cNvPr id="24" name="text-386"/>
          <p:cNvSpPr txBox="1"/>
          <p:nvPr/>
        </p:nvSpPr>
        <p:spPr>
          <a:xfrm>
            <a:off x="1279246" y="32918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1500" b="1" dirty="0">
                <a:solidFill>
                  <a:schemeClr val="bg1"/>
                </a:solidFill>
              </a:rPr>
              <a:t>EV</a:t>
            </a:r>
            <a:endParaRPr lang="ar-TN" sz="1500" dirty="0"/>
          </a:p>
        </p:txBody>
      </p:sp>
      <p:sp>
        <p:nvSpPr>
          <p:cNvPr id="25" name="text-387"/>
          <p:cNvSpPr txBox="1"/>
          <p:nvPr/>
        </p:nvSpPr>
        <p:spPr>
          <a:xfrm>
            <a:off x="735178" y="3886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550" b="1" dirty="0">
                <a:solidFill>
                  <a:schemeClr val="accent1"/>
                </a:solidFill>
              </a:rPr>
              <a:t>شحن منتظم ومسافات معروفة</a:t>
            </a:r>
            <a:endParaRPr lang="ar-TN" sz="1550" dirty="0"/>
          </a:p>
        </p:txBody>
      </p:sp>
      <p:sp>
        <p:nvSpPr>
          <p:cNvPr id="26" name="text-388"/>
          <p:cNvSpPr txBox="1"/>
          <p:nvPr/>
        </p:nvSpPr>
        <p:spPr>
          <a:xfrm>
            <a:off x="780898" y="4434840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300" dirty="0">
                <a:solidFill>
                  <a:schemeClr val="tx1"/>
                </a:solidFill>
              </a:rPr>
              <a:t>أدنى كلفة استعمال وامتيازات كاملة، مع منح للمهنيين.</a:t>
            </a:r>
            <a:endParaRPr lang="ar-TN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أرقام مرجعية للتذكّر</a:t>
            </a:r>
            <a:endParaRPr lang="ar-TN" sz="3000" dirty="0"/>
          </a:p>
        </p:txBody>
      </p:sp>
      <p:sp>
        <p:nvSpPr>
          <p:cNvPr id="3" name="card-389"/>
          <p:cNvSpPr/>
          <p:nvPr/>
        </p:nvSpPr>
        <p:spPr>
          <a:xfrm>
            <a:off x="9628632" y="1463040"/>
            <a:ext cx="2011680" cy="210312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4" name="text-390"/>
          <p:cNvSpPr txBox="1"/>
          <p:nvPr/>
        </p:nvSpPr>
        <p:spPr>
          <a:xfrm>
            <a:off x="9811512" y="162763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3000" b="1" dirty="0">
                <a:solidFill>
                  <a:schemeClr val="accent2"/>
                </a:solidFill>
              </a:rPr>
              <a:t>0%</a:t>
            </a:r>
            <a:endParaRPr lang="ar-TN" sz="3000" dirty="0"/>
          </a:p>
        </p:txBody>
      </p:sp>
      <p:sp>
        <p:nvSpPr>
          <p:cNvPr id="5" name="text-391"/>
          <p:cNvSpPr txBox="1"/>
          <p:nvPr/>
        </p:nvSpPr>
        <p:spPr>
          <a:xfrm>
            <a:off x="9811512" y="24231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معاليم ديوانية ومعلوم استهلاك على PHEV وEV</a:t>
            </a:r>
            <a:endParaRPr lang="ar-TN" sz="1250" dirty="0"/>
          </a:p>
        </p:txBody>
      </p:sp>
      <p:sp>
        <p:nvSpPr>
          <p:cNvPr id="6" name="card-392"/>
          <p:cNvSpPr/>
          <p:nvPr/>
        </p:nvSpPr>
        <p:spPr>
          <a:xfrm>
            <a:off x="7443216" y="1463040"/>
            <a:ext cx="2011680" cy="210312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7" name="text-393"/>
          <p:cNvSpPr txBox="1"/>
          <p:nvPr/>
        </p:nvSpPr>
        <p:spPr>
          <a:xfrm>
            <a:off x="7626096" y="162763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3000" b="1" dirty="0">
                <a:solidFill>
                  <a:schemeClr val="accent1"/>
                </a:solidFill>
              </a:rPr>
              <a:t>7%</a:t>
            </a:r>
            <a:endParaRPr lang="ar-TN" sz="3000" dirty="0"/>
          </a:p>
        </p:txBody>
      </p:sp>
      <p:sp>
        <p:nvSpPr>
          <p:cNvPr id="8" name="text-394"/>
          <p:cNvSpPr txBox="1"/>
          <p:nvPr/>
        </p:nvSpPr>
        <p:spPr>
          <a:xfrm>
            <a:off x="7626096" y="24231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TVA على PHEV وEV بدل 19%</a:t>
            </a:r>
            <a:endParaRPr lang="ar-TN" sz="1250" dirty="0"/>
          </a:p>
        </p:txBody>
      </p:sp>
      <p:sp>
        <p:nvSpPr>
          <p:cNvPr id="9" name="card-395"/>
          <p:cNvSpPr/>
          <p:nvPr/>
        </p:nvSpPr>
        <p:spPr>
          <a:xfrm>
            <a:off x="5257800" y="1463040"/>
            <a:ext cx="2011680" cy="210312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0" name="text-396"/>
          <p:cNvSpPr txBox="1"/>
          <p:nvPr/>
        </p:nvSpPr>
        <p:spPr>
          <a:xfrm>
            <a:off x="5440680" y="162763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3000" b="1" dirty="0">
                <a:solidFill>
                  <a:schemeClr val="accent4"/>
                </a:solidFill>
              </a:rPr>
              <a:t>−50%</a:t>
            </a:r>
            <a:endParaRPr lang="ar-TN" sz="3000" dirty="0"/>
          </a:p>
        </p:txBody>
      </p:sp>
      <p:sp>
        <p:nvSpPr>
          <p:cNvPr id="11" name="text-397"/>
          <p:cNvSpPr txBox="1"/>
          <p:nvPr/>
        </p:nvSpPr>
        <p:spPr>
          <a:xfrm>
            <a:off x="5440680" y="24231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بطاقة رمادية وفينيات للعربات المعنية</a:t>
            </a:r>
            <a:endParaRPr lang="ar-TN" sz="1250" dirty="0"/>
          </a:p>
        </p:txBody>
      </p:sp>
      <p:sp>
        <p:nvSpPr>
          <p:cNvPr id="12" name="card-398"/>
          <p:cNvSpPr/>
          <p:nvPr/>
        </p:nvSpPr>
        <p:spPr>
          <a:xfrm>
            <a:off x="9628632" y="3749040"/>
            <a:ext cx="2011680" cy="210312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3" name="text-399"/>
          <p:cNvSpPr txBox="1"/>
          <p:nvPr/>
        </p:nvSpPr>
        <p:spPr>
          <a:xfrm>
            <a:off x="9811512" y="391363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3000" b="1" dirty="0">
                <a:solidFill>
                  <a:schemeClr val="accent2"/>
                </a:solidFill>
              </a:rPr>
              <a:t>−50%</a:t>
            </a:r>
            <a:endParaRPr lang="ar-TN" sz="3000" dirty="0"/>
          </a:p>
        </p:txBody>
      </p:sp>
      <p:sp>
        <p:nvSpPr>
          <p:cNvPr id="14" name="text-400"/>
          <p:cNvSpPr txBox="1"/>
          <p:nvPr/>
        </p:nvSpPr>
        <p:spPr>
          <a:xfrm>
            <a:off x="9811512" y="47091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معلوم استهلاك HEV حتى 1700 صم³</a:t>
            </a:r>
            <a:endParaRPr lang="ar-TN" sz="1250" dirty="0"/>
          </a:p>
        </p:txBody>
      </p:sp>
      <p:sp>
        <p:nvSpPr>
          <p:cNvPr id="15" name="card-401"/>
          <p:cNvSpPr/>
          <p:nvPr/>
        </p:nvSpPr>
        <p:spPr>
          <a:xfrm>
            <a:off x="7443216" y="3749040"/>
            <a:ext cx="2011680" cy="210312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6" name="text-402"/>
          <p:cNvSpPr txBox="1"/>
          <p:nvPr/>
        </p:nvSpPr>
        <p:spPr>
          <a:xfrm>
            <a:off x="7626096" y="391363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3000" b="1" dirty="0">
                <a:solidFill>
                  <a:schemeClr val="accent1"/>
                </a:solidFill>
              </a:rPr>
              <a:t>10,000 د</a:t>
            </a:r>
            <a:endParaRPr lang="ar-TN" sz="3000" dirty="0"/>
          </a:p>
        </p:txBody>
      </p:sp>
      <p:sp>
        <p:nvSpPr>
          <p:cNvPr id="17" name="text-403"/>
          <p:cNvSpPr txBox="1"/>
          <p:nvPr/>
        </p:nvSpPr>
        <p:spPr>
          <a:xfrm>
            <a:off x="7626096" y="47091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منحة صندوق الانتقال الطاقي لكل EV</a:t>
            </a:r>
            <a:endParaRPr lang="ar-TN" sz="1250" dirty="0"/>
          </a:p>
        </p:txBody>
      </p:sp>
      <p:sp>
        <p:nvSpPr>
          <p:cNvPr id="18" name="card-404"/>
          <p:cNvSpPr/>
          <p:nvPr/>
        </p:nvSpPr>
        <p:spPr>
          <a:xfrm>
            <a:off x="5257800" y="3749040"/>
            <a:ext cx="2011680" cy="210312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19" name="text-405"/>
          <p:cNvSpPr txBox="1"/>
          <p:nvPr/>
        </p:nvSpPr>
        <p:spPr>
          <a:xfrm>
            <a:off x="5440680" y="3913632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TN" altLang="en-US" sz="3000" b="1" dirty="0">
                <a:solidFill>
                  <a:schemeClr val="accent4"/>
                </a:solidFill>
              </a:rPr>
              <a:t>2028</a:t>
            </a:r>
            <a:endParaRPr lang="ar-TN" sz="3000" dirty="0"/>
          </a:p>
        </p:txBody>
      </p:sp>
      <p:sp>
        <p:nvSpPr>
          <p:cNvPr id="20" name="text-406"/>
          <p:cNvSpPr txBox="1"/>
          <p:nvPr/>
        </p:nvSpPr>
        <p:spPr>
          <a:xfrm>
            <a:off x="5440680" y="4709160"/>
            <a:ext cx="1645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TN" altLang="en-US" sz="1250" dirty="0">
                <a:solidFill>
                  <a:schemeClr val="tx1"/>
                </a:solidFill>
              </a:rPr>
              <a:t>نهاية سريان الامتيازات (31 ديسمبر)</a:t>
            </a:r>
            <a:endParaRPr lang="ar-TN" sz="1250" dirty="0"/>
          </a:p>
        </p:txBody>
      </p:sp>
      <p:pic>
        <p:nvPicPr>
          <p:cNvPr id="21" name="3d-car_title-407" descr="car_tit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551934"/>
            <a:ext cx="4389120" cy="311734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3000" b="1" dirty="0">
                <a:solidFill>
                  <a:schemeClr val="tx1"/>
                </a:solidFill>
              </a:rPr>
              <a:t>المصادر وحدود العرض</a:t>
            </a:r>
            <a:endParaRPr lang="ar-TN" sz="3000" dirty="0"/>
          </a:p>
        </p:txBody>
      </p:sp>
      <p:sp>
        <p:nvSpPr>
          <p:cNvPr id="3" name="card-408"/>
          <p:cNvSpPr/>
          <p:nvPr/>
        </p:nvSpPr>
        <p:spPr>
          <a:xfrm>
            <a:off x="548640" y="1463040"/>
            <a:ext cx="11094415" cy="2606040"/>
          </a:xfrm>
          <a:prstGeom prst="roundRect">
            <a:avLst>
              <a:gd name="adj" fmla="val 5614"/>
            </a:avLst>
          </a:prstGeom>
          <a:solidFill>
            <a:schemeClr val="bg1"/>
          </a:solidFill>
          <a:ln/>
          <a:effectLst>
            <a:outerShdw sx="100000" sy="100000" kx="0" ky="0" algn="bl" rotWithShape="0" blurRad="203200" dist="63500" dir="5400000">
              <a:srgbClr val="0F3D3E">
                <a:alpha val="13000"/>
              </a:srgbClr>
            </a:outerShdw>
          </a:effectLst>
        </p:spPr>
      </p:sp>
      <p:sp>
        <p:nvSpPr>
          <p:cNvPr id="4" name="text-409"/>
          <p:cNvSpPr txBox="1"/>
          <p:nvPr/>
        </p:nvSpPr>
        <p:spPr>
          <a:xfrm>
            <a:off x="822960" y="1645920"/>
            <a:ext cx="10545775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ar-TN" altLang="en-US" sz="1400" dirty="0">
                <a:solidFill>
                  <a:schemeClr val="tx1"/>
                </a:solidFill>
              </a:rPr>
              <a:t>La Presse de Tunisie — «Véhicules électriques et hybrides : l’ANME détaille les incitations fiscales et financières» (فيفري 2026).</a:t>
            </a:r>
            <a:endParaRPr lang="ar-TN" sz="14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ar-TN" altLang="en-US" sz="1400" dirty="0">
                <a:solidFill>
                  <a:schemeClr val="tx1"/>
                </a:solidFill>
              </a:rPr>
              <a:t>ilboursa — «Article 47 de la LF 2026, un dispositif qui écarte un seul modèle… et un seul concessionnaire».</a:t>
            </a:r>
            <a:endParaRPr lang="ar-TN" sz="14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ar-TN" altLang="en-US" sz="1400" dirty="0">
                <a:solidFill>
                  <a:schemeClr val="tx1"/>
                </a:solidFill>
              </a:rPr>
              <a:t>automobile.tn — دليل السيارات الهجينة HEV وPHEV في تونس، وأسعار الطرازات (2026).</a:t>
            </a:r>
            <a:endParaRPr lang="ar-TN" sz="14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ar-TN" altLang="en-US" sz="1400" dirty="0">
                <a:solidFill>
                  <a:schemeClr val="tx1"/>
                </a:solidFill>
              </a:rPr>
              <a:t>automobile.tn — «L’ARP vote : feu vert pour les hybrides rechargeables (PHEV)» (نوفمبر 2025).</a:t>
            </a:r>
            <a:endParaRPr lang="ar-TN" sz="14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ar-TN" altLang="en-US" sz="1400" dirty="0">
                <a:solidFill>
                  <a:schemeClr val="tx1"/>
                </a:solidFill>
              </a:rPr>
              <a:t>La Presse / automobile.tn — شروط برنامج «سيارة لكل عائلة» (نوفمبر 2025، ماي 2026).</a:t>
            </a:r>
            <a:endParaRPr lang="ar-TN" sz="1400" dirty="0"/>
          </a:p>
          <a:p>
            <a:pPr rtl="1" algn="r" marL="177800" indent="-177800">
              <a:spcAft>
                <a:spcPts val="600"/>
              </a:spcAft>
              <a:buSzPct val="100000"/>
              <a:buChar char="•"/>
            </a:pPr>
            <a:r>
              <a:rPr lang="ar-TN" altLang="en-US" sz="1400" dirty="0">
                <a:solidFill>
                  <a:schemeClr val="tx1"/>
                </a:solidFill>
              </a:rPr>
              <a:t>africanmanager / tuniscope — امتياز FCR والسيارات الهجينة والكهربائية (الأمر 370 لسنة 2024).</a:t>
            </a:r>
            <a:endParaRPr lang="ar-TN" sz="1400" dirty="0"/>
          </a:p>
        </p:txBody>
      </p:sp>
      <p:sp>
        <p:nvSpPr>
          <p:cNvPr id="5" name="card-410"/>
          <p:cNvSpPr/>
          <p:nvPr/>
        </p:nvSpPr>
        <p:spPr>
          <a:xfrm>
            <a:off x="548640" y="4343400"/>
            <a:ext cx="11094415" cy="1188720"/>
          </a:xfrm>
          <a:prstGeom prst="roundRect">
            <a:avLst>
              <a:gd name="adj" fmla="val 12308"/>
            </a:avLst>
          </a:prstGeom>
          <a:solidFill>
            <a:schemeClr val="bg2"/>
          </a:solidFill>
          <a:ln w="12700">
            <a:solidFill>
              <a:srgbClr val="B8862B"/>
            </a:solidFill>
            <a:prstDash val="solid"/>
          </a:ln>
        </p:spPr>
      </p:sp>
      <p:sp>
        <p:nvSpPr>
          <p:cNvPr id="6" name="icon-bg-411"/>
          <p:cNvSpPr/>
          <p:nvPr/>
        </p:nvSpPr>
        <p:spPr>
          <a:xfrm>
            <a:off x="10865815" y="4572000"/>
            <a:ext cx="548640" cy="548640"/>
          </a:xfrm>
          <a:prstGeom prst="ellipse">
            <a:avLst/>
          </a:prstGeom>
          <a:solidFill>
            <a:schemeClr val="accent2"/>
          </a:solidFill>
          <a:ln/>
          <a:effectLst>
            <a:outerShdw sx="100000" sy="100000" kx="0" ky="0" algn="bl" rotWithShape="0" blurRad="127000" dist="38100" dir="5400000">
              <a:srgbClr val="0F3D3E">
                <a:alpha val="10000"/>
              </a:srgbClr>
            </a:outerShdw>
          </a:effectLst>
        </p:spPr>
      </p:sp>
      <p:pic>
        <p:nvPicPr>
          <p:cNvPr id="7" name="icon-41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2975" y="4709160"/>
            <a:ext cx="274320" cy="274320"/>
          </a:xfrm>
          <a:prstGeom prst="rect">
            <a:avLst/>
          </a:prstGeom>
        </p:spPr>
      </p:pic>
      <p:sp>
        <p:nvSpPr>
          <p:cNvPr id="8" name="text-413"/>
          <p:cNvSpPr txBox="1"/>
          <p:nvPr/>
        </p:nvSpPr>
        <p:spPr>
          <a:xfrm>
            <a:off x="822960" y="4343400"/>
            <a:ext cx="98142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TN" altLang="en-US" sz="1400" dirty="0">
                <a:solidFill>
                  <a:schemeClr val="tx1"/>
                </a:solidFill>
              </a:rPr>
              <a:t>العرض مبنيّ على مصادر صحفية ومتخصّصة. أرقام الفصول والنسب الدقيقة تُراجَع في نصّ قانون المالية المنشور بالرائد الرسمي، والأسعار تتغيّر حسب الوكلاء.</a:t>
            </a:r>
            <a:endParaRPr lang="ar-TN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54864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CT Change">
  <a:themeElements>
    <a:clrScheme name="BCT Change">
      <a:dk1>
        <a:srgbClr val="0F3D3E"/>
      </a:dk1>
      <a:lt1>
        <a:srgbClr val="FFFFFF"/>
      </a:lt1>
      <a:dk2>
        <a:srgbClr val="1F6F6B"/>
      </a:dk2>
      <a:lt2>
        <a:srgbClr val="EEF6F4"/>
      </a:lt2>
      <a:accent1>
        <a:srgbClr val="1F6F6B"/>
      </a:accent1>
      <a:accent2>
        <a:srgbClr val="B8862B"/>
      </a:accent2>
      <a:accent3>
        <a:srgbClr val="7FC8BE"/>
      </a:accent3>
      <a:accent4>
        <a:srgbClr val="C0392B"/>
      </a:accent4>
      <a:accent5>
        <a:srgbClr val="5B7F7E"/>
      </a:accent5>
      <a:accent6>
        <a:srgbClr val="E9D39A"/>
      </a:accent6>
      <a:hlink>
        <a:srgbClr val="1F6F6B"/>
      </a:hlink>
      <a:folHlink>
        <a:srgbClr val="5B7F7E"/>
      </a:folHlink>
    </a:clrScheme>
    <a:fontScheme name="BCT Change">
      <a:majorFont>
        <a:latin typeface="Arial"/>
        <a:ea typeface="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الامتيازات الجبائية على السيارات في تونس</dc:title>
  <dc:subject>السيارات الهجينة والكهربائية</dc:subject>
  <dc:creator>PptxGenJS</dc:creator>
  <cp:lastModifiedBy>PptxGenJS</cp:lastModifiedBy>
  <cp:revision>1</cp:revision>
  <dcterms:created xsi:type="dcterms:W3CDTF">2026-10-03T20:30:59Z</dcterms:created>
  <dcterms:modified xsi:type="dcterms:W3CDTF">2026-10-03T20:30:59Z</dcterms:modified>
</cp:coreProperties>
</file>