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e2277faa-bc03-4b97-762e-32a91e645c6d}">
          <p14:sldIdLst>
            <p14:sldId id="256"/>
            <p14:sldId id="257"/>
            <p14:sldId id="258"/>
          </p14:sldIdLst>
        </p14:section>
        <p14:section name="I · المفاهيم الأساسية" id="{9998f9de-ae59-3e2d-5857-3834163ceb71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II · التوريد والتصدير" id="{a9da3d50-38c8-6fac-ef7f-0d09f267e50e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III · أمثلة عملية" id="{7dcbcb03-4e89-26bc-c8f0-1427c4bde787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الخاتمة" id="{adc1e42f-beb8-0144-8674-649666caa829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السقف السنوي (د.ت)</c:v>
                </c:pt>
              </c:strCache>
            </c:strRef>
          </c:tx>
          <c:spPr>
            <a:solidFill>
              <a:srgbClr val="1F6F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F3D3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F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C8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86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D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تونسيون مقيمون (10 سنوات فما فوق)</c:v>
                  </c:pt>
                  <c:pt idx="1">
                    <c:v>أطفال (أقل من 10 سنوات)</c:v>
                  </c:pt>
                  <c:pt idx="2">
                    <c:v>أجانب مقيمون (اقتصاديات الأجور)</c:v>
                  </c:pt>
                  <c:pt idx="3">
                    <c:v>أطفال الأجانب المقيمين (دون 10 سنوات)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</c:v>
                </c:pt>
                <c:pt idx="1">
                  <c:v>3000</c:v>
                </c:pt>
                <c:pt idx="2">
                  <c:v>3000</c:v>
                </c:pt>
                <c:pt idx="3">
                  <c:v>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F3D3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3D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مبسّط لأهم أحكام تراتيب الصرف المتعلقة بالعمليات النقدية بالعملة الأجنبية، وفق دليل البنك المركزي التونسي (تحديث مارس 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الهدف: تبسيط التراتيب لضمان الالتزام بقوانين الصرف، مع التركيز على ضوابط التوريد والتصدير واستخدام المنح السياحية والمهنية.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ثلاثة محاور: المفاهيم الأساسية والإقامة، ثم توريد وتصدير العملة، ثم أمثلة عملية للمنح والحسابات.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ثلاثة التزامات أساسية: الإيداع لدى وسيط مقبول، التصريح بالأصول في الخارج، وإرجاع العائدات. أجل إرجاع عائدات تصدير السلع: 10 أيام من تاريخ الاستحقاق التعاقدي.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المحظورات: تداول الدينار عبر الحدود، الالتزام بين مقيمين بعملة أجنبية، والمقاصة دون ترخيص. الالتزامات: الخلاص داخل تونس، المرور عبر الوسطاء المقبولين، والتفويت في العملة المُرجعة.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ستّ فئات تُعتبر مقيمة آليًا، أبرزها التونسيون بتونس، والقاطنون بالخارج أقل من سنتين، والطلبة بالخارج.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معيار السنتين حاسم في تحديد صفة الإقامة، مع استثناء الدبلوماسيين وموظفي المنظمات الدولية.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التونسي غير المقيم يمكنه التمتع بامتيازات المقيم في عمليات محددة، ويحتفظ بها بعد العودة النهائية للأصول المكوّنة قبل تغيير الإقامة.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الشركة الموجودة بتونس مقيمة مبدئيًا. استثناء: يمكنها اختيار صفة غير مقيم بثلاثة شروط تراكمية، أبرزها 66% من رأس المال لغير المقيمين.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حرية التوريد مكرّسة، ولا حاجة لتبرير المصدر إذا تبع التوريدَ تفويتٌ مقابل الدينار.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أي حركة نقدية بالعملة تساوي أو تفوق 20 ألف دينار تستوجب تصريحًا ديوانيًا، مع تحقق الوسطاء من الهوية.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كلما ارتفع المبلغ ازدادت الإثباتات: دون مبررات تحت 5 آلاف دينار، وتصريح ديواني من 20 ألف دينار (وعمليًا من 5 آلاف لدى البنوك).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الباقي بالدينار يُعاد تحويله بعملة أجنبية بوثائق تختلف حسب المبلغ: من 5 آلاف دينار يُشترط التصريح الديواني بالتوريد.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التصريح الديواني شخصي، لسفرة واحدة، صالح 90 يومًا كأقصى حد، وضروري لتغذية الحسابات وتبرير الإرجاع النقدي.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رخصة تصدير العملة صالحة 60 يومًا لسفرة واحدة، وتُحرّر في ثلاث نسخ: للحريف وللوسيط وللديوانة.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فئات منتفعة بالمنحة السياحية، ويُسجّل تسليمها على جواز السفر.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السقف: 6000 د للبالغين المقيمين، 3000 د للأطفال دون 10 سنوات، 3000 د للأجانب المقيمين (1500 لأطفالهم). لا ترحيل للرصيد.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بعد السفر: 7 أيام عمل لإرجاع الباقي. عند الإلغاء: 15 يوم عمل بعد انتهاء صلوحية رخصة الخروج.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ثلاثة أصناف من منح أسفار الأعمال بنسب 25% و8% و15%، مع سقف نقدي قدره 30 ألف دينار لكل سفرة.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تحويل مدخرات الأجور مشروط بأربع وثائق، ويتم عبر حوالة أو شيك أو نقدًا ضمن ملف اقتصاديات على الأجور.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الحساب المهني لحماية المصدّرين من مخاطر الصرف، والحساب الأجنبي لغير المقيمين بسقف سحب نقدي 30 ألف دينار لكل سفرة.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خلاصة: أهم العتبات والآجال الواجب حفظها في التعامل اليومي مع عمليات الصرف النقدية. المصدر: البنك المركزي التونسي، دليل تراتيب الصرف، تحديث مارس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L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_L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L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PLAIN_L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172200" y="1874520"/>
            <a:ext cx="5440680" cy="21488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40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T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72200" y="4114800"/>
            <a:ext cx="5440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1800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ar-TN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0" y="2514600"/>
            <a:ext cx="523951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3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TN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0" y="4343400"/>
            <a:ext cx="52395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1600" dirty="0">
                <a:solidFill>
                  <a:schemeClr val="accent5"/>
                </a:solidFill>
              </a:defRPr>
            </a:lvl1pPr>
          </a:lstStyle>
          <a:p>
            <a:pPr algn="r" indent="0" marL="0">
              <a:buNone/>
            </a:pPr>
            <a:endParaRPr lang="ar-TN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30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TN" sz="3000" dirty="0"/>
          </a:p>
        </p:txBody>
      </p:sp>
      <p:sp>
        <p:nvSpPr>
          <p:cNvPr id="3" name="Text 0"/>
          <p:cNvSpPr/>
          <p:nvPr/>
        </p:nvSpPr>
        <p:spPr>
          <a:xfrm>
            <a:off x="5242255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TN" altLang="en-US" sz="1000" dirty="0">
                <a:solidFill>
                  <a:schemeClr val="accent5"/>
                </a:solidFill>
              </a:rPr>
              <a:t>البنك المركزي التونسي · دليل تراتيب الصرف · تحديث مارس 2024</a:t>
            </a:r>
            <a:endParaRPr lang="ar-T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30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TN" sz="3000" dirty="0"/>
          </a:p>
        </p:txBody>
      </p:sp>
      <p:sp>
        <p:nvSpPr>
          <p:cNvPr id="3" name="Text 0"/>
          <p:cNvSpPr/>
          <p:nvPr/>
        </p:nvSpPr>
        <p:spPr>
          <a:xfrm>
            <a:off x="5242255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TN" altLang="en-US" sz="1000" dirty="0">
                <a:solidFill>
                  <a:schemeClr val="accent5"/>
                </a:solidFill>
              </a:rPr>
              <a:t>البنك المركزي التونسي · دليل تراتيب الصرف · تحديث مارس 2024</a:t>
            </a:r>
            <a:endParaRPr lang="ar-T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172200" y="13258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2000" b="1" dirty="0">
                <a:solidFill>
                  <a:schemeClr val="accent2"/>
                </a:solidFill>
              </a:rPr>
              <a:t>البنك المركزي التونسي</a:t>
            </a:r>
            <a:endParaRPr lang="ar-TN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172200" y="1874520"/>
            <a:ext cx="5440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4000" b="1" dirty="0">
                <a:solidFill>
                  <a:schemeClr val="tx1"/>
                </a:solidFill>
              </a:rPr>
              <a:t>أهم الأحكام المنظِّمة لعمليات الصرف بالعملة الأجنبية نقدًا</a:t>
            </a:r>
            <a:endParaRPr lang="ar-TN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172200" y="41148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800" dirty="0">
                <a:solidFill>
                  <a:schemeClr val="accent1"/>
                </a:solidFill>
              </a:rPr>
              <a:t>دليل تراتيب الصرف · تحديث مارس 2024 (IBCT)</a:t>
            </a:r>
            <a:endParaRPr lang="ar-TN" sz="1800" dirty="0"/>
          </a:p>
        </p:txBody>
      </p:sp>
      <p:sp>
        <p:nvSpPr>
          <p:cNvPr id="5" name="pill-2"/>
          <p:cNvSpPr/>
          <p:nvPr/>
        </p:nvSpPr>
        <p:spPr>
          <a:xfrm>
            <a:off x="10012680" y="498348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6" name="text-3"/>
          <p:cNvSpPr txBox="1"/>
          <p:nvPr/>
        </p:nvSpPr>
        <p:spPr>
          <a:xfrm>
            <a:off x="10122408" y="498348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accent1"/>
                </a:solidFill>
              </a:rPr>
              <a:t>مفهوم الإقامة</a:t>
            </a:r>
            <a:endParaRPr lang="ar-TN" sz="1300" dirty="0"/>
          </a:p>
        </p:txBody>
      </p:sp>
      <p:sp>
        <p:nvSpPr>
          <p:cNvPr id="7" name="pill-4"/>
          <p:cNvSpPr/>
          <p:nvPr/>
        </p:nvSpPr>
        <p:spPr>
          <a:xfrm>
            <a:off x="8001000" y="4983480"/>
            <a:ext cx="18288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8" name="text-5"/>
          <p:cNvSpPr txBox="1"/>
          <p:nvPr/>
        </p:nvSpPr>
        <p:spPr>
          <a:xfrm>
            <a:off x="8110728" y="49834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accent1"/>
                </a:solidFill>
              </a:rPr>
              <a:t>توريد العملة وتصديرها</a:t>
            </a:r>
            <a:endParaRPr lang="ar-TN" sz="1300" dirty="0"/>
          </a:p>
        </p:txBody>
      </p:sp>
      <p:sp>
        <p:nvSpPr>
          <p:cNvPr id="9" name="pill-6"/>
          <p:cNvSpPr/>
          <p:nvPr/>
        </p:nvSpPr>
        <p:spPr>
          <a:xfrm>
            <a:off x="6172200" y="4983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0" name="text-7"/>
          <p:cNvSpPr txBox="1"/>
          <p:nvPr/>
        </p:nvSpPr>
        <p:spPr>
          <a:xfrm>
            <a:off x="6281928" y="49834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accent1"/>
                </a:solidFill>
              </a:rPr>
              <a:t>المنح والحسابات</a:t>
            </a:r>
            <a:endParaRPr lang="ar-TN" sz="1300" dirty="0"/>
          </a:p>
        </p:txBody>
      </p:sp>
      <p:pic>
        <p:nvPicPr>
          <p:cNvPr id="11" name="3d-bank-8" descr="b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51105"/>
            <a:ext cx="4572000" cy="3206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ملاحظة تمهيدية: هدف الدليل</a:t>
            </a:r>
            <a:endParaRPr lang="ar-TN" sz="3000" dirty="0"/>
          </a:p>
        </p:txBody>
      </p:sp>
      <p:sp>
        <p:nvSpPr>
          <p:cNvPr id="3" name="card-9"/>
          <p:cNvSpPr/>
          <p:nvPr/>
        </p:nvSpPr>
        <p:spPr>
          <a:xfrm>
            <a:off x="5394960" y="1508760"/>
            <a:ext cx="6245352" cy="201168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text-10"/>
          <p:cNvSpPr txBox="1"/>
          <p:nvPr/>
        </p:nvSpPr>
        <p:spPr>
          <a:xfrm>
            <a:off x="5669280" y="1737360"/>
            <a:ext cx="5696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TN" altLang="en-US" sz="1800" dirty="0">
                <a:solidFill>
                  <a:schemeClr val="tx1"/>
                </a:solidFill>
              </a:rPr>
              <a:t>تهدف هذه الوثيقة إلى تبسيط وشرح الإجراءات والتراتيب الخاصة بعمليات النقد الأجنبي، لضمان التزام الأشخاص الطبيعيين والمعنويين بالقوانين المنظِّمة للصرف في الجمهورية التونسية.</a:t>
            </a:r>
            <a:endParaRPr lang="ar-TN" sz="1800" dirty="0"/>
          </a:p>
        </p:txBody>
      </p:sp>
      <p:sp>
        <p:nvSpPr>
          <p:cNvPr id="5" name="text-11"/>
          <p:cNvSpPr txBox="1"/>
          <p:nvPr/>
        </p:nvSpPr>
        <p:spPr>
          <a:xfrm>
            <a:off x="5394960" y="41148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b="1" dirty="0">
                <a:solidFill>
                  <a:schemeClr val="accent1"/>
                </a:solidFill>
              </a:rPr>
              <a:t>مع التركيز على:</a:t>
            </a:r>
            <a:endParaRPr lang="ar-TN" sz="1600" dirty="0"/>
          </a:p>
        </p:txBody>
      </p:sp>
      <p:sp>
        <p:nvSpPr>
          <p:cNvPr id="6" name="card-12"/>
          <p:cNvSpPr/>
          <p:nvPr/>
        </p:nvSpPr>
        <p:spPr>
          <a:xfrm>
            <a:off x="9628632" y="4617720"/>
            <a:ext cx="2011680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7" name="icon-bg-13"/>
          <p:cNvSpPr/>
          <p:nvPr/>
        </p:nvSpPr>
        <p:spPr>
          <a:xfrm>
            <a:off x="10360152" y="4773168"/>
            <a:ext cx="548640" cy="54864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8" name="icon-1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4910328"/>
            <a:ext cx="274320" cy="274320"/>
          </a:xfrm>
          <a:prstGeom prst="rect">
            <a:avLst/>
          </a:prstGeom>
        </p:spPr>
      </p:pic>
      <p:sp>
        <p:nvSpPr>
          <p:cNvPr id="9" name="text-15"/>
          <p:cNvSpPr txBox="1"/>
          <p:nvPr/>
        </p:nvSpPr>
        <p:spPr>
          <a:xfrm>
            <a:off x="9738360" y="53949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tx1"/>
                </a:solidFill>
              </a:rPr>
              <a:t>ضوابط توريد العملة وتصديرها</a:t>
            </a:r>
            <a:endParaRPr lang="ar-TN" sz="1300" dirty="0"/>
          </a:p>
        </p:txBody>
      </p:sp>
      <p:sp>
        <p:nvSpPr>
          <p:cNvPr id="10" name="card-16"/>
          <p:cNvSpPr/>
          <p:nvPr/>
        </p:nvSpPr>
        <p:spPr>
          <a:xfrm>
            <a:off x="7511796" y="4617720"/>
            <a:ext cx="2011680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1" name="icon-bg-17"/>
          <p:cNvSpPr/>
          <p:nvPr/>
        </p:nvSpPr>
        <p:spPr>
          <a:xfrm>
            <a:off x="8243316" y="4773168"/>
            <a:ext cx="548640" cy="54864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2" name="icon-1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6" y="4910328"/>
            <a:ext cx="274320" cy="274320"/>
          </a:xfrm>
          <a:prstGeom prst="rect">
            <a:avLst/>
          </a:prstGeom>
        </p:spPr>
      </p:pic>
      <p:sp>
        <p:nvSpPr>
          <p:cNvPr id="13" name="text-19"/>
          <p:cNvSpPr txBox="1"/>
          <p:nvPr/>
        </p:nvSpPr>
        <p:spPr>
          <a:xfrm>
            <a:off x="7621524" y="53949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tx1"/>
                </a:solidFill>
              </a:rPr>
              <a:t>استخدام المنحة السياحية</a:t>
            </a:r>
            <a:endParaRPr lang="ar-TN" sz="1300" dirty="0"/>
          </a:p>
        </p:txBody>
      </p:sp>
      <p:sp>
        <p:nvSpPr>
          <p:cNvPr id="14" name="card-20"/>
          <p:cNvSpPr/>
          <p:nvPr/>
        </p:nvSpPr>
        <p:spPr>
          <a:xfrm>
            <a:off x="5394960" y="4617720"/>
            <a:ext cx="2011680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5" name="icon-bg-21"/>
          <p:cNvSpPr/>
          <p:nvPr/>
        </p:nvSpPr>
        <p:spPr>
          <a:xfrm>
            <a:off x="6126480" y="4773168"/>
            <a:ext cx="548640" cy="54864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6" name="icon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910328"/>
            <a:ext cx="274320" cy="274320"/>
          </a:xfrm>
          <a:prstGeom prst="rect">
            <a:avLst/>
          </a:prstGeom>
        </p:spPr>
      </p:pic>
      <p:sp>
        <p:nvSpPr>
          <p:cNvPr id="17" name="text-23"/>
          <p:cNvSpPr txBox="1"/>
          <p:nvPr/>
        </p:nvSpPr>
        <p:spPr>
          <a:xfrm>
            <a:off x="5504688" y="53949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tx1"/>
                </a:solidFill>
              </a:rPr>
              <a:t>المنح المهنية وأسفار الأعمال</a:t>
            </a:r>
            <a:endParaRPr lang="ar-TN" sz="1300" dirty="0"/>
          </a:p>
        </p:txBody>
      </p:sp>
      <p:pic>
        <p:nvPicPr>
          <p:cNvPr id="18" name="3d-magnifier-24" descr="magnifi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49270"/>
            <a:ext cx="4206240" cy="31028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فهرس المحتويات</a:t>
            </a:r>
            <a:endParaRPr lang="ar-TN" sz="3000" dirty="0"/>
          </a:p>
        </p:txBody>
      </p:sp>
      <p:sp>
        <p:nvSpPr>
          <p:cNvPr id="3" name="card-25"/>
          <p:cNvSpPr/>
          <p:nvPr/>
        </p:nvSpPr>
        <p:spPr>
          <a:xfrm>
            <a:off x="8122615" y="1463040"/>
            <a:ext cx="3520440" cy="461772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4" name="3d-globe-26" descr="gl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0140" y="1783080"/>
            <a:ext cx="1665391" cy="2011680"/>
          </a:xfrm>
          <a:prstGeom prst="rect">
            <a:avLst/>
          </a:prstGeom>
        </p:spPr>
      </p:pic>
      <p:sp>
        <p:nvSpPr>
          <p:cNvPr id="5" name="badge-27"/>
          <p:cNvSpPr/>
          <p:nvPr/>
        </p:nvSpPr>
        <p:spPr>
          <a:xfrm>
            <a:off x="9553651" y="3931920"/>
            <a:ext cx="658368" cy="658368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6" name="badge-txt-28"/>
          <p:cNvSpPr txBox="1"/>
          <p:nvPr/>
        </p:nvSpPr>
        <p:spPr>
          <a:xfrm>
            <a:off x="9553651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</a:t>
            </a:r>
            <a:endParaRPr lang="en-US" sz="2000" dirty="0"/>
          </a:p>
        </p:txBody>
      </p:sp>
      <p:sp>
        <p:nvSpPr>
          <p:cNvPr id="7" name="text-29"/>
          <p:cNvSpPr txBox="1"/>
          <p:nvPr/>
        </p:nvSpPr>
        <p:spPr>
          <a:xfrm>
            <a:off x="8396935" y="47091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المفاهيم الأساسية لتراتيب الصرف ومفهوم الإقامة</a:t>
            </a:r>
            <a:endParaRPr lang="ar-TN" sz="1500" dirty="0"/>
          </a:p>
        </p:txBody>
      </p:sp>
      <p:sp>
        <p:nvSpPr>
          <p:cNvPr id="8" name="card-30"/>
          <p:cNvSpPr/>
          <p:nvPr/>
        </p:nvSpPr>
        <p:spPr>
          <a:xfrm>
            <a:off x="4336999" y="1463040"/>
            <a:ext cx="3520440" cy="461772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9" name="3d-suitcase-31" descr="suit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286" y="1783080"/>
            <a:ext cx="2179866" cy="2011680"/>
          </a:xfrm>
          <a:prstGeom prst="rect">
            <a:avLst/>
          </a:prstGeom>
        </p:spPr>
      </p:pic>
      <p:sp>
        <p:nvSpPr>
          <p:cNvPr id="10" name="badge-32"/>
          <p:cNvSpPr/>
          <p:nvPr/>
        </p:nvSpPr>
        <p:spPr>
          <a:xfrm>
            <a:off x="5768035" y="3931920"/>
            <a:ext cx="658368" cy="658368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1" name="badge-txt-33"/>
          <p:cNvSpPr txBox="1"/>
          <p:nvPr/>
        </p:nvSpPr>
        <p:spPr>
          <a:xfrm>
            <a:off x="5768035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II</a:t>
            </a:r>
            <a:endParaRPr lang="en-US" sz="2000" dirty="0"/>
          </a:p>
        </p:txBody>
      </p:sp>
      <p:sp>
        <p:nvSpPr>
          <p:cNvPr id="12" name="text-34"/>
          <p:cNvSpPr txBox="1"/>
          <p:nvPr/>
        </p:nvSpPr>
        <p:spPr>
          <a:xfrm>
            <a:off x="4611319" y="47091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شروط توريد وتصدير الأوراق النقدية الأجنبية، والتزامات الصرف ومكافحة غسل الأموال وتمويل الإرهاب</a:t>
            </a:r>
            <a:endParaRPr lang="ar-TN" sz="1500" dirty="0"/>
          </a:p>
        </p:txBody>
      </p:sp>
      <p:sp>
        <p:nvSpPr>
          <p:cNvPr id="13" name="card-35"/>
          <p:cNvSpPr/>
          <p:nvPr/>
        </p:nvSpPr>
        <p:spPr>
          <a:xfrm>
            <a:off x="551383" y="1463040"/>
            <a:ext cx="3520440" cy="461772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14" name="3d-briefcase-36" descr="brief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1841500"/>
            <a:ext cx="2651760" cy="1953260"/>
          </a:xfrm>
          <a:prstGeom prst="rect">
            <a:avLst/>
          </a:prstGeom>
        </p:spPr>
      </p:pic>
      <p:sp>
        <p:nvSpPr>
          <p:cNvPr id="15" name="badge-37"/>
          <p:cNvSpPr/>
          <p:nvPr/>
        </p:nvSpPr>
        <p:spPr>
          <a:xfrm>
            <a:off x="1982419" y="3931920"/>
            <a:ext cx="658368" cy="658368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6" name="badge-txt-38"/>
          <p:cNvSpPr txBox="1"/>
          <p:nvPr/>
        </p:nvSpPr>
        <p:spPr>
          <a:xfrm>
            <a:off x="1982419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III</a:t>
            </a:r>
            <a:endParaRPr lang="en-US" sz="2000" dirty="0"/>
          </a:p>
        </p:txBody>
      </p:sp>
      <p:sp>
        <p:nvSpPr>
          <p:cNvPr id="17" name="text-39"/>
          <p:cNvSpPr txBox="1"/>
          <p:nvPr/>
        </p:nvSpPr>
        <p:spPr>
          <a:xfrm>
            <a:off x="825703" y="47091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معالجة العمليات النقدية: أمثلة وتطبيقات عملية (المنحة السياحية، منح أسفار الأعمال…)</a:t>
            </a:r>
            <a:endParaRPr lang="ar-T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40"/>
          <p:cNvSpPr/>
          <p:nvPr/>
        </p:nvSpPr>
        <p:spPr>
          <a:xfrm>
            <a:off x="9445752" y="1828800"/>
            <a:ext cx="2194560" cy="5303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3" name="text-41"/>
          <p:cNvSpPr txBox="1"/>
          <p:nvPr/>
        </p:nvSpPr>
        <p:spPr>
          <a:xfrm>
            <a:off x="9555480" y="1828800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bg1"/>
                </a:solidFill>
              </a:rPr>
              <a:t>المحور الأول</a:t>
            </a:r>
            <a:endParaRPr lang="ar-TN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0" y="2514600"/>
            <a:ext cx="5239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3600" b="1" dirty="0">
                <a:solidFill>
                  <a:schemeClr val="tx1"/>
                </a:solidFill>
              </a:rPr>
              <a:t>المفاهيم الأساسية لتراتيب الصرف ومفهوم الإقامة</a:t>
            </a:r>
            <a:endParaRPr lang="ar-TN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0" y="4343400"/>
            <a:ext cx="5239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dirty="0">
                <a:solidFill>
                  <a:schemeClr val="accent5"/>
                </a:solidFill>
              </a:rPr>
              <a:t>المبادئ الأساسية · المقيم وغير المقيم · الأشخاص المعنويون</a:t>
            </a:r>
            <a:endParaRPr lang="ar-TN" sz="1600" dirty="0"/>
          </a:p>
        </p:txBody>
      </p:sp>
      <p:pic>
        <p:nvPicPr>
          <p:cNvPr id="6" name="3d-globe-42" descr="gl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630" y="1280160"/>
            <a:ext cx="3482181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المبادئ الأساسية (1): الإيداع والتصريح والإرجاع</a:t>
            </a:r>
            <a:endParaRPr lang="ar-TN" sz="3000" dirty="0"/>
          </a:p>
        </p:txBody>
      </p:sp>
      <p:sp>
        <p:nvSpPr>
          <p:cNvPr id="3" name="card-43"/>
          <p:cNvSpPr/>
          <p:nvPr/>
        </p:nvSpPr>
        <p:spPr>
          <a:xfrm>
            <a:off x="5257800" y="1463040"/>
            <a:ext cx="6382512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icon-bg-44"/>
          <p:cNvSpPr/>
          <p:nvPr/>
        </p:nvSpPr>
        <p:spPr>
          <a:xfrm>
            <a:off x="10844784" y="16824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5" name="icon-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516" y="1824228"/>
            <a:ext cx="283464" cy="283464"/>
          </a:xfrm>
          <a:prstGeom prst="rect">
            <a:avLst/>
          </a:prstGeom>
        </p:spPr>
      </p:pic>
      <p:sp>
        <p:nvSpPr>
          <p:cNvPr id="6" name="text-46"/>
          <p:cNvSpPr txBox="1"/>
          <p:nvPr/>
        </p:nvSpPr>
        <p:spPr>
          <a:xfrm>
            <a:off x="5486400" y="1664208"/>
            <a:ext cx="5129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الإيداع لدى وسيط مقبول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كل من يمتلك أو يحوز بالتراب التونسي أوراقًا نقدية أجنبية أو شيكات أو خطابات اعتماد أو كمبيالات أو أي سندات دين بعملة أجنبية، يودعها لدى بنك أو بريد مع تحديد هوية الحريف.</a:t>
            </a:r>
            <a:endParaRPr lang="ar-TN" sz="1400" dirty="0"/>
          </a:p>
        </p:txBody>
      </p:sp>
      <p:sp>
        <p:nvSpPr>
          <p:cNvPr id="7" name="card-47"/>
          <p:cNvSpPr/>
          <p:nvPr/>
        </p:nvSpPr>
        <p:spPr>
          <a:xfrm>
            <a:off x="5257800" y="3090672"/>
            <a:ext cx="6382512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8" name="icon-bg-48"/>
          <p:cNvSpPr/>
          <p:nvPr/>
        </p:nvSpPr>
        <p:spPr>
          <a:xfrm>
            <a:off x="10844784" y="3310128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9" name="icon-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516" y="3451860"/>
            <a:ext cx="283464" cy="283464"/>
          </a:xfrm>
          <a:prstGeom prst="rect">
            <a:avLst/>
          </a:prstGeom>
        </p:spPr>
      </p:pic>
      <p:sp>
        <p:nvSpPr>
          <p:cNvPr id="10" name="text-50"/>
          <p:cNvSpPr txBox="1"/>
          <p:nvPr/>
        </p:nvSpPr>
        <p:spPr>
          <a:xfrm>
            <a:off x="5486400" y="3291840"/>
            <a:ext cx="5129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التصريح بالأصول في الخارج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كل تونسي ذي إقامة اعتيادية في تونس، وكل شخص معنوي (لمؤسساته في تونس)، يصرّح للبنك المركزي بجميع أصوله في الخارج: أسهم، سندات، عقارات، منقولات…</a:t>
            </a:r>
            <a:endParaRPr lang="ar-TN" sz="1400" dirty="0"/>
          </a:p>
        </p:txBody>
      </p:sp>
      <p:sp>
        <p:nvSpPr>
          <p:cNvPr id="11" name="card-51"/>
          <p:cNvSpPr/>
          <p:nvPr/>
        </p:nvSpPr>
        <p:spPr>
          <a:xfrm>
            <a:off x="5257800" y="4718304"/>
            <a:ext cx="6382512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2" name="icon-bg-52"/>
          <p:cNvSpPr/>
          <p:nvPr/>
        </p:nvSpPr>
        <p:spPr>
          <a:xfrm>
            <a:off x="10844784" y="4937760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3" name="icon-5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516" y="5079492"/>
            <a:ext cx="283464" cy="283464"/>
          </a:xfrm>
          <a:prstGeom prst="rect">
            <a:avLst/>
          </a:prstGeom>
        </p:spPr>
      </p:pic>
      <p:sp>
        <p:nvSpPr>
          <p:cNvPr id="14" name="text-54"/>
          <p:cNvSpPr txBox="1"/>
          <p:nvPr/>
        </p:nvSpPr>
        <p:spPr>
          <a:xfrm>
            <a:off x="5486400" y="4919472"/>
            <a:ext cx="5129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إرجاع العائدات (Rapatriement)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يُرجع المقيمون كافة العائدات بالعملة الأجنبية المتأتية من تصدير السلع أو الخدمات أو أي مداخيل أخرى بالخارج، وفق الشروط والآجال المحددة.</a:t>
            </a:r>
            <a:endParaRPr lang="ar-TN" sz="1400" dirty="0"/>
          </a:p>
        </p:txBody>
      </p:sp>
      <p:pic>
        <p:nvPicPr>
          <p:cNvPr id="15" name="3d-law-55" descr="la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297" y="1463040"/>
            <a:ext cx="3057805" cy="2697480"/>
          </a:xfrm>
          <a:prstGeom prst="rect">
            <a:avLst/>
          </a:prstGeom>
        </p:spPr>
      </p:pic>
      <p:sp>
        <p:nvSpPr>
          <p:cNvPr id="16" name="card-56"/>
          <p:cNvSpPr/>
          <p:nvPr/>
        </p:nvSpPr>
        <p:spPr>
          <a:xfrm>
            <a:off x="914400" y="4434840"/>
            <a:ext cx="3749040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7" name="text-57"/>
          <p:cNvSpPr txBox="1"/>
          <p:nvPr/>
        </p:nvSpPr>
        <p:spPr>
          <a:xfrm>
            <a:off x="1097280" y="45994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600" b="1" dirty="0">
                <a:solidFill>
                  <a:schemeClr val="accent2"/>
                </a:solidFill>
              </a:rPr>
              <a:t>10 أيام</a:t>
            </a:r>
            <a:endParaRPr lang="ar-TN" sz="3600" dirty="0"/>
          </a:p>
        </p:txBody>
      </p:sp>
      <p:sp>
        <p:nvSpPr>
          <p:cNvPr id="18" name="text-58"/>
          <p:cNvSpPr txBox="1"/>
          <p:nvPr/>
        </p:nvSpPr>
        <p:spPr>
          <a:xfrm>
            <a:off x="1097280" y="525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أجل إرجاع عائدات تصدير السلع من تاريخ استحقاق الدفع التعاقدي</a:t>
            </a:r>
            <a:endParaRPr lang="ar-TN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المبادئ الأساسية (2): محظورات والتزامات</a:t>
            </a:r>
            <a:endParaRPr lang="ar-TN" sz="3000" dirty="0"/>
          </a:p>
        </p:txBody>
      </p:sp>
      <p:sp>
        <p:nvSpPr>
          <p:cNvPr id="3" name="card-59"/>
          <p:cNvSpPr/>
          <p:nvPr/>
        </p:nvSpPr>
        <p:spPr>
          <a:xfrm>
            <a:off x="5257800" y="1417320"/>
            <a:ext cx="6382512" cy="237744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icon-bg-60"/>
          <p:cNvSpPr/>
          <p:nvPr/>
        </p:nvSpPr>
        <p:spPr>
          <a:xfrm>
            <a:off x="10863072" y="1618488"/>
            <a:ext cx="548640" cy="548640"/>
          </a:xfrm>
          <a:prstGeom prst="ellipse">
            <a:avLst/>
          </a:prstGeom>
          <a:solidFill>
            <a:schemeClr val="accent4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5" name="icon-6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1755648"/>
            <a:ext cx="274320" cy="274320"/>
          </a:xfrm>
          <a:prstGeom prst="rect">
            <a:avLst/>
          </a:prstGeom>
        </p:spPr>
      </p:pic>
      <p:sp>
        <p:nvSpPr>
          <p:cNvPr id="6" name="text-62"/>
          <p:cNvSpPr txBox="1"/>
          <p:nvPr/>
        </p:nvSpPr>
        <p:spPr>
          <a:xfrm>
            <a:off x="5486400" y="16459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700" b="1" dirty="0">
                <a:solidFill>
                  <a:schemeClr val="accent4"/>
                </a:solidFill>
              </a:rPr>
              <a:t>ممنوع</a:t>
            </a:r>
            <a:endParaRPr lang="ar-TN" sz="1700" dirty="0"/>
          </a:p>
        </p:txBody>
      </p:sp>
      <p:sp>
        <p:nvSpPr>
          <p:cNvPr id="7" name="text-63"/>
          <p:cNvSpPr txBox="1"/>
          <p:nvPr/>
        </p:nvSpPr>
        <p:spPr>
          <a:xfrm>
            <a:off x="5486400" y="2240280"/>
            <a:ext cx="5897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5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توريد الدينار التونسي وتصديره ممنوع منعًا باتًا.</a:t>
            </a:r>
            <a:endParaRPr lang="ar-TN" sz="1250" dirty="0"/>
          </a:p>
          <a:p>
            <a:pPr rtl="1" algn="r" marL="177800" indent="-177800">
              <a:spcAft>
                <a:spcPts val="5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لا يلتزم مقيم تجاه مقيم آخر بعملة غير الدينار (إلا بترخيص استثنائي): الدينار عملة الحساب وعملة الدفع معًا.</a:t>
            </a:r>
            <a:endParaRPr lang="ar-TN" sz="1250" dirty="0"/>
          </a:p>
          <a:p>
            <a:pPr rtl="1" algn="r" marL="177800" indent="-177800">
              <a:spcAft>
                <a:spcPts val="5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لا مقاصة (Compensation) بين ديون واعتمادات المقيمين وغير المقيمين إلا بتصريح من البنك المركزي.</a:t>
            </a:r>
            <a:endParaRPr lang="ar-TN" sz="1250" dirty="0"/>
          </a:p>
        </p:txBody>
      </p:sp>
      <p:sp>
        <p:nvSpPr>
          <p:cNvPr id="8" name="card-64"/>
          <p:cNvSpPr/>
          <p:nvPr/>
        </p:nvSpPr>
        <p:spPr>
          <a:xfrm>
            <a:off x="5257800" y="3931920"/>
            <a:ext cx="6382512" cy="2240280"/>
          </a:xfrm>
          <a:prstGeom prst="roundRect">
            <a:avLst>
              <a:gd name="adj" fmla="val 65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65"/>
          <p:cNvSpPr/>
          <p:nvPr/>
        </p:nvSpPr>
        <p:spPr>
          <a:xfrm>
            <a:off x="10863072" y="4133088"/>
            <a:ext cx="548640" cy="54864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6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4270248"/>
            <a:ext cx="274320" cy="274320"/>
          </a:xfrm>
          <a:prstGeom prst="rect">
            <a:avLst/>
          </a:prstGeom>
        </p:spPr>
      </p:pic>
      <p:sp>
        <p:nvSpPr>
          <p:cNvPr id="11" name="text-67"/>
          <p:cNvSpPr txBox="1"/>
          <p:nvPr/>
        </p:nvSpPr>
        <p:spPr>
          <a:xfrm>
            <a:off x="5486400" y="4160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700" b="1" dirty="0">
                <a:solidFill>
                  <a:schemeClr val="accent1"/>
                </a:solidFill>
              </a:rPr>
              <a:t>إلزامي</a:t>
            </a:r>
            <a:endParaRPr lang="ar-TN" sz="1700" dirty="0"/>
          </a:p>
        </p:txBody>
      </p:sp>
      <p:sp>
        <p:nvSpPr>
          <p:cNvPr id="12" name="text-68"/>
          <p:cNvSpPr txBox="1"/>
          <p:nvPr/>
        </p:nvSpPr>
        <p:spPr>
          <a:xfrm>
            <a:off x="5486400" y="4754880"/>
            <a:ext cx="5897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5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الخلاص بين المقيمين يتم في تونس ما لم يرخّص البنك المركزي بغير ذلك.</a:t>
            </a:r>
            <a:endParaRPr lang="ar-TN" sz="1250" dirty="0"/>
          </a:p>
          <a:p>
            <a:pPr rtl="1" algn="r" marL="177800" indent="-177800">
              <a:spcAft>
                <a:spcPts val="5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الخلاصات من وإلى الخارج تمرّ وجوبًا عبر وسطاء مقبولين (البنوك أو إدارة البريد).</a:t>
            </a:r>
            <a:endParaRPr lang="ar-TN" sz="1250" dirty="0"/>
          </a:p>
          <a:p>
            <a:pPr rtl="1" algn="r" marL="177800" indent="-177800">
              <a:spcAft>
                <a:spcPts val="5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التفويت (Cession) في العملة المُرجعة مقابل الدينار، ما عدا المودعة في حسابات منظمة (حساب مهني، حساب الشركات الناشئة…).</a:t>
            </a:r>
            <a:endParaRPr lang="ar-TN" sz="1250" dirty="0"/>
          </a:p>
        </p:txBody>
      </p:sp>
      <p:pic>
        <p:nvPicPr>
          <p:cNvPr id="13" name="3d-forbid-69" descr="forbi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72618"/>
            <a:ext cx="4206240" cy="33252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مفهوم الإقامة: من يُعتبر «مقيمًا» بصفة آلية؟</a:t>
            </a:r>
            <a:endParaRPr lang="ar-TN" sz="3000" dirty="0"/>
          </a:p>
        </p:txBody>
      </p:sp>
      <p:sp>
        <p:nvSpPr>
          <p:cNvPr id="3" name="text-70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أشخاص طبيعيون — حسب منشور الصرف عدد 3</a:t>
            </a:r>
            <a:endParaRPr lang="ar-TN" sz="1500" dirty="0"/>
          </a:p>
        </p:txBody>
      </p:sp>
      <p:sp>
        <p:nvSpPr>
          <p:cNvPr id="4" name="card-71"/>
          <p:cNvSpPr/>
          <p:nvPr/>
        </p:nvSpPr>
        <p:spPr>
          <a:xfrm>
            <a:off x="8513064" y="1691640"/>
            <a:ext cx="3127248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72"/>
          <p:cNvSpPr/>
          <p:nvPr/>
        </p:nvSpPr>
        <p:spPr>
          <a:xfrm>
            <a:off x="10936224" y="191109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7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2029968"/>
            <a:ext cx="237744" cy="237744"/>
          </a:xfrm>
          <a:prstGeom prst="rect">
            <a:avLst/>
          </a:prstGeom>
        </p:spPr>
      </p:pic>
      <p:sp>
        <p:nvSpPr>
          <p:cNvPr id="7" name="text-74"/>
          <p:cNvSpPr txBox="1"/>
          <p:nvPr/>
        </p:nvSpPr>
        <p:spPr>
          <a:xfrm>
            <a:off x="8741664" y="1892808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التونسيون القاطنون بتونس.</a:t>
            </a:r>
            <a:endParaRPr lang="ar-TN" sz="1400" dirty="0"/>
          </a:p>
        </p:txBody>
      </p:sp>
      <p:sp>
        <p:nvSpPr>
          <p:cNvPr id="8" name="card-75"/>
          <p:cNvSpPr/>
          <p:nvPr/>
        </p:nvSpPr>
        <p:spPr>
          <a:xfrm>
            <a:off x="5257800" y="1691640"/>
            <a:ext cx="3127248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76"/>
          <p:cNvSpPr/>
          <p:nvPr/>
        </p:nvSpPr>
        <p:spPr>
          <a:xfrm>
            <a:off x="7680960" y="191109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7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2029968"/>
            <a:ext cx="237744" cy="237744"/>
          </a:xfrm>
          <a:prstGeom prst="rect">
            <a:avLst/>
          </a:prstGeom>
        </p:spPr>
      </p:pic>
      <p:sp>
        <p:nvSpPr>
          <p:cNvPr id="11" name="text-78"/>
          <p:cNvSpPr txBox="1"/>
          <p:nvPr/>
        </p:nvSpPr>
        <p:spPr>
          <a:xfrm>
            <a:off x="5486400" y="1892808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التونسيون القاطنون بالخارج أقل من سنتين، ولم يُعترف لهم رسميًا بصفة «غير مقيم».</a:t>
            </a:r>
            <a:endParaRPr lang="ar-TN" sz="1400" dirty="0"/>
          </a:p>
        </p:txBody>
      </p:sp>
      <p:sp>
        <p:nvSpPr>
          <p:cNvPr id="12" name="card-79"/>
          <p:cNvSpPr/>
          <p:nvPr/>
        </p:nvSpPr>
        <p:spPr>
          <a:xfrm>
            <a:off x="8513064" y="3172968"/>
            <a:ext cx="3127248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icon-bg-80"/>
          <p:cNvSpPr/>
          <p:nvPr/>
        </p:nvSpPr>
        <p:spPr>
          <a:xfrm>
            <a:off x="10936224" y="3392424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4" name="icon-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3511296"/>
            <a:ext cx="237744" cy="237744"/>
          </a:xfrm>
          <a:prstGeom prst="rect">
            <a:avLst/>
          </a:prstGeom>
        </p:spPr>
      </p:pic>
      <p:sp>
        <p:nvSpPr>
          <p:cNvPr id="15" name="text-82"/>
          <p:cNvSpPr txBox="1"/>
          <p:nvPr/>
        </p:nvSpPr>
        <p:spPr>
          <a:xfrm>
            <a:off x="8741664" y="3374136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الدبلوماسيون والموظفون التونسيون الملحقون بالخارج، ولو تجاوزت إقامتهم سنتين.</a:t>
            </a:r>
            <a:endParaRPr lang="ar-TN" sz="1400" dirty="0"/>
          </a:p>
        </p:txBody>
      </p:sp>
      <p:sp>
        <p:nvSpPr>
          <p:cNvPr id="16" name="card-83"/>
          <p:cNvSpPr/>
          <p:nvPr/>
        </p:nvSpPr>
        <p:spPr>
          <a:xfrm>
            <a:off x="5257800" y="3172968"/>
            <a:ext cx="3127248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7" name="icon-bg-84"/>
          <p:cNvSpPr/>
          <p:nvPr/>
        </p:nvSpPr>
        <p:spPr>
          <a:xfrm>
            <a:off x="7680960" y="3392424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8" name="icon-8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511296"/>
            <a:ext cx="237744" cy="237744"/>
          </a:xfrm>
          <a:prstGeom prst="rect">
            <a:avLst/>
          </a:prstGeom>
        </p:spPr>
      </p:pic>
      <p:sp>
        <p:nvSpPr>
          <p:cNvPr id="19" name="text-86"/>
          <p:cNvSpPr txBox="1"/>
          <p:nvPr/>
        </p:nvSpPr>
        <p:spPr>
          <a:xfrm>
            <a:off x="5486400" y="3374136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الأجانب القاطنون بتونس منذ سنتين على الأقل وفيها مركز نشاطهم.</a:t>
            </a:r>
            <a:endParaRPr lang="ar-TN" sz="1400" dirty="0"/>
          </a:p>
        </p:txBody>
      </p:sp>
      <p:sp>
        <p:nvSpPr>
          <p:cNvPr id="20" name="card-87"/>
          <p:cNvSpPr/>
          <p:nvPr/>
        </p:nvSpPr>
        <p:spPr>
          <a:xfrm>
            <a:off x="8513064" y="4654296"/>
            <a:ext cx="3127248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1" name="icon-bg-88"/>
          <p:cNvSpPr/>
          <p:nvPr/>
        </p:nvSpPr>
        <p:spPr>
          <a:xfrm>
            <a:off x="10936224" y="4873752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2" name="icon-8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4992624"/>
            <a:ext cx="237744" cy="237744"/>
          </a:xfrm>
          <a:prstGeom prst="rect">
            <a:avLst/>
          </a:prstGeom>
        </p:spPr>
      </p:pic>
      <p:sp>
        <p:nvSpPr>
          <p:cNvPr id="23" name="text-90"/>
          <p:cNvSpPr txBox="1"/>
          <p:nvPr/>
        </p:nvSpPr>
        <p:spPr>
          <a:xfrm>
            <a:off x="8741664" y="4855464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قرين المقيم، والأبناء القُصّر الذين في كفالته.</a:t>
            </a:r>
            <a:endParaRPr lang="ar-TN" sz="1400" dirty="0"/>
          </a:p>
        </p:txBody>
      </p:sp>
      <p:sp>
        <p:nvSpPr>
          <p:cNvPr id="24" name="card-91"/>
          <p:cNvSpPr/>
          <p:nvPr/>
        </p:nvSpPr>
        <p:spPr>
          <a:xfrm>
            <a:off x="5257800" y="4654296"/>
            <a:ext cx="3127248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5" name="icon-bg-92"/>
          <p:cNvSpPr/>
          <p:nvPr/>
        </p:nvSpPr>
        <p:spPr>
          <a:xfrm>
            <a:off x="7680960" y="4873752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6" name="icon-9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4992624"/>
            <a:ext cx="237744" cy="237744"/>
          </a:xfrm>
          <a:prstGeom prst="rect">
            <a:avLst/>
          </a:prstGeom>
        </p:spPr>
      </p:pic>
      <p:sp>
        <p:nvSpPr>
          <p:cNvPr id="27" name="text-94"/>
          <p:cNvSpPr txBox="1"/>
          <p:nvPr/>
        </p:nvSpPr>
        <p:spPr>
          <a:xfrm>
            <a:off x="5486400" y="4855464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الطلبة التونسيون بالخارج: تُموَّل دراستهم بتحويلات من تونس، ولهم حق المنحة السياحية.</a:t>
            </a:r>
            <a:endParaRPr lang="ar-TN" sz="1400" dirty="0"/>
          </a:p>
        </p:txBody>
      </p:sp>
      <p:pic>
        <p:nvPicPr>
          <p:cNvPr id="28" name="3d-house-95" descr="hou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315834"/>
            <a:ext cx="4023360" cy="34906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من يُعتبر «غير مقيم» بصفة آلية؟</a:t>
            </a:r>
            <a:endParaRPr lang="ar-TN" sz="3000" dirty="0"/>
          </a:p>
        </p:txBody>
      </p:sp>
      <p:sp>
        <p:nvSpPr>
          <p:cNvPr id="3" name="text-96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أشخاص طبيعيون</a:t>
            </a:r>
            <a:endParaRPr lang="ar-TN" sz="1500" dirty="0"/>
          </a:p>
        </p:txBody>
      </p:sp>
      <p:sp>
        <p:nvSpPr>
          <p:cNvPr id="4" name="card-97"/>
          <p:cNvSpPr/>
          <p:nvPr/>
        </p:nvSpPr>
        <p:spPr>
          <a:xfrm>
            <a:off x="5257800" y="1691640"/>
            <a:ext cx="6382512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98"/>
          <p:cNvSpPr/>
          <p:nvPr/>
        </p:nvSpPr>
        <p:spPr>
          <a:xfrm>
            <a:off x="10908792" y="1911096"/>
            <a:ext cx="502920" cy="50292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9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522" y="2036826"/>
            <a:ext cx="251460" cy="251460"/>
          </a:xfrm>
          <a:prstGeom prst="rect">
            <a:avLst/>
          </a:prstGeom>
        </p:spPr>
      </p:pic>
      <p:sp>
        <p:nvSpPr>
          <p:cNvPr id="7" name="text-100"/>
          <p:cNvSpPr txBox="1"/>
          <p:nvPr/>
        </p:nvSpPr>
        <p:spPr>
          <a:xfrm>
            <a:off x="5486400" y="1892808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الأجانب القاطنون خارج تونس.</a:t>
            </a:r>
            <a:endParaRPr lang="ar-TN" sz="1400" dirty="0"/>
          </a:p>
        </p:txBody>
      </p:sp>
      <p:sp>
        <p:nvSpPr>
          <p:cNvPr id="8" name="card-101"/>
          <p:cNvSpPr/>
          <p:nvPr/>
        </p:nvSpPr>
        <p:spPr>
          <a:xfrm>
            <a:off x="5257800" y="2807208"/>
            <a:ext cx="6382512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102"/>
          <p:cNvSpPr/>
          <p:nvPr/>
        </p:nvSpPr>
        <p:spPr>
          <a:xfrm>
            <a:off x="10908792" y="3026664"/>
            <a:ext cx="502920" cy="50292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10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522" y="3152394"/>
            <a:ext cx="251460" cy="251460"/>
          </a:xfrm>
          <a:prstGeom prst="rect">
            <a:avLst/>
          </a:prstGeom>
        </p:spPr>
      </p:pic>
      <p:sp>
        <p:nvSpPr>
          <p:cNvPr id="11" name="text-104"/>
          <p:cNvSpPr txBox="1"/>
          <p:nvPr/>
        </p:nvSpPr>
        <p:spPr>
          <a:xfrm>
            <a:off x="5486400" y="3008376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الأجانب القاطنون بتونس أقل من سنتين، ولم يُعترف لهم بصفة «مقيم».</a:t>
            </a:r>
            <a:endParaRPr lang="ar-TN" sz="1400" dirty="0"/>
          </a:p>
        </p:txBody>
      </p:sp>
      <p:sp>
        <p:nvSpPr>
          <p:cNvPr id="12" name="card-105"/>
          <p:cNvSpPr/>
          <p:nvPr/>
        </p:nvSpPr>
        <p:spPr>
          <a:xfrm>
            <a:off x="5257800" y="3922776"/>
            <a:ext cx="6382512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icon-bg-106"/>
          <p:cNvSpPr/>
          <p:nvPr/>
        </p:nvSpPr>
        <p:spPr>
          <a:xfrm>
            <a:off x="10908792" y="4142232"/>
            <a:ext cx="502920" cy="50292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4" name="icon-10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522" y="4267962"/>
            <a:ext cx="251460" cy="251460"/>
          </a:xfrm>
          <a:prstGeom prst="rect">
            <a:avLst/>
          </a:prstGeom>
        </p:spPr>
      </p:pic>
      <p:sp>
        <p:nvSpPr>
          <p:cNvPr id="15" name="text-108"/>
          <p:cNvSpPr txBox="1"/>
          <p:nvPr/>
        </p:nvSpPr>
        <p:spPr>
          <a:xfrm>
            <a:off x="5486400" y="4123944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الدبلوماسيون الأجانب وموظفو المنظمات الدولية بتونس، ولو تجاوزت إقامتهم سنتين.</a:t>
            </a:r>
            <a:endParaRPr lang="ar-TN" sz="1400" dirty="0"/>
          </a:p>
        </p:txBody>
      </p:sp>
      <p:sp>
        <p:nvSpPr>
          <p:cNvPr id="16" name="card-109"/>
          <p:cNvSpPr/>
          <p:nvPr/>
        </p:nvSpPr>
        <p:spPr>
          <a:xfrm>
            <a:off x="5257800" y="5038344"/>
            <a:ext cx="6382512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7" name="icon-bg-110"/>
          <p:cNvSpPr/>
          <p:nvPr/>
        </p:nvSpPr>
        <p:spPr>
          <a:xfrm>
            <a:off x="10908792" y="5257800"/>
            <a:ext cx="502920" cy="50292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8" name="icon-11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4522" y="5383530"/>
            <a:ext cx="251460" cy="251460"/>
          </a:xfrm>
          <a:prstGeom prst="rect">
            <a:avLst/>
          </a:prstGeom>
        </p:spPr>
      </p:pic>
      <p:sp>
        <p:nvSpPr>
          <p:cNvPr id="19" name="text-112"/>
          <p:cNvSpPr txBox="1"/>
          <p:nvPr/>
        </p:nvSpPr>
        <p:spPr>
          <a:xfrm>
            <a:off x="5486400" y="5239512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التونسيون القاطنون بالخارج منذ سنتين على الأقل، ولهم هناك مركز عادي وغير مؤقت لأنشطتهم.</a:t>
            </a:r>
            <a:endParaRPr lang="ar-TN" sz="1400" dirty="0"/>
          </a:p>
        </p:txBody>
      </p:sp>
      <p:pic>
        <p:nvPicPr>
          <p:cNvPr id="20" name="3d-plane-113" descr="pla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813624"/>
            <a:ext cx="4206240" cy="2484056"/>
          </a:xfrm>
          <a:prstGeom prst="rect">
            <a:avLst/>
          </a:prstGeom>
        </p:spPr>
      </p:pic>
      <p:sp>
        <p:nvSpPr>
          <p:cNvPr id="21" name="card-114"/>
          <p:cNvSpPr/>
          <p:nvPr/>
        </p:nvSpPr>
        <p:spPr>
          <a:xfrm>
            <a:off x="960120" y="4572000"/>
            <a:ext cx="3657600" cy="1508760"/>
          </a:xfrm>
          <a:prstGeom prst="roundRect">
            <a:avLst>
              <a:gd name="adj" fmla="val 96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2" name="text-115"/>
          <p:cNvSpPr txBox="1"/>
          <p:nvPr/>
        </p:nvSpPr>
        <p:spPr>
          <a:xfrm>
            <a:off x="1143000" y="47365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400" b="1" dirty="0">
                <a:solidFill>
                  <a:schemeClr val="accent2"/>
                </a:solidFill>
              </a:rPr>
              <a:t>سنتان</a:t>
            </a:r>
            <a:endParaRPr lang="ar-TN" sz="3400" dirty="0"/>
          </a:p>
        </p:txBody>
      </p:sp>
      <p:sp>
        <p:nvSpPr>
          <p:cNvPr id="23" name="text-116"/>
          <p:cNvSpPr txBox="1"/>
          <p:nvPr/>
        </p:nvSpPr>
        <p:spPr>
          <a:xfrm>
            <a:off x="1143000" y="5440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المدّة الفاصلة في تحديد صفة الإقامة</a:t>
            </a:r>
            <a:endParaRPr lang="ar-T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حالة خاصة: التونسيون المقيمون بالخارج</a:t>
            </a:r>
            <a:endParaRPr lang="ar-TN" sz="3000" dirty="0"/>
          </a:p>
        </p:txBody>
      </p:sp>
      <p:sp>
        <p:nvSpPr>
          <p:cNvPr id="3" name="text-117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الجمع بين الصفتين</a:t>
            </a:r>
            <a:endParaRPr lang="ar-TN" sz="1500" dirty="0"/>
          </a:p>
        </p:txBody>
      </p:sp>
      <p:sp>
        <p:nvSpPr>
          <p:cNvPr id="4" name="text-118"/>
          <p:cNvSpPr txBox="1"/>
          <p:nvPr/>
        </p:nvSpPr>
        <p:spPr>
          <a:xfrm>
            <a:off x="5257800" y="1691640"/>
            <a:ext cx="6382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b="1" dirty="0">
                <a:solidFill>
                  <a:schemeClr val="tx1"/>
                </a:solidFill>
              </a:rPr>
              <a:t>يمكن للتونسيين غير المقيمين التمتّع بامتيازات صفة «مقيم» للقيام بعمليات مثل:</a:t>
            </a:r>
            <a:endParaRPr lang="ar-TN" sz="1600" dirty="0"/>
          </a:p>
        </p:txBody>
      </p:sp>
      <p:sp>
        <p:nvSpPr>
          <p:cNvPr id="5" name="card-119"/>
          <p:cNvSpPr/>
          <p:nvPr/>
        </p:nvSpPr>
        <p:spPr>
          <a:xfrm>
            <a:off x="8513064" y="2423160"/>
            <a:ext cx="3127248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6" name="icon-bg-120"/>
          <p:cNvSpPr/>
          <p:nvPr/>
        </p:nvSpPr>
        <p:spPr>
          <a:xfrm>
            <a:off x="11091672" y="2505456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7" name="icon-12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5972" y="2619756"/>
            <a:ext cx="228600" cy="228600"/>
          </a:xfrm>
          <a:prstGeom prst="rect">
            <a:avLst/>
          </a:prstGeom>
        </p:spPr>
      </p:pic>
      <p:sp>
        <p:nvSpPr>
          <p:cNvPr id="8" name="text-122"/>
          <p:cNvSpPr txBox="1"/>
          <p:nvPr/>
        </p:nvSpPr>
        <p:spPr>
          <a:xfrm>
            <a:off x="8695944" y="242316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50" b="1" dirty="0">
                <a:solidFill>
                  <a:schemeClr val="tx1"/>
                </a:solidFill>
              </a:rPr>
              <a:t>اقتناء عقارات في تونس</a:t>
            </a:r>
            <a:endParaRPr lang="ar-TN" sz="1350" dirty="0"/>
          </a:p>
        </p:txBody>
      </p:sp>
      <p:sp>
        <p:nvSpPr>
          <p:cNvPr id="9" name="card-123"/>
          <p:cNvSpPr/>
          <p:nvPr/>
        </p:nvSpPr>
        <p:spPr>
          <a:xfrm>
            <a:off x="5257800" y="2423160"/>
            <a:ext cx="3127248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0" name="icon-bg-124"/>
          <p:cNvSpPr/>
          <p:nvPr/>
        </p:nvSpPr>
        <p:spPr>
          <a:xfrm>
            <a:off x="7836408" y="2505456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1" name="icon-12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708" y="2619756"/>
            <a:ext cx="228600" cy="228600"/>
          </a:xfrm>
          <a:prstGeom prst="rect">
            <a:avLst/>
          </a:prstGeom>
        </p:spPr>
      </p:pic>
      <p:sp>
        <p:nvSpPr>
          <p:cNvPr id="12" name="text-126"/>
          <p:cNvSpPr txBox="1"/>
          <p:nvPr/>
        </p:nvSpPr>
        <p:spPr>
          <a:xfrm>
            <a:off x="5440680" y="242316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50" b="1" dirty="0">
                <a:solidFill>
                  <a:schemeClr val="tx1"/>
                </a:solidFill>
              </a:rPr>
              <a:t>شراء أسهم أو حصص</a:t>
            </a:r>
            <a:endParaRPr lang="ar-TN" sz="1350" dirty="0"/>
          </a:p>
        </p:txBody>
      </p:sp>
      <p:sp>
        <p:nvSpPr>
          <p:cNvPr id="13" name="card-127"/>
          <p:cNvSpPr/>
          <p:nvPr/>
        </p:nvSpPr>
        <p:spPr>
          <a:xfrm>
            <a:off x="8513064" y="3172968"/>
            <a:ext cx="3127248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4" name="icon-bg-128"/>
          <p:cNvSpPr/>
          <p:nvPr/>
        </p:nvSpPr>
        <p:spPr>
          <a:xfrm>
            <a:off x="11091672" y="3255264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5" name="icon-1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5972" y="3369564"/>
            <a:ext cx="228600" cy="228600"/>
          </a:xfrm>
          <a:prstGeom prst="rect">
            <a:avLst/>
          </a:prstGeom>
        </p:spPr>
      </p:pic>
      <p:sp>
        <p:nvSpPr>
          <p:cNvPr id="16" name="text-130"/>
          <p:cNvSpPr txBox="1"/>
          <p:nvPr/>
        </p:nvSpPr>
        <p:spPr>
          <a:xfrm>
            <a:off x="8695944" y="3172968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50" b="1" dirty="0">
                <a:solidFill>
                  <a:schemeClr val="tx1"/>
                </a:solidFill>
              </a:rPr>
              <a:t>قروض بالدينار (مثل قروض السكن)</a:t>
            </a:r>
            <a:endParaRPr lang="ar-TN" sz="1350" dirty="0"/>
          </a:p>
        </p:txBody>
      </p:sp>
      <p:sp>
        <p:nvSpPr>
          <p:cNvPr id="17" name="card-131"/>
          <p:cNvSpPr/>
          <p:nvPr/>
        </p:nvSpPr>
        <p:spPr>
          <a:xfrm>
            <a:off x="5257800" y="3172968"/>
            <a:ext cx="3127248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8" name="icon-bg-132"/>
          <p:cNvSpPr/>
          <p:nvPr/>
        </p:nvSpPr>
        <p:spPr>
          <a:xfrm>
            <a:off x="7836408" y="3255264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9" name="icon-13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708" y="3369564"/>
            <a:ext cx="228600" cy="228600"/>
          </a:xfrm>
          <a:prstGeom prst="rect">
            <a:avLst/>
          </a:prstGeom>
        </p:spPr>
      </p:pic>
      <p:sp>
        <p:nvSpPr>
          <p:cNvPr id="20" name="text-134"/>
          <p:cNvSpPr txBox="1"/>
          <p:nvPr/>
        </p:nvSpPr>
        <p:spPr>
          <a:xfrm>
            <a:off x="5440680" y="3172968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50" b="1" dirty="0">
                <a:solidFill>
                  <a:schemeClr val="tx1"/>
                </a:solidFill>
              </a:rPr>
              <a:t>فتح حسابات بالدينار</a:t>
            </a:r>
            <a:endParaRPr lang="ar-TN" sz="1350" dirty="0"/>
          </a:p>
        </p:txBody>
      </p:sp>
      <p:sp>
        <p:nvSpPr>
          <p:cNvPr id="21" name="card-135"/>
          <p:cNvSpPr/>
          <p:nvPr/>
        </p:nvSpPr>
        <p:spPr>
          <a:xfrm>
            <a:off x="8513064" y="3922776"/>
            <a:ext cx="3127248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2" name="icon-bg-136"/>
          <p:cNvSpPr/>
          <p:nvPr/>
        </p:nvSpPr>
        <p:spPr>
          <a:xfrm>
            <a:off x="11091672" y="4005072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3" name="icon-13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5972" y="4119372"/>
            <a:ext cx="228600" cy="228600"/>
          </a:xfrm>
          <a:prstGeom prst="rect">
            <a:avLst/>
          </a:prstGeom>
        </p:spPr>
      </p:pic>
      <p:sp>
        <p:nvSpPr>
          <p:cNvPr id="24" name="text-138"/>
          <p:cNvSpPr txBox="1"/>
          <p:nvPr/>
        </p:nvSpPr>
        <p:spPr>
          <a:xfrm>
            <a:off x="8695944" y="3922776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50" b="1" dirty="0">
                <a:solidFill>
                  <a:schemeClr val="tx1"/>
                </a:solidFill>
              </a:rPr>
              <a:t>إدارة أعمالهم في تونس</a:t>
            </a:r>
            <a:endParaRPr lang="ar-TN" sz="1350" dirty="0"/>
          </a:p>
        </p:txBody>
      </p:sp>
      <p:sp>
        <p:nvSpPr>
          <p:cNvPr id="25" name="card-139"/>
          <p:cNvSpPr/>
          <p:nvPr/>
        </p:nvSpPr>
        <p:spPr>
          <a:xfrm>
            <a:off x="5257800" y="4754880"/>
            <a:ext cx="6382512" cy="1325880"/>
          </a:xfrm>
          <a:prstGeom prst="roundRect">
            <a:avLst>
              <a:gd name="adj" fmla="val 11034"/>
            </a:avLst>
          </a:prstGeom>
          <a:solidFill>
            <a:schemeClr val="bg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26" name="icon-bg-140"/>
          <p:cNvSpPr/>
          <p:nvPr/>
        </p:nvSpPr>
        <p:spPr>
          <a:xfrm>
            <a:off x="10908792" y="4937760"/>
            <a:ext cx="502920" cy="50292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7" name="icon-14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4522" y="5063490"/>
            <a:ext cx="251460" cy="251460"/>
          </a:xfrm>
          <a:prstGeom prst="rect">
            <a:avLst/>
          </a:prstGeom>
        </p:spPr>
      </p:pic>
      <p:sp>
        <p:nvSpPr>
          <p:cNvPr id="28" name="text-142"/>
          <p:cNvSpPr txBox="1"/>
          <p:nvPr/>
        </p:nvSpPr>
        <p:spPr>
          <a:xfrm>
            <a:off x="5486400" y="489204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يُحتفظ بهذا الامتياز </a:t>
            </a:r>
            <a:pPr rtl="1" algn="r" indent="0" marL="0">
              <a:buNone/>
            </a:pPr>
            <a:r>
              <a:rPr lang="ar-TN" altLang="en-US" sz="1350" b="1" dirty="0">
                <a:solidFill>
                  <a:schemeClr val="tx1"/>
                </a:solidFill>
              </a:rPr>
              <a:t>حتى بعد العودة النهائية إلى تونس</a:t>
            </a:r>
            <a:pPr rtl="1" algn="r" indent="0" marL="0"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 بالنسبة للأصول المكوَّنة بالخارج قبل تاريخ تغيير الإقامة — المرسوم عدد 98 لسنة 2011.</a:t>
            </a:r>
            <a:endParaRPr lang="ar-TN" sz="1350" dirty="0"/>
          </a:p>
        </p:txBody>
      </p:sp>
      <p:pic>
        <p:nvPicPr>
          <p:cNvPr id="29" name="3d-passport-143" descr="passpo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327606"/>
            <a:ext cx="4206240" cy="343311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الأشخاص المعنويون: الشركات والمؤسسات</a:t>
            </a:r>
            <a:endParaRPr lang="ar-TN" sz="3000" dirty="0"/>
          </a:p>
        </p:txBody>
      </p:sp>
      <p:sp>
        <p:nvSpPr>
          <p:cNvPr id="3" name="card-144"/>
          <p:cNvSpPr/>
          <p:nvPr/>
        </p:nvSpPr>
        <p:spPr>
          <a:xfrm>
            <a:off x="5257800" y="1417320"/>
            <a:ext cx="6382512" cy="1600200"/>
          </a:xfrm>
          <a:prstGeom prst="roundRect">
            <a:avLst>
              <a:gd name="adj" fmla="val 9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icon-bg-145"/>
          <p:cNvSpPr/>
          <p:nvPr/>
        </p:nvSpPr>
        <p:spPr>
          <a:xfrm>
            <a:off x="10844784" y="163677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5" name="icon-14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516" y="1778508"/>
            <a:ext cx="283464" cy="283464"/>
          </a:xfrm>
          <a:prstGeom prst="rect">
            <a:avLst/>
          </a:prstGeom>
        </p:spPr>
      </p:pic>
      <p:sp>
        <p:nvSpPr>
          <p:cNvPr id="6" name="text-147"/>
          <p:cNvSpPr txBox="1"/>
          <p:nvPr/>
        </p:nvSpPr>
        <p:spPr>
          <a:xfrm>
            <a:off x="5486400" y="1618488"/>
            <a:ext cx="5129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القاعدة: تُعتبر مقيمة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كل الأشخاص المعنوية التي يقع مقرّها الاجتماعي في تونس، والمؤسسات التابعة لأشخاص معنويين أجانب بالنسبة لمنشآتها في تونس الخاضعة لـ«باتيندة» (المعرّف الجبائي).</a:t>
            </a:r>
            <a:endParaRPr lang="ar-TN" sz="1400" dirty="0"/>
          </a:p>
        </p:txBody>
      </p:sp>
      <p:sp>
        <p:nvSpPr>
          <p:cNvPr id="7" name="text-148"/>
          <p:cNvSpPr txBox="1"/>
          <p:nvPr/>
        </p:nvSpPr>
        <p:spPr>
          <a:xfrm>
            <a:off x="5257800" y="3200400"/>
            <a:ext cx="6382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accent2"/>
                </a:solidFill>
              </a:rPr>
              <a:t>استثناء — الشركات غير المقيمة: </a:t>
            </a:r>
            <a:pPr rtl="1" algn="r" indent="0" marL="0"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لتشجيع الاستثمار الأجنبي، يمكن للشركة اختيار صفة «غير مقيم» رغم مقرّها في تونس إذا توفرت الشروط التراكمية التالية:</a:t>
            </a:r>
            <a:endParaRPr lang="ar-TN" sz="1400" dirty="0"/>
          </a:p>
        </p:txBody>
      </p:sp>
      <p:sp>
        <p:nvSpPr>
          <p:cNvPr id="8" name="card-149"/>
          <p:cNvSpPr/>
          <p:nvPr/>
        </p:nvSpPr>
        <p:spPr>
          <a:xfrm>
            <a:off x="9628632" y="4160520"/>
            <a:ext cx="2011680" cy="192024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badge-150"/>
          <p:cNvSpPr/>
          <p:nvPr/>
        </p:nvSpPr>
        <p:spPr>
          <a:xfrm>
            <a:off x="10360152" y="4315968"/>
            <a:ext cx="548640" cy="54864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0" name="badge-txt-151"/>
          <p:cNvSpPr txBox="1"/>
          <p:nvPr/>
        </p:nvSpPr>
        <p:spPr>
          <a:xfrm>
            <a:off x="10360152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-152"/>
          <p:cNvSpPr txBox="1"/>
          <p:nvPr/>
        </p:nvSpPr>
        <p:spPr>
          <a:xfrm>
            <a:off x="9765792" y="495604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tx1"/>
                </a:solidFill>
              </a:rPr>
              <a:t>حصة غير المقيمين في رأس المال ≥ 66%</a:t>
            </a:r>
            <a:endParaRPr lang="ar-TN" sz="1300" dirty="0"/>
          </a:p>
        </p:txBody>
      </p:sp>
      <p:sp>
        <p:nvSpPr>
          <p:cNvPr id="12" name="card-153"/>
          <p:cNvSpPr/>
          <p:nvPr/>
        </p:nvSpPr>
        <p:spPr>
          <a:xfrm>
            <a:off x="7443216" y="4160520"/>
            <a:ext cx="2011680" cy="192024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badge-154"/>
          <p:cNvSpPr/>
          <p:nvPr/>
        </p:nvSpPr>
        <p:spPr>
          <a:xfrm>
            <a:off x="8174736" y="4315968"/>
            <a:ext cx="548640" cy="54864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4" name="badge-txt-155"/>
          <p:cNvSpPr txBox="1"/>
          <p:nvPr/>
        </p:nvSpPr>
        <p:spPr>
          <a:xfrm>
            <a:off x="8174736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-156"/>
          <p:cNvSpPr txBox="1"/>
          <p:nvPr/>
        </p:nvSpPr>
        <p:spPr>
          <a:xfrm>
            <a:off x="7580376" y="495604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tx1"/>
                </a:solidFill>
              </a:rPr>
              <a:t>تمويلها بتوريد عملات قابلة للتحويل (بطاقة استثمار)</a:t>
            </a:r>
            <a:endParaRPr lang="ar-TN" sz="1300" dirty="0"/>
          </a:p>
        </p:txBody>
      </p:sp>
      <p:sp>
        <p:nvSpPr>
          <p:cNvPr id="16" name="card-157"/>
          <p:cNvSpPr/>
          <p:nvPr/>
        </p:nvSpPr>
        <p:spPr>
          <a:xfrm>
            <a:off x="5257800" y="4160520"/>
            <a:ext cx="2011680" cy="192024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7" name="badge-158"/>
          <p:cNvSpPr/>
          <p:nvPr/>
        </p:nvSpPr>
        <p:spPr>
          <a:xfrm>
            <a:off x="5989320" y="4315968"/>
            <a:ext cx="548640" cy="54864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8" name="badge-txt-159"/>
          <p:cNvSpPr txBox="1"/>
          <p:nvPr/>
        </p:nvSpPr>
        <p:spPr>
          <a:xfrm>
            <a:off x="598932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-160"/>
          <p:cNvSpPr txBox="1"/>
          <p:nvPr/>
        </p:nvSpPr>
        <p:spPr>
          <a:xfrm>
            <a:off x="5394960" y="495604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tx1"/>
                </a:solidFill>
              </a:rPr>
              <a:t>نشاط موجَّه كليًا للتصدير</a:t>
            </a:r>
            <a:endParaRPr lang="ar-TN" sz="1300" dirty="0"/>
          </a:p>
        </p:txBody>
      </p:sp>
      <p:pic>
        <p:nvPicPr>
          <p:cNvPr id="20" name="3d-towers-161" descr="tow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73949"/>
            <a:ext cx="4023360" cy="37239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162"/>
          <p:cNvSpPr/>
          <p:nvPr/>
        </p:nvSpPr>
        <p:spPr>
          <a:xfrm>
            <a:off x="9445752" y="1828800"/>
            <a:ext cx="2194560" cy="5303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3" name="text-163"/>
          <p:cNvSpPr txBox="1"/>
          <p:nvPr/>
        </p:nvSpPr>
        <p:spPr>
          <a:xfrm>
            <a:off x="9555480" y="1828800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bg1"/>
                </a:solidFill>
              </a:rPr>
              <a:t>المحور الثاني</a:t>
            </a:r>
            <a:endParaRPr lang="ar-TN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0" y="2514600"/>
            <a:ext cx="5239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3600" b="1" dirty="0">
                <a:solidFill>
                  <a:schemeClr val="tx1"/>
                </a:solidFill>
              </a:rPr>
              <a:t>شروط توريد وتصدير الأوراق النقدية الأجنبية ووسائل الدفع</a:t>
            </a:r>
            <a:endParaRPr lang="ar-TN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0" y="4343400"/>
            <a:ext cx="5239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dirty="0">
                <a:solidFill>
                  <a:schemeClr val="accent5"/>
                </a:solidFill>
              </a:rPr>
              <a:t>التوريد والتفويت · مكافحة غسل الأموال · إعادة التصدير · التصريح الديواني ورخصة التصدير</a:t>
            </a:r>
            <a:endParaRPr lang="ar-TN" sz="1600" dirty="0"/>
          </a:p>
        </p:txBody>
      </p:sp>
      <p:pic>
        <p:nvPicPr>
          <p:cNvPr id="6" name="3d-suitcase-164" descr="suitc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42230"/>
            <a:ext cx="3840480" cy="35441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شروط التوريد والتفويت في الأوراق النقدية الأجنبية</a:t>
            </a:r>
            <a:endParaRPr lang="ar-TN" sz="3000" dirty="0"/>
          </a:p>
        </p:txBody>
      </p:sp>
      <p:sp>
        <p:nvSpPr>
          <p:cNvPr id="3" name="card-165"/>
          <p:cNvSpPr/>
          <p:nvPr/>
        </p:nvSpPr>
        <p:spPr>
          <a:xfrm>
            <a:off x="5257800" y="1463040"/>
            <a:ext cx="6382512" cy="1600200"/>
          </a:xfrm>
          <a:prstGeom prst="roundRect">
            <a:avLst>
              <a:gd name="adj" fmla="val 9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icon-bg-166"/>
          <p:cNvSpPr/>
          <p:nvPr/>
        </p:nvSpPr>
        <p:spPr>
          <a:xfrm>
            <a:off x="10844784" y="16824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5" name="icon-16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516" y="1824228"/>
            <a:ext cx="283464" cy="283464"/>
          </a:xfrm>
          <a:prstGeom prst="rect">
            <a:avLst/>
          </a:prstGeom>
        </p:spPr>
      </p:pic>
      <p:sp>
        <p:nvSpPr>
          <p:cNvPr id="6" name="text-168"/>
          <p:cNvSpPr txBox="1"/>
          <p:nvPr/>
        </p:nvSpPr>
        <p:spPr>
          <a:xfrm>
            <a:off x="5486400" y="1664208"/>
            <a:ext cx="5129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700" b="1" dirty="0">
                <a:solidFill>
                  <a:schemeClr val="tx1"/>
                </a:solidFill>
              </a:rPr>
              <a:t>مبدأ حرية التوريد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يكرّس القانون حرية توريد وسائل الدفع من قبل المسافرين، مقيمين كانوا أو غير مقيمين.</a:t>
            </a:r>
            <a:endParaRPr lang="ar-TN" sz="1400" dirty="0"/>
          </a:p>
        </p:txBody>
      </p:sp>
      <p:sp>
        <p:nvSpPr>
          <p:cNvPr id="7" name="card-169"/>
          <p:cNvSpPr/>
          <p:nvPr/>
        </p:nvSpPr>
        <p:spPr>
          <a:xfrm>
            <a:off x="5257800" y="3246120"/>
            <a:ext cx="6382512" cy="1600200"/>
          </a:xfrm>
          <a:prstGeom prst="roundRect">
            <a:avLst>
              <a:gd name="adj" fmla="val 9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8" name="icon-bg-170"/>
          <p:cNvSpPr/>
          <p:nvPr/>
        </p:nvSpPr>
        <p:spPr>
          <a:xfrm>
            <a:off x="10844784" y="346557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9" name="icon-17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516" y="3607308"/>
            <a:ext cx="283464" cy="283464"/>
          </a:xfrm>
          <a:prstGeom prst="rect">
            <a:avLst/>
          </a:prstGeom>
        </p:spPr>
      </p:pic>
      <p:sp>
        <p:nvSpPr>
          <p:cNvPr id="10" name="text-172"/>
          <p:cNvSpPr txBox="1"/>
          <p:nvPr/>
        </p:nvSpPr>
        <p:spPr>
          <a:xfrm>
            <a:off x="5486400" y="3447288"/>
            <a:ext cx="5129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700" b="1" dirty="0">
                <a:solidFill>
                  <a:schemeClr val="tx1"/>
                </a:solidFill>
              </a:rPr>
              <a:t>دون تبرير لمصدر الأموال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لا يُلزم المسافر بتبرير مصدر الأموال إذا كان التوريد متبوعًا بتفويت، أي بيع العملة مقابل الدينار.</a:t>
            </a:r>
            <a:endParaRPr lang="ar-TN" sz="1400" dirty="0"/>
          </a:p>
        </p:txBody>
      </p:sp>
      <p:sp>
        <p:nvSpPr>
          <p:cNvPr id="11" name="card-173"/>
          <p:cNvSpPr/>
          <p:nvPr/>
        </p:nvSpPr>
        <p:spPr>
          <a:xfrm>
            <a:off x="10177272" y="5074920"/>
            <a:ext cx="1463040" cy="100584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2" name="icon-bg-174"/>
          <p:cNvSpPr/>
          <p:nvPr/>
        </p:nvSpPr>
        <p:spPr>
          <a:xfrm>
            <a:off x="11091672" y="5303520"/>
            <a:ext cx="438912" cy="438912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3" name="icon-17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5413248"/>
            <a:ext cx="219456" cy="219456"/>
          </a:xfrm>
          <a:prstGeom prst="rect">
            <a:avLst/>
          </a:prstGeom>
        </p:spPr>
      </p:pic>
      <p:sp>
        <p:nvSpPr>
          <p:cNvPr id="14" name="text-176"/>
          <p:cNvSpPr txBox="1"/>
          <p:nvPr/>
        </p:nvSpPr>
        <p:spPr>
          <a:xfrm>
            <a:off x="10287000" y="50749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شيكات</a:t>
            </a:r>
            <a:endParaRPr lang="ar-TN" sz="1400" dirty="0"/>
          </a:p>
        </p:txBody>
      </p:sp>
      <p:sp>
        <p:nvSpPr>
          <p:cNvPr id="15" name="card-177"/>
          <p:cNvSpPr/>
          <p:nvPr/>
        </p:nvSpPr>
        <p:spPr>
          <a:xfrm>
            <a:off x="8537753" y="5074920"/>
            <a:ext cx="1463040" cy="100584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6" name="icon-bg-178"/>
          <p:cNvSpPr/>
          <p:nvPr/>
        </p:nvSpPr>
        <p:spPr>
          <a:xfrm>
            <a:off x="9452153" y="5303520"/>
            <a:ext cx="438912" cy="438912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7" name="icon-17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881" y="5413248"/>
            <a:ext cx="219456" cy="219456"/>
          </a:xfrm>
          <a:prstGeom prst="rect">
            <a:avLst/>
          </a:prstGeom>
        </p:spPr>
      </p:pic>
      <p:sp>
        <p:nvSpPr>
          <p:cNvPr id="18" name="text-180"/>
          <p:cNvSpPr txBox="1"/>
          <p:nvPr/>
        </p:nvSpPr>
        <p:spPr>
          <a:xfrm>
            <a:off x="8647481" y="50749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تحويلات</a:t>
            </a:r>
            <a:endParaRPr lang="ar-TN" sz="1400" dirty="0"/>
          </a:p>
        </p:txBody>
      </p:sp>
      <p:sp>
        <p:nvSpPr>
          <p:cNvPr id="19" name="card-181"/>
          <p:cNvSpPr/>
          <p:nvPr/>
        </p:nvSpPr>
        <p:spPr>
          <a:xfrm>
            <a:off x="6898234" y="5074920"/>
            <a:ext cx="1463040" cy="100584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0" name="icon-bg-182"/>
          <p:cNvSpPr/>
          <p:nvPr/>
        </p:nvSpPr>
        <p:spPr>
          <a:xfrm>
            <a:off x="7812634" y="5303520"/>
            <a:ext cx="438912" cy="438912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1" name="icon-18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2362" y="5413248"/>
            <a:ext cx="219456" cy="219456"/>
          </a:xfrm>
          <a:prstGeom prst="rect">
            <a:avLst/>
          </a:prstGeom>
        </p:spPr>
      </p:pic>
      <p:sp>
        <p:nvSpPr>
          <p:cNvPr id="22" name="text-184"/>
          <p:cNvSpPr txBox="1"/>
          <p:nvPr/>
        </p:nvSpPr>
        <p:spPr>
          <a:xfrm>
            <a:off x="7007962" y="50749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نقود</a:t>
            </a:r>
            <a:endParaRPr lang="ar-TN" sz="1400" dirty="0"/>
          </a:p>
        </p:txBody>
      </p:sp>
      <p:sp>
        <p:nvSpPr>
          <p:cNvPr id="23" name="card-185"/>
          <p:cNvSpPr/>
          <p:nvPr/>
        </p:nvSpPr>
        <p:spPr>
          <a:xfrm>
            <a:off x="5258714" y="5074920"/>
            <a:ext cx="1463040" cy="100584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4" name="icon-bg-186"/>
          <p:cNvSpPr/>
          <p:nvPr/>
        </p:nvSpPr>
        <p:spPr>
          <a:xfrm>
            <a:off x="6173114" y="5303520"/>
            <a:ext cx="438912" cy="438912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5" name="icon-18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2842" y="5413248"/>
            <a:ext cx="219456" cy="219456"/>
          </a:xfrm>
          <a:prstGeom prst="rect">
            <a:avLst/>
          </a:prstGeom>
        </p:spPr>
      </p:pic>
      <p:sp>
        <p:nvSpPr>
          <p:cNvPr id="26" name="text-188"/>
          <p:cNvSpPr txBox="1"/>
          <p:nvPr/>
        </p:nvSpPr>
        <p:spPr>
          <a:xfrm>
            <a:off x="5368442" y="507492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بطاقات</a:t>
            </a:r>
            <a:endParaRPr lang="ar-TN" sz="1400" dirty="0"/>
          </a:p>
        </p:txBody>
      </p:sp>
      <p:pic>
        <p:nvPicPr>
          <p:cNvPr id="27" name="3d-banknotes-189" descr="banknot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176690"/>
            <a:ext cx="4297680" cy="24011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مكافحة غسل الأموال وتمويل الإرهاب</a:t>
            </a:r>
            <a:endParaRPr lang="ar-TN" sz="3000" dirty="0"/>
          </a:p>
        </p:txBody>
      </p:sp>
      <p:sp>
        <p:nvSpPr>
          <p:cNvPr id="3" name="text-190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القانون عدد 26 لسنة 2015</a:t>
            </a:r>
            <a:endParaRPr lang="ar-TN" sz="1500" dirty="0"/>
          </a:p>
        </p:txBody>
      </p:sp>
      <p:sp>
        <p:nvSpPr>
          <p:cNvPr id="4" name="card-191"/>
          <p:cNvSpPr/>
          <p:nvPr/>
        </p:nvSpPr>
        <p:spPr>
          <a:xfrm>
            <a:off x="5257800" y="1737360"/>
            <a:ext cx="6382512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text-192"/>
          <p:cNvSpPr txBox="1"/>
          <p:nvPr/>
        </p:nvSpPr>
        <p:spPr>
          <a:xfrm>
            <a:off x="5440680" y="1901952"/>
            <a:ext cx="6016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400" b="1" dirty="0">
                <a:solidFill>
                  <a:schemeClr val="accent2"/>
                </a:solidFill>
              </a:rPr>
              <a:t>20,000 دينار تونسي</a:t>
            </a:r>
            <a:endParaRPr lang="ar-TN" sz="3400" dirty="0"/>
          </a:p>
        </p:txBody>
      </p:sp>
      <p:sp>
        <p:nvSpPr>
          <p:cNvPr id="6" name="text-193"/>
          <p:cNvSpPr txBox="1"/>
          <p:nvPr/>
        </p:nvSpPr>
        <p:spPr>
          <a:xfrm>
            <a:off x="5440680" y="2606040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عتبة التصريح الديواني الوجوبي — تساوي أو تفوق</a:t>
            </a:r>
            <a:endParaRPr lang="ar-TN" sz="1400" dirty="0"/>
          </a:p>
        </p:txBody>
      </p:sp>
      <p:sp>
        <p:nvSpPr>
          <p:cNvPr id="7" name="card-194"/>
          <p:cNvSpPr/>
          <p:nvPr/>
        </p:nvSpPr>
        <p:spPr>
          <a:xfrm>
            <a:off x="5257800" y="3337560"/>
            <a:ext cx="6382512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8" name="icon-bg-195"/>
          <p:cNvSpPr/>
          <p:nvPr/>
        </p:nvSpPr>
        <p:spPr>
          <a:xfrm>
            <a:off x="10844784" y="355701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9" name="icon-19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516" y="3698748"/>
            <a:ext cx="283464" cy="283464"/>
          </a:xfrm>
          <a:prstGeom prst="rect">
            <a:avLst/>
          </a:prstGeom>
        </p:spPr>
      </p:pic>
      <p:sp>
        <p:nvSpPr>
          <p:cNvPr id="10" name="text-197"/>
          <p:cNvSpPr txBox="1"/>
          <p:nvPr/>
        </p:nvSpPr>
        <p:spPr>
          <a:xfrm>
            <a:off x="5486400" y="3538728"/>
            <a:ext cx="5129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التصريح الديواني (Déclaration en Douane)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يخضع له كل توريد أو تصدير لعملات أجنبية بهذه القيمة أو أكثر، عند الدخول أو الخروج أو العبور.</a:t>
            </a:r>
            <a:endParaRPr lang="ar-TN" sz="1400" dirty="0"/>
          </a:p>
        </p:txBody>
      </p:sp>
      <p:sp>
        <p:nvSpPr>
          <p:cNvPr id="11" name="card-198"/>
          <p:cNvSpPr/>
          <p:nvPr/>
        </p:nvSpPr>
        <p:spPr>
          <a:xfrm>
            <a:off x="5257800" y="4800600"/>
            <a:ext cx="6382512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2" name="icon-bg-199"/>
          <p:cNvSpPr/>
          <p:nvPr/>
        </p:nvSpPr>
        <p:spPr>
          <a:xfrm>
            <a:off x="10844784" y="502005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3" name="icon-20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516" y="5161788"/>
            <a:ext cx="283464" cy="283464"/>
          </a:xfrm>
          <a:prstGeom prst="rect">
            <a:avLst/>
          </a:prstGeom>
        </p:spPr>
      </p:pic>
      <p:sp>
        <p:nvSpPr>
          <p:cNvPr id="14" name="text-201"/>
          <p:cNvSpPr txBox="1"/>
          <p:nvPr/>
        </p:nvSpPr>
        <p:spPr>
          <a:xfrm>
            <a:off x="5486400" y="5001768"/>
            <a:ext cx="5129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واجب التحقّق من الهوية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على الوسطاء المقبولين (البنوك ومكاتب الصرف) التحقق من هوية كل شخص يُجري عمليات نقدية بهذا المبلغ أو أكثر.</a:t>
            </a:r>
            <a:endParaRPr lang="ar-TN" sz="1400" dirty="0"/>
          </a:p>
        </p:txBody>
      </p:sp>
      <p:pic>
        <p:nvPicPr>
          <p:cNvPr id="15" name="3d-shield-202" descr="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94838"/>
            <a:ext cx="4206240" cy="32116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إعادة تصدير العملات المورَّدة دون صرفها</a:t>
            </a:r>
            <a:endParaRPr lang="ar-TN" sz="3000" dirty="0"/>
          </a:p>
        </p:txBody>
      </p:sp>
      <p:sp>
        <p:nvSpPr>
          <p:cNvPr id="3" name="text-203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لغير المقيمين — حسب المبلغ</a:t>
            </a:r>
            <a:endParaRPr lang="ar-TN" sz="1500" dirty="0"/>
          </a:p>
        </p:txBody>
      </p:sp>
      <p:sp>
        <p:nvSpPr>
          <p:cNvPr id="4" name="card-204"/>
          <p:cNvSpPr/>
          <p:nvPr/>
        </p:nvSpPr>
        <p:spPr>
          <a:xfrm>
            <a:off x="9628632" y="3566160"/>
            <a:ext cx="2011680" cy="251460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step-head-205"/>
          <p:cNvSpPr/>
          <p:nvPr/>
        </p:nvSpPr>
        <p:spPr>
          <a:xfrm>
            <a:off x="9765792" y="3703320"/>
            <a:ext cx="1737360" cy="6858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6" name="text-206"/>
          <p:cNvSpPr txBox="1"/>
          <p:nvPr/>
        </p:nvSpPr>
        <p:spPr>
          <a:xfrm>
            <a:off x="9811512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50" b="1" dirty="0">
                <a:solidFill>
                  <a:schemeClr val="bg1"/>
                </a:solidFill>
              </a:rPr>
              <a:t>أقل من 5,000 د</a:t>
            </a:r>
            <a:endParaRPr lang="ar-TN" sz="1450" dirty="0"/>
          </a:p>
        </p:txBody>
      </p:sp>
      <p:sp>
        <p:nvSpPr>
          <p:cNvPr id="7" name="text-207"/>
          <p:cNvSpPr txBox="1"/>
          <p:nvPr/>
        </p:nvSpPr>
        <p:spPr>
          <a:xfrm>
            <a:off x="9811512" y="452628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إعادة تصدير المبالغ المتبقية دون تقديم أي مبرّرات.</a:t>
            </a:r>
            <a:endParaRPr lang="ar-TN" sz="1250" dirty="0"/>
          </a:p>
        </p:txBody>
      </p:sp>
      <p:sp>
        <p:nvSpPr>
          <p:cNvPr id="8" name="card-208"/>
          <p:cNvSpPr/>
          <p:nvPr/>
        </p:nvSpPr>
        <p:spPr>
          <a:xfrm>
            <a:off x="7443216" y="3017520"/>
            <a:ext cx="2011680" cy="30632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step-head-209"/>
          <p:cNvSpPr/>
          <p:nvPr/>
        </p:nvSpPr>
        <p:spPr>
          <a:xfrm>
            <a:off x="7580376" y="3154680"/>
            <a:ext cx="173736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0" name="text-210"/>
          <p:cNvSpPr txBox="1"/>
          <p:nvPr/>
        </p:nvSpPr>
        <p:spPr>
          <a:xfrm>
            <a:off x="7626096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50" b="1" dirty="0">
                <a:solidFill>
                  <a:schemeClr val="bg1"/>
                </a:solidFill>
              </a:rPr>
              <a:t>من 5,000 د (عمليًا)</a:t>
            </a:r>
            <a:endParaRPr lang="ar-TN" sz="1450" dirty="0"/>
          </a:p>
        </p:txBody>
      </p:sp>
      <p:sp>
        <p:nvSpPr>
          <p:cNvPr id="11" name="text-211"/>
          <p:cNvSpPr txBox="1"/>
          <p:nvPr/>
        </p:nvSpPr>
        <p:spPr>
          <a:xfrm>
            <a:off x="7626096" y="3977640"/>
            <a:ext cx="1645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تطلب البنوك التصريح الديواني لعمليات إعادة شراء العملة.</a:t>
            </a:r>
            <a:endParaRPr lang="ar-TN" sz="1250" dirty="0"/>
          </a:p>
        </p:txBody>
      </p:sp>
      <p:sp>
        <p:nvSpPr>
          <p:cNvPr id="12" name="card-212"/>
          <p:cNvSpPr/>
          <p:nvPr/>
        </p:nvSpPr>
        <p:spPr>
          <a:xfrm>
            <a:off x="5257800" y="2468880"/>
            <a:ext cx="2011680" cy="361188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step-head-213"/>
          <p:cNvSpPr/>
          <p:nvPr/>
        </p:nvSpPr>
        <p:spPr>
          <a:xfrm>
            <a:off x="5394960" y="2606040"/>
            <a:ext cx="173736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4" name="text-214"/>
          <p:cNvSpPr txBox="1"/>
          <p:nvPr/>
        </p:nvSpPr>
        <p:spPr>
          <a:xfrm>
            <a:off x="5440680" y="26060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50" b="1" dirty="0">
                <a:solidFill>
                  <a:schemeClr val="bg1"/>
                </a:solidFill>
              </a:rPr>
              <a:t>20,000 د فما فوق</a:t>
            </a:r>
            <a:endParaRPr lang="ar-TN" sz="1450" dirty="0"/>
          </a:p>
        </p:txBody>
      </p:sp>
      <p:sp>
        <p:nvSpPr>
          <p:cNvPr id="15" name="text-215"/>
          <p:cNvSpPr txBox="1"/>
          <p:nvPr/>
        </p:nvSpPr>
        <p:spPr>
          <a:xfrm>
            <a:off x="5440680" y="3429000"/>
            <a:ext cx="1645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تصريح توريد عملة مؤشَّر عليه من الديوانة، ساري المفعول، يغطي المبلغ المراد إعادة تصديره.</a:t>
            </a:r>
            <a:endParaRPr lang="ar-TN" sz="1250" dirty="0"/>
          </a:p>
        </p:txBody>
      </p:sp>
      <p:pic>
        <p:nvPicPr>
          <p:cNvPr id="16" name="3d-exchange-216" descr="exch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89663"/>
            <a:ext cx="3840480" cy="36624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إعادة تصدير الباقي بالدينار من عملات مورَّدة ومصروفة</a:t>
            </a:r>
            <a:endParaRPr lang="ar-TN" sz="3000" dirty="0"/>
          </a:p>
        </p:txBody>
      </p:sp>
      <p:sp>
        <p:nvSpPr>
          <p:cNvPr id="3" name="text-217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لغير المقيمين — الوثائق والإثباتات المطلوبة</a:t>
            </a:r>
            <a:endParaRPr lang="ar-TN" sz="1500" dirty="0"/>
          </a:p>
        </p:txBody>
      </p:sp>
      <p:sp>
        <p:nvSpPr>
          <p:cNvPr id="4" name="card-218"/>
          <p:cNvSpPr/>
          <p:nvPr/>
        </p:nvSpPr>
        <p:spPr>
          <a:xfrm>
            <a:off x="548640" y="1691640"/>
            <a:ext cx="11094415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amt-219"/>
          <p:cNvSpPr/>
          <p:nvPr/>
        </p:nvSpPr>
        <p:spPr>
          <a:xfrm>
            <a:off x="9646920" y="1874520"/>
            <a:ext cx="1810512" cy="16002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6" name="text-220"/>
          <p:cNvSpPr txBox="1"/>
          <p:nvPr/>
        </p:nvSpPr>
        <p:spPr>
          <a:xfrm>
            <a:off x="9738360" y="1874520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800" b="1" dirty="0">
                <a:solidFill>
                  <a:schemeClr val="bg1"/>
                </a:solidFill>
              </a:rPr>
              <a:t>أقل من 5,000 دينار</a:t>
            </a:r>
            <a:endParaRPr lang="ar-TN" sz="1800" dirty="0"/>
          </a:p>
        </p:txBody>
      </p:sp>
      <p:sp>
        <p:nvSpPr>
          <p:cNvPr id="7" name="card-221"/>
          <p:cNvSpPr/>
          <p:nvPr/>
        </p:nvSpPr>
        <p:spPr>
          <a:xfrm>
            <a:off x="6858000" y="1874520"/>
            <a:ext cx="251460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/>
        </p:spPr>
      </p:sp>
      <p:sp>
        <p:nvSpPr>
          <p:cNvPr id="8" name="icon-bg-222"/>
          <p:cNvSpPr/>
          <p:nvPr/>
        </p:nvSpPr>
        <p:spPr>
          <a:xfrm>
            <a:off x="7868412" y="1984248"/>
            <a:ext cx="493776" cy="493776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9" name="icon-22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56" y="2107692"/>
            <a:ext cx="246888" cy="246888"/>
          </a:xfrm>
          <a:prstGeom prst="rect">
            <a:avLst/>
          </a:prstGeom>
        </p:spPr>
      </p:pic>
      <p:sp>
        <p:nvSpPr>
          <p:cNvPr id="10" name="text-224"/>
          <p:cNvSpPr txBox="1"/>
          <p:nvPr/>
        </p:nvSpPr>
        <p:spPr>
          <a:xfrm>
            <a:off x="6995160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وصل الصرف وجدول صرف اسمي يثبت عملية البيع الأولية</a:t>
            </a:r>
            <a:endParaRPr lang="ar-TN" sz="1250" dirty="0"/>
          </a:p>
        </p:txBody>
      </p:sp>
      <p:sp>
        <p:nvSpPr>
          <p:cNvPr id="11" name="icon-bg-225"/>
          <p:cNvSpPr/>
          <p:nvPr/>
        </p:nvSpPr>
        <p:spPr>
          <a:xfrm>
            <a:off x="6464808" y="2514600"/>
            <a:ext cx="329184" cy="329184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2" name="icon-2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596896"/>
            <a:ext cx="164592" cy="164592"/>
          </a:xfrm>
          <a:prstGeom prst="rect">
            <a:avLst/>
          </a:prstGeom>
        </p:spPr>
      </p:pic>
      <p:sp>
        <p:nvSpPr>
          <p:cNvPr id="13" name="card-227"/>
          <p:cNvSpPr/>
          <p:nvPr/>
        </p:nvSpPr>
        <p:spPr>
          <a:xfrm>
            <a:off x="3886200" y="1874520"/>
            <a:ext cx="251460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/>
        </p:spPr>
      </p:sp>
      <p:sp>
        <p:nvSpPr>
          <p:cNvPr id="14" name="icon-bg-228"/>
          <p:cNvSpPr/>
          <p:nvPr/>
        </p:nvSpPr>
        <p:spPr>
          <a:xfrm>
            <a:off x="4896612" y="1984248"/>
            <a:ext cx="493776" cy="493776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5" name="icon-2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2107692"/>
            <a:ext cx="246888" cy="246888"/>
          </a:xfrm>
          <a:prstGeom prst="rect">
            <a:avLst/>
          </a:prstGeom>
        </p:spPr>
      </p:pic>
      <p:sp>
        <p:nvSpPr>
          <p:cNvPr id="16" name="text-230"/>
          <p:cNvSpPr txBox="1"/>
          <p:nvPr/>
        </p:nvSpPr>
        <p:spPr>
          <a:xfrm>
            <a:off x="4023360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جدول صرف لشراء البنك الباقي بالدينار مقابل عملة</a:t>
            </a:r>
            <a:endParaRPr lang="ar-TN" sz="1250" dirty="0"/>
          </a:p>
        </p:txBody>
      </p:sp>
      <p:sp>
        <p:nvSpPr>
          <p:cNvPr id="17" name="icon-bg-231"/>
          <p:cNvSpPr/>
          <p:nvPr/>
        </p:nvSpPr>
        <p:spPr>
          <a:xfrm>
            <a:off x="3493008" y="2514600"/>
            <a:ext cx="329184" cy="329184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8" name="icon-23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2596896"/>
            <a:ext cx="164592" cy="164592"/>
          </a:xfrm>
          <a:prstGeom prst="rect">
            <a:avLst/>
          </a:prstGeom>
        </p:spPr>
      </p:pic>
      <p:sp>
        <p:nvSpPr>
          <p:cNvPr id="19" name="card-233"/>
          <p:cNvSpPr/>
          <p:nvPr/>
        </p:nvSpPr>
        <p:spPr>
          <a:xfrm>
            <a:off x="914400" y="1874520"/>
            <a:ext cx="251460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/>
        </p:spPr>
      </p:sp>
      <p:sp>
        <p:nvSpPr>
          <p:cNvPr id="20" name="icon-bg-234"/>
          <p:cNvSpPr/>
          <p:nvPr/>
        </p:nvSpPr>
        <p:spPr>
          <a:xfrm>
            <a:off x="1924812" y="1984248"/>
            <a:ext cx="493776" cy="493776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1" name="icon-23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256" y="2107692"/>
            <a:ext cx="246888" cy="246888"/>
          </a:xfrm>
          <a:prstGeom prst="rect">
            <a:avLst/>
          </a:prstGeom>
        </p:spPr>
      </p:pic>
      <p:sp>
        <p:nvSpPr>
          <p:cNvPr id="22" name="text-236"/>
          <p:cNvSpPr txBox="1"/>
          <p:nvPr/>
        </p:nvSpPr>
        <p:spPr>
          <a:xfrm>
            <a:off x="1051560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يُعدّ تصريحًا بالخروج — 3 نسخ</a:t>
            </a:r>
            <a:endParaRPr lang="ar-TN" sz="1250" dirty="0"/>
          </a:p>
        </p:txBody>
      </p:sp>
      <p:sp>
        <p:nvSpPr>
          <p:cNvPr id="23" name="card-237"/>
          <p:cNvSpPr/>
          <p:nvPr/>
        </p:nvSpPr>
        <p:spPr>
          <a:xfrm>
            <a:off x="548640" y="3931920"/>
            <a:ext cx="11094415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4" name="amt-238"/>
          <p:cNvSpPr/>
          <p:nvPr/>
        </p:nvSpPr>
        <p:spPr>
          <a:xfrm>
            <a:off x="9646920" y="4114800"/>
            <a:ext cx="1810512" cy="16002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25" name="text-239"/>
          <p:cNvSpPr txBox="1"/>
          <p:nvPr/>
        </p:nvSpPr>
        <p:spPr>
          <a:xfrm>
            <a:off x="9738360" y="4114800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800" b="1" dirty="0">
                <a:solidFill>
                  <a:schemeClr val="bg1"/>
                </a:solidFill>
              </a:rPr>
              <a:t>5,000 دينار فما فوق</a:t>
            </a:r>
            <a:endParaRPr lang="ar-TN" sz="1800" dirty="0"/>
          </a:p>
        </p:txBody>
      </p:sp>
      <p:sp>
        <p:nvSpPr>
          <p:cNvPr id="26" name="card-240"/>
          <p:cNvSpPr/>
          <p:nvPr/>
        </p:nvSpPr>
        <p:spPr>
          <a:xfrm>
            <a:off x="6858000" y="4114800"/>
            <a:ext cx="251460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/>
        </p:spPr>
      </p:sp>
      <p:sp>
        <p:nvSpPr>
          <p:cNvPr id="27" name="icon-bg-241"/>
          <p:cNvSpPr/>
          <p:nvPr/>
        </p:nvSpPr>
        <p:spPr>
          <a:xfrm>
            <a:off x="7868412" y="4224528"/>
            <a:ext cx="493776" cy="493776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8" name="icon-24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856" y="4347972"/>
            <a:ext cx="246888" cy="246888"/>
          </a:xfrm>
          <a:prstGeom prst="rect">
            <a:avLst/>
          </a:prstGeom>
        </p:spPr>
      </p:pic>
      <p:sp>
        <p:nvSpPr>
          <p:cNvPr id="29" name="text-243"/>
          <p:cNvSpPr txBox="1"/>
          <p:nvPr/>
        </p:nvSpPr>
        <p:spPr>
          <a:xfrm>
            <a:off x="6995160" y="4800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جدول صرف اسمي</a:t>
            </a:r>
            <a:endParaRPr lang="ar-TN" sz="1250" dirty="0"/>
          </a:p>
        </p:txBody>
      </p:sp>
      <p:sp>
        <p:nvSpPr>
          <p:cNvPr id="30" name="icon-bg-244"/>
          <p:cNvSpPr/>
          <p:nvPr/>
        </p:nvSpPr>
        <p:spPr>
          <a:xfrm>
            <a:off x="6464808" y="4754880"/>
            <a:ext cx="329184" cy="329184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31" name="icon-24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4837176"/>
            <a:ext cx="164592" cy="164592"/>
          </a:xfrm>
          <a:prstGeom prst="rect">
            <a:avLst/>
          </a:prstGeom>
        </p:spPr>
      </p:pic>
      <p:sp>
        <p:nvSpPr>
          <p:cNvPr id="32" name="card-246"/>
          <p:cNvSpPr/>
          <p:nvPr/>
        </p:nvSpPr>
        <p:spPr>
          <a:xfrm>
            <a:off x="3886200" y="4114800"/>
            <a:ext cx="251460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/>
        </p:spPr>
      </p:sp>
      <p:sp>
        <p:nvSpPr>
          <p:cNvPr id="33" name="icon-bg-247"/>
          <p:cNvSpPr/>
          <p:nvPr/>
        </p:nvSpPr>
        <p:spPr>
          <a:xfrm>
            <a:off x="4896612" y="4224528"/>
            <a:ext cx="493776" cy="493776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34" name="icon-24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0056" y="4347972"/>
            <a:ext cx="246888" cy="246888"/>
          </a:xfrm>
          <a:prstGeom prst="rect">
            <a:avLst/>
          </a:prstGeom>
        </p:spPr>
      </p:pic>
      <p:sp>
        <p:nvSpPr>
          <p:cNvPr id="35" name="text-249"/>
          <p:cNvSpPr txBox="1"/>
          <p:nvPr/>
        </p:nvSpPr>
        <p:spPr>
          <a:xfrm>
            <a:off x="4023360" y="4800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تصريح ديواني بتوريد العملة</a:t>
            </a:r>
            <a:endParaRPr lang="ar-TN" sz="1250" dirty="0"/>
          </a:p>
        </p:txBody>
      </p:sp>
      <p:sp>
        <p:nvSpPr>
          <p:cNvPr id="36" name="icon-bg-250"/>
          <p:cNvSpPr/>
          <p:nvPr/>
        </p:nvSpPr>
        <p:spPr>
          <a:xfrm>
            <a:off x="3493008" y="4754880"/>
            <a:ext cx="329184" cy="329184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37" name="icon-251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5304" y="4837176"/>
            <a:ext cx="164592" cy="164592"/>
          </a:xfrm>
          <a:prstGeom prst="rect">
            <a:avLst/>
          </a:prstGeom>
        </p:spPr>
      </p:pic>
      <p:sp>
        <p:nvSpPr>
          <p:cNvPr id="38" name="card-252"/>
          <p:cNvSpPr/>
          <p:nvPr/>
        </p:nvSpPr>
        <p:spPr>
          <a:xfrm>
            <a:off x="914400" y="4114800"/>
            <a:ext cx="251460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/>
        </p:spPr>
      </p:sp>
      <p:sp>
        <p:nvSpPr>
          <p:cNvPr id="39" name="icon-bg-253"/>
          <p:cNvSpPr/>
          <p:nvPr/>
        </p:nvSpPr>
        <p:spPr>
          <a:xfrm>
            <a:off x="1924812" y="4224528"/>
            <a:ext cx="493776" cy="493776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40" name="icon-254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8256" y="4347972"/>
            <a:ext cx="246888" cy="246888"/>
          </a:xfrm>
          <a:prstGeom prst="rect">
            <a:avLst/>
          </a:prstGeom>
        </p:spPr>
      </p:pic>
      <p:sp>
        <p:nvSpPr>
          <p:cNvPr id="41" name="text-255"/>
          <p:cNvSpPr txBox="1"/>
          <p:nvPr/>
        </p:nvSpPr>
        <p:spPr>
          <a:xfrm>
            <a:off x="1051560" y="4800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جدول صرف يُسلَّم للمسافر ويُعتبر رخصة خروج — 3 نسخ</a:t>
            </a:r>
            <a:endParaRPr lang="ar-TN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خصائص التصريح الديواني بتوريد العملة</a:t>
            </a:r>
            <a:endParaRPr lang="ar-TN" sz="3000" dirty="0"/>
          </a:p>
        </p:txBody>
      </p:sp>
      <p:sp>
        <p:nvSpPr>
          <p:cNvPr id="3" name="text-256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FR" altLang="en-US" sz="1500" dirty="0">
                <a:solidFill>
                  <a:schemeClr val="accent5"/>
                </a:solidFill>
              </a:rPr>
              <a:t>Déclaration d'importation de devises</a:t>
            </a:r>
            <a:endParaRPr lang="fr-FR" sz="1500" dirty="0"/>
          </a:p>
        </p:txBody>
      </p:sp>
      <p:sp>
        <p:nvSpPr>
          <p:cNvPr id="4" name="card-257"/>
          <p:cNvSpPr/>
          <p:nvPr/>
        </p:nvSpPr>
        <p:spPr>
          <a:xfrm>
            <a:off x="8513064" y="1691640"/>
            <a:ext cx="3127248" cy="2057400"/>
          </a:xfrm>
          <a:prstGeom prst="roundRect">
            <a:avLst>
              <a:gd name="adj" fmla="val 7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258"/>
          <p:cNvSpPr/>
          <p:nvPr/>
        </p:nvSpPr>
        <p:spPr>
          <a:xfrm>
            <a:off x="10844784" y="19110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2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516" y="2052828"/>
            <a:ext cx="283464" cy="283464"/>
          </a:xfrm>
          <a:prstGeom prst="rect">
            <a:avLst/>
          </a:prstGeom>
        </p:spPr>
      </p:pic>
      <p:sp>
        <p:nvSpPr>
          <p:cNvPr id="7" name="text-260"/>
          <p:cNvSpPr txBox="1"/>
          <p:nvPr/>
        </p:nvSpPr>
        <p:spPr>
          <a:xfrm>
            <a:off x="8741664" y="1892808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700" b="1" dirty="0">
                <a:solidFill>
                  <a:schemeClr val="tx1"/>
                </a:solidFill>
              </a:rPr>
              <a:t>شخصي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غير قابل للتفويت لشخص آخر.</a:t>
            </a:r>
            <a:endParaRPr lang="ar-TN" sz="1400" dirty="0"/>
          </a:p>
        </p:txBody>
      </p:sp>
      <p:sp>
        <p:nvSpPr>
          <p:cNvPr id="8" name="card-261"/>
          <p:cNvSpPr/>
          <p:nvPr/>
        </p:nvSpPr>
        <p:spPr>
          <a:xfrm>
            <a:off x="5257800" y="1691640"/>
            <a:ext cx="3127248" cy="2057400"/>
          </a:xfrm>
          <a:prstGeom prst="roundRect">
            <a:avLst>
              <a:gd name="adj" fmla="val 7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262"/>
          <p:cNvSpPr/>
          <p:nvPr/>
        </p:nvSpPr>
        <p:spPr>
          <a:xfrm>
            <a:off x="7589520" y="19110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26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252" y="2052828"/>
            <a:ext cx="283464" cy="283464"/>
          </a:xfrm>
          <a:prstGeom prst="rect">
            <a:avLst/>
          </a:prstGeom>
        </p:spPr>
      </p:pic>
      <p:sp>
        <p:nvSpPr>
          <p:cNvPr id="11" name="text-264"/>
          <p:cNvSpPr txBox="1"/>
          <p:nvPr/>
        </p:nvSpPr>
        <p:spPr>
          <a:xfrm>
            <a:off x="5486400" y="1892808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700" b="1" dirty="0">
                <a:solidFill>
                  <a:schemeClr val="tx1"/>
                </a:solidFill>
              </a:rPr>
              <a:t>سفرة واحدة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من تاريخ الدخول الفعلي حتى أول تاريخ خروج.</a:t>
            </a:r>
            <a:endParaRPr lang="ar-TN" sz="1400" dirty="0"/>
          </a:p>
        </p:txBody>
      </p:sp>
      <p:sp>
        <p:nvSpPr>
          <p:cNvPr id="12" name="card-265"/>
          <p:cNvSpPr/>
          <p:nvPr/>
        </p:nvSpPr>
        <p:spPr>
          <a:xfrm>
            <a:off x="8513064" y="3931920"/>
            <a:ext cx="3127248" cy="2057400"/>
          </a:xfrm>
          <a:prstGeom prst="roundRect">
            <a:avLst>
              <a:gd name="adj" fmla="val 7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icon-bg-266"/>
          <p:cNvSpPr/>
          <p:nvPr/>
        </p:nvSpPr>
        <p:spPr>
          <a:xfrm>
            <a:off x="10844784" y="415137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4" name="icon-26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516" y="4293108"/>
            <a:ext cx="283464" cy="283464"/>
          </a:xfrm>
          <a:prstGeom prst="rect">
            <a:avLst/>
          </a:prstGeom>
        </p:spPr>
      </p:pic>
      <p:sp>
        <p:nvSpPr>
          <p:cNvPr id="15" name="text-268"/>
          <p:cNvSpPr txBox="1"/>
          <p:nvPr/>
        </p:nvSpPr>
        <p:spPr>
          <a:xfrm>
            <a:off x="8741664" y="4133088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700" b="1" dirty="0">
                <a:solidFill>
                  <a:schemeClr val="tx1"/>
                </a:solidFill>
              </a:rPr>
              <a:t>3 أشهر كحدٍّ أقصى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90 يومًا تقويميًا، ويُتحقَّق من الصلوحية عبر جواز السفر.</a:t>
            </a:r>
            <a:endParaRPr lang="ar-TN" sz="1400" dirty="0"/>
          </a:p>
        </p:txBody>
      </p:sp>
      <p:sp>
        <p:nvSpPr>
          <p:cNvPr id="16" name="card-269"/>
          <p:cNvSpPr/>
          <p:nvPr/>
        </p:nvSpPr>
        <p:spPr>
          <a:xfrm>
            <a:off x="5257800" y="3931920"/>
            <a:ext cx="3127248" cy="2057400"/>
          </a:xfrm>
          <a:prstGeom prst="roundRect">
            <a:avLst>
              <a:gd name="adj" fmla="val 7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7" name="icon-bg-270"/>
          <p:cNvSpPr/>
          <p:nvPr/>
        </p:nvSpPr>
        <p:spPr>
          <a:xfrm>
            <a:off x="7589520" y="415137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8" name="icon-27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252" y="4293108"/>
            <a:ext cx="283464" cy="283464"/>
          </a:xfrm>
          <a:prstGeom prst="rect">
            <a:avLst/>
          </a:prstGeom>
        </p:spPr>
      </p:pic>
      <p:sp>
        <p:nvSpPr>
          <p:cNvPr id="19" name="text-272"/>
          <p:cNvSpPr txBox="1"/>
          <p:nvPr/>
        </p:nvSpPr>
        <p:spPr>
          <a:xfrm>
            <a:off x="5486400" y="4133088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700" b="1" dirty="0">
                <a:solidFill>
                  <a:schemeClr val="tx1"/>
                </a:solidFill>
              </a:rPr>
              <a:t>وثيقة ضرورية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لتغذية الحسابات بالعملة أو بالدينار القابل للتحويل نقدًا، ولتبرير الإرجاع النقدي لعائدات التصدير.</a:t>
            </a:r>
            <a:endParaRPr lang="ar-TN" sz="1400" dirty="0"/>
          </a:p>
        </p:txBody>
      </p:sp>
      <p:pic>
        <p:nvPicPr>
          <p:cNvPr id="20" name="3d-document-273" descr="docum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67980"/>
            <a:ext cx="4297680" cy="30184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رخصة تصدير العملة (AED)</a:t>
            </a:r>
            <a:endParaRPr lang="ar-TN" sz="3000" dirty="0"/>
          </a:p>
        </p:txBody>
      </p:sp>
      <p:sp>
        <p:nvSpPr>
          <p:cNvPr id="3" name="text-274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FR" altLang="en-US" sz="1500" dirty="0">
                <a:solidFill>
                  <a:schemeClr val="accent5"/>
                </a:solidFill>
              </a:rPr>
              <a:t>Autorisation d'exportation de devises</a:t>
            </a:r>
            <a:endParaRPr lang="fr-FR" sz="1500" dirty="0"/>
          </a:p>
        </p:txBody>
      </p:sp>
      <p:sp>
        <p:nvSpPr>
          <p:cNvPr id="4" name="card-275"/>
          <p:cNvSpPr/>
          <p:nvPr/>
        </p:nvSpPr>
        <p:spPr>
          <a:xfrm>
            <a:off x="5257800" y="1691640"/>
            <a:ext cx="6382512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276"/>
          <p:cNvSpPr/>
          <p:nvPr/>
        </p:nvSpPr>
        <p:spPr>
          <a:xfrm>
            <a:off x="10844784" y="19110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27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516" y="2052828"/>
            <a:ext cx="283464" cy="283464"/>
          </a:xfrm>
          <a:prstGeom prst="rect">
            <a:avLst/>
          </a:prstGeom>
        </p:spPr>
      </p:pic>
      <p:sp>
        <p:nvSpPr>
          <p:cNvPr id="7" name="text-278"/>
          <p:cNvSpPr txBox="1"/>
          <p:nvPr/>
        </p:nvSpPr>
        <p:spPr>
          <a:xfrm>
            <a:off x="5486400" y="1892808"/>
            <a:ext cx="5129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يسلّمها الوسيط المقبول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عند تسليم العملة النقدية أو الشيكات: المنحة السياحية، منح الأعمال، اقتصاديات الأجور…</a:t>
            </a:r>
            <a:endParaRPr lang="ar-TN" sz="1400" dirty="0"/>
          </a:p>
        </p:txBody>
      </p:sp>
      <p:sp>
        <p:nvSpPr>
          <p:cNvPr id="8" name="card-279"/>
          <p:cNvSpPr/>
          <p:nvPr/>
        </p:nvSpPr>
        <p:spPr>
          <a:xfrm>
            <a:off x="5257800" y="3200400"/>
            <a:ext cx="2743200" cy="288036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text-280"/>
          <p:cNvSpPr txBox="1"/>
          <p:nvPr/>
        </p:nvSpPr>
        <p:spPr>
          <a:xfrm>
            <a:off x="5440680" y="33649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800" b="1" dirty="0">
                <a:solidFill>
                  <a:schemeClr val="accent2"/>
                </a:solidFill>
              </a:rPr>
              <a:t>60 يومًا</a:t>
            </a:r>
            <a:endParaRPr lang="ar-TN" sz="3800" dirty="0"/>
          </a:p>
        </p:txBody>
      </p:sp>
      <p:sp>
        <p:nvSpPr>
          <p:cNvPr id="10" name="text-281"/>
          <p:cNvSpPr txBox="1"/>
          <p:nvPr/>
        </p:nvSpPr>
        <p:spPr>
          <a:xfrm>
            <a:off x="5440680" y="429768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صالحة لسفرة واحدة ولمدة أقصاها شهران من تاريخ الإصدار</a:t>
            </a:r>
            <a:endParaRPr lang="ar-TN" sz="1300" dirty="0"/>
          </a:p>
        </p:txBody>
      </p:sp>
      <p:sp>
        <p:nvSpPr>
          <p:cNvPr id="11" name="text-282"/>
          <p:cNvSpPr txBox="1"/>
          <p:nvPr/>
        </p:nvSpPr>
        <p:spPr>
          <a:xfrm>
            <a:off x="8183880" y="3200400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b="1" dirty="0">
                <a:solidFill>
                  <a:schemeClr val="accent1"/>
                </a:solidFill>
              </a:rPr>
              <a:t>تُحرَّر في 3 نسخ</a:t>
            </a:r>
            <a:endParaRPr lang="ar-TN" sz="1600" dirty="0"/>
          </a:p>
        </p:txBody>
      </p:sp>
      <p:sp>
        <p:nvSpPr>
          <p:cNvPr id="12" name="card-283"/>
          <p:cNvSpPr/>
          <p:nvPr/>
        </p:nvSpPr>
        <p:spPr>
          <a:xfrm>
            <a:off x="8183880" y="3703320"/>
            <a:ext cx="3456432" cy="6766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badge-284"/>
          <p:cNvSpPr/>
          <p:nvPr/>
        </p:nvSpPr>
        <p:spPr>
          <a:xfrm>
            <a:off x="11073384" y="3794760"/>
            <a:ext cx="493776" cy="493776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4" name="badge-txt-285"/>
          <p:cNvSpPr txBox="1"/>
          <p:nvPr/>
        </p:nvSpPr>
        <p:spPr>
          <a:xfrm>
            <a:off x="11073384" y="3794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-286"/>
          <p:cNvSpPr txBox="1"/>
          <p:nvPr/>
        </p:nvSpPr>
        <p:spPr>
          <a:xfrm>
            <a:off x="8366760" y="3703320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00" b="1" dirty="0">
                <a:solidFill>
                  <a:schemeClr val="tx1"/>
                </a:solidFill>
              </a:rPr>
              <a:t>نسخة للحريف</a:t>
            </a:r>
            <a:endParaRPr lang="ar-TN" sz="1300" dirty="0"/>
          </a:p>
        </p:txBody>
      </p:sp>
      <p:sp>
        <p:nvSpPr>
          <p:cNvPr id="16" name="card-287"/>
          <p:cNvSpPr/>
          <p:nvPr/>
        </p:nvSpPr>
        <p:spPr>
          <a:xfrm>
            <a:off x="8183880" y="4507992"/>
            <a:ext cx="3456432" cy="6766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7" name="badge-288"/>
          <p:cNvSpPr/>
          <p:nvPr/>
        </p:nvSpPr>
        <p:spPr>
          <a:xfrm>
            <a:off x="11073384" y="4599432"/>
            <a:ext cx="493776" cy="493776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8" name="badge-txt-289"/>
          <p:cNvSpPr txBox="1"/>
          <p:nvPr/>
        </p:nvSpPr>
        <p:spPr>
          <a:xfrm>
            <a:off x="11073384" y="4599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-290"/>
          <p:cNvSpPr txBox="1"/>
          <p:nvPr/>
        </p:nvSpPr>
        <p:spPr>
          <a:xfrm>
            <a:off x="8366760" y="450799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00" b="1" dirty="0">
                <a:solidFill>
                  <a:schemeClr val="tx1"/>
                </a:solidFill>
              </a:rPr>
              <a:t>نسخة للوسيط</a:t>
            </a:r>
            <a:endParaRPr lang="ar-TN" sz="1300" dirty="0"/>
          </a:p>
        </p:txBody>
      </p:sp>
      <p:sp>
        <p:nvSpPr>
          <p:cNvPr id="20" name="card-291"/>
          <p:cNvSpPr/>
          <p:nvPr/>
        </p:nvSpPr>
        <p:spPr>
          <a:xfrm>
            <a:off x="8183880" y="5312664"/>
            <a:ext cx="3456432" cy="6766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1" name="badge-292"/>
          <p:cNvSpPr/>
          <p:nvPr/>
        </p:nvSpPr>
        <p:spPr>
          <a:xfrm>
            <a:off x="11073384" y="5404104"/>
            <a:ext cx="493776" cy="493776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22" name="badge-txt-293"/>
          <p:cNvSpPr txBox="1"/>
          <p:nvPr/>
        </p:nvSpPr>
        <p:spPr>
          <a:xfrm>
            <a:off x="11073384" y="5404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-294"/>
          <p:cNvSpPr txBox="1"/>
          <p:nvPr/>
        </p:nvSpPr>
        <p:spPr>
          <a:xfrm>
            <a:off x="8366760" y="5312664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00" b="1" dirty="0">
                <a:solidFill>
                  <a:schemeClr val="tx1"/>
                </a:solidFill>
              </a:rPr>
              <a:t>نسخة للديوانة عند مغادرة التراب التونسي</a:t>
            </a:r>
            <a:endParaRPr lang="ar-TN" sz="1300" dirty="0"/>
          </a:p>
        </p:txBody>
      </p:sp>
      <p:pic>
        <p:nvPicPr>
          <p:cNvPr id="24" name="3d-three_docs-295" descr="three_do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00195"/>
            <a:ext cx="4389120" cy="241188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296"/>
          <p:cNvSpPr/>
          <p:nvPr/>
        </p:nvSpPr>
        <p:spPr>
          <a:xfrm>
            <a:off x="9445752" y="1828800"/>
            <a:ext cx="2194560" cy="5303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3" name="text-297"/>
          <p:cNvSpPr txBox="1"/>
          <p:nvPr/>
        </p:nvSpPr>
        <p:spPr>
          <a:xfrm>
            <a:off x="9555480" y="1828800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bg1"/>
                </a:solidFill>
              </a:rPr>
              <a:t>المحور الثالث</a:t>
            </a:r>
            <a:endParaRPr lang="ar-TN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0" y="2514600"/>
            <a:ext cx="5239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3600" b="1" dirty="0">
                <a:solidFill>
                  <a:schemeClr val="tx1"/>
                </a:solidFill>
              </a:rPr>
              <a:t>معالجة العمليات النقدية: أمثلة عملية</a:t>
            </a:r>
            <a:endParaRPr lang="ar-TN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0" y="4343400"/>
            <a:ext cx="5239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dirty="0">
                <a:solidFill>
                  <a:schemeClr val="accent5"/>
                </a:solidFill>
              </a:rPr>
              <a:t>المنحة السياحية · منح أسفار الأعمال · اقتصاديات على الأجور · الحسابات بالعملة</a:t>
            </a:r>
            <a:endParaRPr lang="ar-TN" sz="1600" dirty="0"/>
          </a:p>
        </p:txBody>
      </p:sp>
      <p:pic>
        <p:nvPicPr>
          <p:cNvPr id="6" name="3d-coins-298" descr="co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213298"/>
            <a:ext cx="3657600" cy="29530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المنحة السياحية: المنتفعون</a:t>
            </a:r>
            <a:endParaRPr lang="ar-TN" sz="3000" dirty="0"/>
          </a:p>
        </p:txBody>
      </p:sp>
      <p:sp>
        <p:nvSpPr>
          <p:cNvPr id="3" name="text-299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FR" altLang="en-US" sz="1500" dirty="0">
                <a:solidFill>
                  <a:schemeClr val="accent5"/>
                </a:solidFill>
              </a:rPr>
              <a:t>L'allocation touristique</a:t>
            </a:r>
            <a:endParaRPr lang="fr-FR" sz="1500" dirty="0"/>
          </a:p>
        </p:txBody>
      </p:sp>
      <p:sp>
        <p:nvSpPr>
          <p:cNvPr id="4" name="card-300"/>
          <p:cNvSpPr/>
          <p:nvPr/>
        </p:nvSpPr>
        <p:spPr>
          <a:xfrm>
            <a:off x="5257800" y="1691640"/>
            <a:ext cx="6382512" cy="1207008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301"/>
          <p:cNvSpPr/>
          <p:nvPr/>
        </p:nvSpPr>
        <p:spPr>
          <a:xfrm>
            <a:off x="10844784" y="19110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30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516" y="2052828"/>
            <a:ext cx="283464" cy="283464"/>
          </a:xfrm>
          <a:prstGeom prst="rect">
            <a:avLst/>
          </a:prstGeom>
        </p:spPr>
      </p:pic>
      <p:sp>
        <p:nvSpPr>
          <p:cNvPr id="7" name="text-303"/>
          <p:cNvSpPr txBox="1"/>
          <p:nvPr/>
        </p:nvSpPr>
        <p:spPr>
          <a:xfrm>
            <a:off x="5486400" y="1892808"/>
            <a:ext cx="5129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المسافرون المقيمون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الحاملون لجواز سفر عادي ساري المفعول.</a:t>
            </a:r>
            <a:endParaRPr lang="ar-TN" sz="1400" dirty="0"/>
          </a:p>
        </p:txBody>
      </p:sp>
      <p:sp>
        <p:nvSpPr>
          <p:cNvPr id="8" name="card-304"/>
          <p:cNvSpPr/>
          <p:nvPr/>
        </p:nvSpPr>
        <p:spPr>
          <a:xfrm>
            <a:off x="5257800" y="3063240"/>
            <a:ext cx="6382512" cy="1207008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305"/>
          <p:cNvSpPr/>
          <p:nvPr/>
        </p:nvSpPr>
        <p:spPr>
          <a:xfrm>
            <a:off x="10844784" y="32826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30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516" y="3424428"/>
            <a:ext cx="283464" cy="283464"/>
          </a:xfrm>
          <a:prstGeom prst="rect">
            <a:avLst/>
          </a:prstGeom>
        </p:spPr>
      </p:pic>
      <p:sp>
        <p:nvSpPr>
          <p:cNvPr id="11" name="text-307"/>
          <p:cNvSpPr txBox="1"/>
          <p:nvPr/>
        </p:nvSpPr>
        <p:spPr>
          <a:xfrm>
            <a:off x="5486400" y="3264408"/>
            <a:ext cx="5129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الطلبة بالخارج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التونسيون أو الأجانب الذين يدرسون بالخارج وأولياؤهم مقيمون بتونس.</a:t>
            </a:r>
            <a:endParaRPr lang="ar-TN" sz="1400" dirty="0"/>
          </a:p>
        </p:txBody>
      </p:sp>
      <p:sp>
        <p:nvSpPr>
          <p:cNvPr id="12" name="card-308"/>
          <p:cNvSpPr/>
          <p:nvPr/>
        </p:nvSpPr>
        <p:spPr>
          <a:xfrm>
            <a:off x="5257800" y="4434840"/>
            <a:ext cx="6382512" cy="1207008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icon-bg-309"/>
          <p:cNvSpPr/>
          <p:nvPr/>
        </p:nvSpPr>
        <p:spPr>
          <a:xfrm>
            <a:off x="10844784" y="46542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4" name="icon-3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516" y="4796028"/>
            <a:ext cx="283464" cy="283464"/>
          </a:xfrm>
          <a:prstGeom prst="rect">
            <a:avLst/>
          </a:prstGeom>
        </p:spPr>
      </p:pic>
      <p:sp>
        <p:nvSpPr>
          <p:cNvPr id="15" name="text-311"/>
          <p:cNvSpPr txBox="1"/>
          <p:nvPr/>
        </p:nvSpPr>
        <p:spPr>
          <a:xfrm>
            <a:off x="5486400" y="4636008"/>
            <a:ext cx="5129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العائدون نهائيًا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التونسيون الذين كانوا غير مقيمين وعادوا نهائيًا إلى تونس، بوثيقة رسمية (شهادة قنصلية أو إعفاء جمركي للأمتعة).</a:t>
            </a:r>
            <a:endParaRPr lang="ar-TN" sz="1400" dirty="0"/>
          </a:p>
        </p:txBody>
      </p:sp>
      <p:sp>
        <p:nvSpPr>
          <p:cNvPr id="16" name="pill-312"/>
          <p:cNvSpPr/>
          <p:nvPr/>
        </p:nvSpPr>
        <p:spPr>
          <a:xfrm>
            <a:off x="5257800" y="5715000"/>
            <a:ext cx="6382512" cy="5029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text-313"/>
          <p:cNvSpPr txBox="1"/>
          <p:nvPr/>
        </p:nvSpPr>
        <p:spPr>
          <a:xfrm>
            <a:off x="5367528" y="5715000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50" b="1" dirty="0">
                <a:solidFill>
                  <a:schemeClr val="accent1"/>
                </a:solidFill>
              </a:rPr>
              <a:t>يُسجَّل تسليم المنحة على جواز السفر</a:t>
            </a:r>
            <a:endParaRPr lang="ar-TN" sz="1350" dirty="0"/>
          </a:p>
        </p:txBody>
      </p:sp>
      <p:pic>
        <p:nvPicPr>
          <p:cNvPr id="18" name="3d-travel-314" descr="trav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476238"/>
            <a:ext cx="4297680" cy="33302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المنحة السياحية: المبالغ السنوية المسموح بها</a:t>
            </a:r>
            <a:endParaRPr lang="ar-TN" sz="3000" dirty="0"/>
          </a:p>
        </p:txBody>
      </p:sp>
      <p:sp>
        <p:nvSpPr>
          <p:cNvPr id="3" name="text-315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بالدينار التونسي — من 1 جانفي إلى 31 ديسمبر</a:t>
            </a:r>
            <a:endParaRPr lang="ar-TN" sz="1500" dirty="0"/>
          </a:p>
        </p:txBody>
      </p:sp>
      <p:sp>
        <p:nvSpPr>
          <p:cNvPr id="4" name="card-316"/>
          <p:cNvSpPr/>
          <p:nvPr/>
        </p:nvSpPr>
        <p:spPr>
          <a:xfrm>
            <a:off x="4069080" y="1645920"/>
            <a:ext cx="7571232" cy="4434840"/>
          </a:xfrm>
          <a:prstGeom prst="roundRect">
            <a:avLst>
              <a:gd name="adj" fmla="val 329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graphicFrame>
        <p:nvGraphicFramePr>
          <p:cNvPr id="5" name="chart-allocation" descr=""/>
          <p:cNvGraphicFramePr/>
          <p:nvPr/>
        </p:nvGraphicFramePr>
        <p:xfrm>
          <a:off x="4251960" y="1783080"/>
          <a:ext cx="72237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-317"/>
          <p:cNvSpPr/>
          <p:nvPr/>
        </p:nvSpPr>
        <p:spPr>
          <a:xfrm>
            <a:off x="548640" y="1645920"/>
            <a:ext cx="3291840" cy="210312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7" name="text-318"/>
          <p:cNvSpPr txBox="1"/>
          <p:nvPr/>
        </p:nvSpPr>
        <p:spPr>
          <a:xfrm>
            <a:off x="731520" y="181051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4000" b="1" dirty="0">
                <a:solidFill>
                  <a:schemeClr val="accent2"/>
                </a:solidFill>
              </a:rPr>
              <a:t>6,000 د</a:t>
            </a:r>
            <a:endParaRPr lang="ar-TN" sz="4000" dirty="0"/>
          </a:p>
        </p:txBody>
      </p:sp>
      <p:sp>
        <p:nvSpPr>
          <p:cNvPr id="8" name="text-319"/>
          <p:cNvSpPr txBox="1"/>
          <p:nvPr/>
        </p:nvSpPr>
        <p:spPr>
          <a:xfrm>
            <a:off x="73152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السقف السنوي للتونسي المقيم (10 سنوات فما فوق)</a:t>
            </a:r>
            <a:endParaRPr lang="ar-TN" sz="1300" dirty="0"/>
          </a:p>
        </p:txBody>
      </p:sp>
      <p:sp>
        <p:nvSpPr>
          <p:cNvPr id="9" name="card-320"/>
          <p:cNvSpPr/>
          <p:nvPr/>
        </p:nvSpPr>
        <p:spPr>
          <a:xfrm>
            <a:off x="548640" y="3931920"/>
            <a:ext cx="3291840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0" name="icon-bg-321"/>
          <p:cNvSpPr/>
          <p:nvPr/>
        </p:nvSpPr>
        <p:spPr>
          <a:xfrm>
            <a:off x="3108960" y="4096512"/>
            <a:ext cx="502920" cy="50292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1" name="icon-3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690" y="4222242"/>
            <a:ext cx="251460" cy="251460"/>
          </a:xfrm>
          <a:prstGeom prst="rect">
            <a:avLst/>
          </a:prstGeom>
        </p:spPr>
      </p:pic>
      <p:sp>
        <p:nvSpPr>
          <p:cNvPr id="12" name="text-323"/>
          <p:cNvSpPr txBox="1"/>
          <p:nvPr/>
        </p:nvSpPr>
        <p:spPr>
          <a:xfrm>
            <a:off x="731520" y="470916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لا يُرحَّل الجزء غير المستعمل من المنحة إلى السنة الموالية.</a:t>
            </a:r>
            <a:endParaRPr lang="ar-T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آجال إرجاع المنحة السياحية غير المستعملة</a:t>
            </a:r>
            <a:endParaRPr lang="ar-TN" sz="3000" dirty="0"/>
          </a:p>
        </p:txBody>
      </p:sp>
      <p:sp>
        <p:nvSpPr>
          <p:cNvPr id="3" name="card-324"/>
          <p:cNvSpPr/>
          <p:nvPr/>
        </p:nvSpPr>
        <p:spPr>
          <a:xfrm>
            <a:off x="8513064" y="1463040"/>
            <a:ext cx="3127248" cy="4617720"/>
          </a:xfrm>
          <a:prstGeom prst="roundRect">
            <a:avLst>
              <a:gd name="adj" fmla="val 46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icon-bg-325"/>
          <p:cNvSpPr/>
          <p:nvPr/>
        </p:nvSpPr>
        <p:spPr>
          <a:xfrm>
            <a:off x="9710928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5" name="icon-32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08" y="1920240"/>
            <a:ext cx="365760" cy="365760"/>
          </a:xfrm>
          <a:prstGeom prst="rect">
            <a:avLst/>
          </a:prstGeom>
        </p:spPr>
      </p:pic>
      <p:sp>
        <p:nvSpPr>
          <p:cNvPr id="6" name="text-327"/>
          <p:cNvSpPr txBox="1"/>
          <p:nvPr/>
        </p:nvSpPr>
        <p:spPr>
          <a:xfrm>
            <a:off x="8695944" y="260604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800" b="1" dirty="0">
                <a:solidFill>
                  <a:schemeClr val="accent1"/>
                </a:solidFill>
              </a:rPr>
              <a:t>تمّ السفر</a:t>
            </a:r>
            <a:endParaRPr lang="ar-TN" sz="1800" dirty="0"/>
          </a:p>
        </p:txBody>
      </p:sp>
      <p:sp>
        <p:nvSpPr>
          <p:cNvPr id="7" name="text-328"/>
          <p:cNvSpPr txBox="1"/>
          <p:nvPr/>
        </p:nvSpPr>
        <p:spPr>
          <a:xfrm>
            <a:off x="8695944" y="3108960"/>
            <a:ext cx="276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400" b="1" dirty="0">
                <a:solidFill>
                  <a:schemeClr val="accent2"/>
                </a:solidFill>
              </a:rPr>
              <a:t>7 أيام عمل</a:t>
            </a:r>
            <a:endParaRPr lang="ar-TN" sz="3400" dirty="0"/>
          </a:p>
        </p:txBody>
      </p:sp>
      <p:sp>
        <p:nvSpPr>
          <p:cNvPr id="8" name="text-329"/>
          <p:cNvSpPr txBox="1"/>
          <p:nvPr/>
        </p:nvSpPr>
        <p:spPr>
          <a:xfrm>
            <a:off x="8787384" y="4114800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إرجاع المبلغ المتبقي في أجل أقصاه 7 أيام عمل بعد تاريخ العودة (حسب ختم الجواز + التصريح الديواني).</a:t>
            </a:r>
            <a:endParaRPr lang="ar-TN" sz="1350" dirty="0"/>
          </a:p>
        </p:txBody>
      </p:sp>
      <p:sp>
        <p:nvSpPr>
          <p:cNvPr id="9" name="card-330"/>
          <p:cNvSpPr/>
          <p:nvPr/>
        </p:nvSpPr>
        <p:spPr>
          <a:xfrm>
            <a:off x="5257800" y="1463040"/>
            <a:ext cx="3127248" cy="4617720"/>
          </a:xfrm>
          <a:prstGeom prst="roundRect">
            <a:avLst>
              <a:gd name="adj" fmla="val 46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0" name="icon-bg-331"/>
          <p:cNvSpPr/>
          <p:nvPr/>
        </p:nvSpPr>
        <p:spPr>
          <a:xfrm>
            <a:off x="6455664" y="1737360"/>
            <a:ext cx="731520" cy="731520"/>
          </a:xfrm>
          <a:prstGeom prst="ellipse">
            <a:avLst/>
          </a:prstGeom>
          <a:solidFill>
            <a:schemeClr val="accent4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1" name="icon-33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920240"/>
            <a:ext cx="365760" cy="365760"/>
          </a:xfrm>
          <a:prstGeom prst="rect">
            <a:avLst/>
          </a:prstGeom>
        </p:spPr>
      </p:pic>
      <p:sp>
        <p:nvSpPr>
          <p:cNvPr id="12" name="text-333"/>
          <p:cNvSpPr txBox="1"/>
          <p:nvPr/>
        </p:nvSpPr>
        <p:spPr>
          <a:xfrm>
            <a:off x="5440680" y="260604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800" b="1" dirty="0">
                <a:solidFill>
                  <a:schemeClr val="accent4"/>
                </a:solidFill>
              </a:rPr>
              <a:t>أُلغي السفر</a:t>
            </a:r>
            <a:endParaRPr lang="ar-TN" sz="1800" dirty="0"/>
          </a:p>
        </p:txBody>
      </p:sp>
      <p:sp>
        <p:nvSpPr>
          <p:cNvPr id="13" name="text-334"/>
          <p:cNvSpPr txBox="1"/>
          <p:nvPr/>
        </p:nvSpPr>
        <p:spPr>
          <a:xfrm>
            <a:off x="5440680" y="3108960"/>
            <a:ext cx="276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400" b="1" dirty="0">
                <a:solidFill>
                  <a:schemeClr val="accent2"/>
                </a:solidFill>
              </a:rPr>
              <a:t>15 يوم عمل</a:t>
            </a:r>
            <a:endParaRPr lang="ar-TN" sz="3400" dirty="0"/>
          </a:p>
        </p:txBody>
      </p:sp>
      <p:sp>
        <p:nvSpPr>
          <p:cNvPr id="14" name="text-335"/>
          <p:cNvSpPr txBox="1"/>
          <p:nvPr/>
        </p:nvSpPr>
        <p:spPr>
          <a:xfrm>
            <a:off x="5532120" y="4114800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إرجاع المبلغ في أجل أقصاه 15 يوم عمل بعد انتهاء صلوحية رخصة الخروج (شهران + 15 يومًا) — عدم الحصول على تأشيرة، مرض…</a:t>
            </a:r>
            <a:endParaRPr lang="ar-TN" sz="1350" dirty="0"/>
          </a:p>
        </p:txBody>
      </p:sp>
      <p:pic>
        <p:nvPicPr>
          <p:cNvPr id="15" name="3d-calendar-336" descr="calend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05731"/>
            <a:ext cx="3840480" cy="400070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منح أسفار الأعمال (AVA)</a:t>
            </a:r>
            <a:endParaRPr lang="ar-TN" sz="3000" dirty="0"/>
          </a:p>
        </p:txBody>
      </p:sp>
      <p:sp>
        <p:nvSpPr>
          <p:cNvPr id="3" name="text-337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تغطي مصاريف الإقامة بالخارج (نزل، إعاشة، تنقّل) المرتبطة حصرًا بالأنشطة المهنية</a:t>
            </a:r>
            <a:endParaRPr lang="ar-TN" sz="1500" dirty="0"/>
          </a:p>
        </p:txBody>
      </p:sp>
      <p:sp>
        <p:nvSpPr>
          <p:cNvPr id="4" name="card-338"/>
          <p:cNvSpPr/>
          <p:nvPr/>
        </p:nvSpPr>
        <p:spPr>
          <a:xfrm>
            <a:off x="8122615" y="1691640"/>
            <a:ext cx="3520440" cy="3154680"/>
          </a:xfrm>
          <a:prstGeom prst="roundRect">
            <a:avLst>
              <a:gd name="adj" fmla="val 4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text-339"/>
          <p:cNvSpPr txBox="1"/>
          <p:nvPr/>
        </p:nvSpPr>
        <p:spPr>
          <a:xfrm>
            <a:off x="8351215" y="18745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4000" b="1" dirty="0">
                <a:solidFill>
                  <a:schemeClr val="accent2"/>
                </a:solidFill>
              </a:rPr>
              <a:t>25%</a:t>
            </a:r>
            <a:endParaRPr lang="ar-TN" sz="4000" dirty="0"/>
          </a:p>
        </p:txBody>
      </p:sp>
      <p:sp>
        <p:nvSpPr>
          <p:cNvPr id="6" name="text-340"/>
          <p:cNvSpPr txBox="1"/>
          <p:nvPr/>
        </p:nvSpPr>
        <p:spPr>
          <a:xfrm>
            <a:off x="8351215" y="2651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b="1" dirty="0">
                <a:solidFill>
                  <a:schemeClr val="accent1"/>
                </a:solidFill>
              </a:rPr>
              <a:t>المصدّرون</a:t>
            </a:r>
            <a:endParaRPr lang="ar-TN" sz="1600" dirty="0"/>
          </a:p>
        </p:txBody>
      </p:sp>
      <p:sp>
        <p:nvSpPr>
          <p:cNvPr id="7" name="text-341"/>
          <p:cNvSpPr txBox="1"/>
          <p:nvPr/>
        </p:nvSpPr>
        <p:spPr>
          <a:xfrm>
            <a:off x="8351215" y="30175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FR" altLang="en-US" sz="1050" dirty="0">
                <a:solidFill>
                  <a:schemeClr val="accent5"/>
                </a:solidFill>
              </a:rPr>
              <a:t>AVA Exportateurs</a:t>
            </a:r>
            <a:endParaRPr lang="fr-FR" sz="1050" dirty="0"/>
          </a:p>
        </p:txBody>
      </p:sp>
      <p:sp>
        <p:nvSpPr>
          <p:cNvPr id="8" name="text-342"/>
          <p:cNvSpPr txBox="1"/>
          <p:nvPr/>
        </p:nvSpPr>
        <p:spPr>
          <a:xfrm>
            <a:off x="8351215" y="3383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من عائدات التصدير المُرجعة، بسقف 500,000 د في السنة المدنية. يُسجَّل الحق عند القبض في أجل أقصاه 3 أشهر.</a:t>
            </a:r>
            <a:endParaRPr lang="ar-TN" sz="1250" dirty="0"/>
          </a:p>
        </p:txBody>
      </p:sp>
      <p:sp>
        <p:nvSpPr>
          <p:cNvPr id="9" name="card-343"/>
          <p:cNvSpPr/>
          <p:nvPr/>
        </p:nvSpPr>
        <p:spPr>
          <a:xfrm>
            <a:off x="4336999" y="1691640"/>
            <a:ext cx="3520440" cy="3154680"/>
          </a:xfrm>
          <a:prstGeom prst="roundRect">
            <a:avLst>
              <a:gd name="adj" fmla="val 4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0" name="text-344"/>
          <p:cNvSpPr txBox="1"/>
          <p:nvPr/>
        </p:nvSpPr>
        <p:spPr>
          <a:xfrm>
            <a:off x="4565599" y="18745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4000" b="1" dirty="0">
                <a:solidFill>
                  <a:schemeClr val="accent2"/>
                </a:solidFill>
              </a:rPr>
              <a:t>8%</a:t>
            </a:r>
            <a:endParaRPr lang="ar-TN" sz="4000" dirty="0"/>
          </a:p>
        </p:txBody>
      </p:sp>
      <p:sp>
        <p:nvSpPr>
          <p:cNvPr id="11" name="text-345"/>
          <p:cNvSpPr txBox="1"/>
          <p:nvPr/>
        </p:nvSpPr>
        <p:spPr>
          <a:xfrm>
            <a:off x="4565599" y="2651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b="1" dirty="0">
                <a:solidFill>
                  <a:schemeClr val="accent1"/>
                </a:solidFill>
              </a:rPr>
              <a:t>أنشطة أخرى</a:t>
            </a:r>
            <a:endParaRPr lang="ar-TN" sz="1600" dirty="0"/>
          </a:p>
        </p:txBody>
      </p:sp>
      <p:sp>
        <p:nvSpPr>
          <p:cNvPr id="12" name="text-346"/>
          <p:cNvSpPr txBox="1"/>
          <p:nvPr/>
        </p:nvSpPr>
        <p:spPr>
          <a:xfrm>
            <a:off x="4565599" y="30175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FR" altLang="en-US" sz="1050" dirty="0">
                <a:solidFill>
                  <a:schemeClr val="accent5"/>
                </a:solidFill>
              </a:rPr>
              <a:t>AVA Autres Activités</a:t>
            </a:r>
            <a:endParaRPr lang="fr-FR" sz="1050" dirty="0"/>
          </a:p>
        </p:txBody>
      </p:sp>
      <p:sp>
        <p:nvSpPr>
          <p:cNvPr id="13" name="text-347"/>
          <p:cNvSpPr txBox="1"/>
          <p:nvPr/>
        </p:nvSpPr>
        <p:spPr>
          <a:xfrm>
            <a:off x="4565599" y="3383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من رقم المعاملات الخالي من الأداءات للسنة السابقة. سقف 50,000 د (الأنشطة 1–25) و400,000 د (النشاط 26).</a:t>
            </a:r>
            <a:endParaRPr lang="ar-TN" sz="1250" dirty="0"/>
          </a:p>
        </p:txBody>
      </p:sp>
      <p:sp>
        <p:nvSpPr>
          <p:cNvPr id="14" name="card-348"/>
          <p:cNvSpPr/>
          <p:nvPr/>
        </p:nvSpPr>
        <p:spPr>
          <a:xfrm>
            <a:off x="551383" y="1691640"/>
            <a:ext cx="3520440" cy="3154680"/>
          </a:xfrm>
          <a:prstGeom prst="roundRect">
            <a:avLst>
              <a:gd name="adj" fmla="val 46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5" name="text-349"/>
          <p:cNvSpPr txBox="1"/>
          <p:nvPr/>
        </p:nvSpPr>
        <p:spPr>
          <a:xfrm>
            <a:off x="779983" y="18745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4000" b="1" dirty="0">
                <a:solidFill>
                  <a:schemeClr val="accent2"/>
                </a:solidFill>
              </a:rPr>
              <a:t>15%</a:t>
            </a:r>
            <a:endParaRPr lang="ar-TN" sz="4000" dirty="0"/>
          </a:p>
        </p:txBody>
      </p:sp>
      <p:sp>
        <p:nvSpPr>
          <p:cNvPr id="16" name="text-350"/>
          <p:cNvSpPr txBox="1"/>
          <p:nvPr/>
        </p:nvSpPr>
        <p:spPr>
          <a:xfrm>
            <a:off x="779983" y="2651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b="1" dirty="0">
                <a:solidFill>
                  <a:schemeClr val="accent1"/>
                </a:solidFill>
              </a:rPr>
              <a:t>أسواق قابلة للإنجاز بالخارج</a:t>
            </a:r>
            <a:endParaRPr lang="ar-TN" sz="1600" dirty="0"/>
          </a:p>
        </p:txBody>
      </p:sp>
      <p:sp>
        <p:nvSpPr>
          <p:cNvPr id="17" name="text-351"/>
          <p:cNvSpPr txBox="1"/>
          <p:nvPr/>
        </p:nvSpPr>
        <p:spPr>
          <a:xfrm>
            <a:off x="779983" y="30175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FR" altLang="en-US" sz="1050" dirty="0">
                <a:solidFill>
                  <a:schemeClr val="accent5"/>
                </a:solidFill>
              </a:rPr>
              <a:t>Marchés Réalisables à l'Etranger</a:t>
            </a:r>
            <a:endParaRPr lang="fr-FR" sz="1050" dirty="0"/>
          </a:p>
        </p:txBody>
      </p:sp>
      <p:sp>
        <p:nvSpPr>
          <p:cNvPr id="18" name="text-352"/>
          <p:cNvSpPr txBox="1"/>
          <p:nvPr/>
        </p:nvSpPr>
        <p:spPr>
          <a:xfrm>
            <a:off x="779983" y="3383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من قيمة العقد القابلة للدفع بالعملة، لعقود الدراسات والأشغال والمراقبة مع طرف أجنبي.</a:t>
            </a:r>
            <a:endParaRPr lang="ar-TN" sz="1250" dirty="0"/>
          </a:p>
        </p:txBody>
      </p:sp>
      <p:sp>
        <p:nvSpPr>
          <p:cNvPr id="19" name="card-353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13913"/>
            </a:avLst>
          </a:prstGeom>
          <a:solidFill>
            <a:schemeClr val="bg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20" name="icon-bg-354"/>
          <p:cNvSpPr/>
          <p:nvPr/>
        </p:nvSpPr>
        <p:spPr>
          <a:xfrm>
            <a:off x="10865815" y="5257800"/>
            <a:ext cx="594360" cy="594360"/>
          </a:xfrm>
          <a:prstGeom prst="ellipse">
            <a:avLst/>
          </a:prstGeom>
          <a:solidFill>
            <a:schemeClr val="accent4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1" name="icon-35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4405" y="5406390"/>
            <a:ext cx="297180" cy="297180"/>
          </a:xfrm>
          <a:prstGeom prst="rect">
            <a:avLst/>
          </a:prstGeom>
        </p:spPr>
      </p:pic>
      <p:sp>
        <p:nvSpPr>
          <p:cNvPr id="22" name="text-356"/>
          <p:cNvSpPr txBox="1"/>
          <p:nvPr/>
        </p:nvSpPr>
        <p:spPr>
          <a:xfrm>
            <a:off x="2926080" y="50749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accent4"/>
                </a:solidFill>
              </a:rPr>
              <a:t>قاعدة السقف النقدي: </a:t>
            </a:r>
            <a:pPr rtl="1" algn="r" indent="0" marL="0"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لا يتجاوز المبلغ المصدَّر ماديًا (نقدًا BBE) ما يعادل 30,000 دينار لكل سفرة ولكل منتفع، حتى وإن كان رصيد المنحة أكبر.</a:t>
            </a:r>
            <a:endParaRPr lang="ar-TN" sz="1400" dirty="0"/>
          </a:p>
        </p:txBody>
      </p:sp>
      <p:pic>
        <p:nvPicPr>
          <p:cNvPr id="23" name="3d-briefcase-357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67" y="4892040"/>
            <a:ext cx="1551745" cy="1143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اقتصاديات على الأجور</a:t>
            </a:r>
            <a:endParaRPr lang="ar-TN" sz="3000" dirty="0"/>
          </a:p>
        </p:txBody>
      </p:sp>
      <p:sp>
        <p:nvSpPr>
          <p:cNvPr id="3" name="text-358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r-FR" altLang="en-US" sz="1500" dirty="0">
                <a:solidFill>
                  <a:schemeClr val="accent5"/>
                </a:solidFill>
              </a:rPr>
              <a:t>Économies sur salaires</a:t>
            </a:r>
            <a:endParaRPr lang="fr-FR" sz="1500" dirty="0"/>
          </a:p>
        </p:txBody>
      </p:sp>
      <p:sp>
        <p:nvSpPr>
          <p:cNvPr id="4" name="text-359"/>
          <p:cNvSpPr txBox="1"/>
          <p:nvPr/>
        </p:nvSpPr>
        <p:spPr>
          <a:xfrm>
            <a:off x="5257800" y="1691640"/>
            <a:ext cx="6382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tx1"/>
                </a:solidFill>
              </a:rPr>
              <a:t>يحق للأجانب المتعاقدين العاملين في تونس، وللتونسيين المقيمين بالخارج الملحقين بفروع شركاتهم في تونس، تحويل مدخراتهم من الأجور إلى الخارج بشروط:</a:t>
            </a:r>
            <a:endParaRPr lang="ar-TN" sz="1500" dirty="0"/>
          </a:p>
        </p:txBody>
      </p:sp>
      <p:sp>
        <p:nvSpPr>
          <p:cNvPr id="5" name="card-360"/>
          <p:cNvSpPr/>
          <p:nvPr/>
        </p:nvSpPr>
        <p:spPr>
          <a:xfrm>
            <a:off x="8513064" y="2743200"/>
            <a:ext cx="3127248" cy="117043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6" name="icon-bg-361"/>
          <p:cNvSpPr/>
          <p:nvPr/>
        </p:nvSpPr>
        <p:spPr>
          <a:xfrm>
            <a:off x="10936224" y="296265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7" name="icon-36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3081528"/>
            <a:ext cx="237744" cy="237744"/>
          </a:xfrm>
          <a:prstGeom prst="rect">
            <a:avLst/>
          </a:prstGeom>
        </p:spPr>
      </p:pic>
      <p:sp>
        <p:nvSpPr>
          <p:cNvPr id="8" name="text-363"/>
          <p:cNvSpPr txBox="1"/>
          <p:nvPr/>
        </p:nvSpPr>
        <p:spPr>
          <a:xfrm>
            <a:off x="8741664" y="2944368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بطاقة إقامة سارية المفعول (للأجانب).</a:t>
            </a:r>
            <a:endParaRPr lang="ar-TN" sz="1400" dirty="0"/>
          </a:p>
        </p:txBody>
      </p:sp>
      <p:sp>
        <p:nvSpPr>
          <p:cNvPr id="9" name="card-364"/>
          <p:cNvSpPr/>
          <p:nvPr/>
        </p:nvSpPr>
        <p:spPr>
          <a:xfrm>
            <a:off x="5257800" y="2743200"/>
            <a:ext cx="3127248" cy="117043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0" name="icon-bg-365"/>
          <p:cNvSpPr/>
          <p:nvPr/>
        </p:nvSpPr>
        <p:spPr>
          <a:xfrm>
            <a:off x="7680960" y="296265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1" name="icon-36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3081528"/>
            <a:ext cx="237744" cy="237744"/>
          </a:xfrm>
          <a:prstGeom prst="rect">
            <a:avLst/>
          </a:prstGeom>
        </p:spPr>
      </p:pic>
      <p:sp>
        <p:nvSpPr>
          <p:cNvPr id="12" name="text-367"/>
          <p:cNvSpPr txBox="1"/>
          <p:nvPr/>
        </p:nvSpPr>
        <p:spPr>
          <a:xfrm>
            <a:off x="5486400" y="2944368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شهادة أجر تحدّد الأجر الصافي بعد خصم الضرائب.</a:t>
            </a:r>
            <a:endParaRPr lang="ar-TN" sz="1400" dirty="0"/>
          </a:p>
        </p:txBody>
      </p:sp>
      <p:sp>
        <p:nvSpPr>
          <p:cNvPr id="13" name="card-368"/>
          <p:cNvSpPr/>
          <p:nvPr/>
        </p:nvSpPr>
        <p:spPr>
          <a:xfrm>
            <a:off x="8513064" y="4041648"/>
            <a:ext cx="3127248" cy="117043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4" name="icon-bg-369"/>
          <p:cNvSpPr/>
          <p:nvPr/>
        </p:nvSpPr>
        <p:spPr>
          <a:xfrm>
            <a:off x="10936224" y="4261104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5" name="icon-37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4379976"/>
            <a:ext cx="237744" cy="237744"/>
          </a:xfrm>
          <a:prstGeom prst="rect">
            <a:avLst/>
          </a:prstGeom>
        </p:spPr>
      </p:pic>
      <p:sp>
        <p:nvSpPr>
          <p:cNvPr id="16" name="text-371"/>
          <p:cNvSpPr txBox="1"/>
          <p:nvPr/>
        </p:nvSpPr>
        <p:spPr>
          <a:xfrm>
            <a:off x="8741664" y="4242816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عقد عمل مؤشَّر من وزارة التشغيل (أو شهادة إعفاء، أو اتفاقيات ثنائية).</a:t>
            </a:r>
            <a:endParaRPr lang="ar-TN" sz="1400" dirty="0"/>
          </a:p>
        </p:txBody>
      </p:sp>
      <p:sp>
        <p:nvSpPr>
          <p:cNvPr id="17" name="card-372"/>
          <p:cNvSpPr/>
          <p:nvPr/>
        </p:nvSpPr>
        <p:spPr>
          <a:xfrm>
            <a:off x="5257800" y="4041648"/>
            <a:ext cx="3127248" cy="117043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8" name="icon-bg-373"/>
          <p:cNvSpPr/>
          <p:nvPr/>
        </p:nvSpPr>
        <p:spPr>
          <a:xfrm>
            <a:off x="7680960" y="4261104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9" name="icon-37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4379976"/>
            <a:ext cx="237744" cy="237744"/>
          </a:xfrm>
          <a:prstGeom prst="rect">
            <a:avLst/>
          </a:prstGeom>
        </p:spPr>
      </p:pic>
      <p:sp>
        <p:nvSpPr>
          <p:cNvPr id="20" name="text-375"/>
          <p:cNvSpPr txBox="1"/>
          <p:nvPr/>
        </p:nvSpPr>
        <p:spPr>
          <a:xfrm>
            <a:off x="5486400" y="4242816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تسوية الوضعية الجبائية.</a:t>
            </a:r>
            <a:endParaRPr lang="ar-TN" sz="1400" dirty="0"/>
          </a:p>
        </p:txBody>
      </p:sp>
      <p:sp>
        <p:nvSpPr>
          <p:cNvPr id="21" name="text-376"/>
          <p:cNvSpPr txBox="1"/>
          <p:nvPr/>
        </p:nvSpPr>
        <p:spPr>
          <a:xfrm>
            <a:off x="10085832" y="5440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accent1"/>
                </a:solidFill>
              </a:rPr>
              <a:t>طرق التحويل:</a:t>
            </a:r>
            <a:endParaRPr lang="ar-TN" sz="1400" dirty="0"/>
          </a:p>
        </p:txBody>
      </p:sp>
      <p:sp>
        <p:nvSpPr>
          <p:cNvPr id="22" name="pill-377"/>
          <p:cNvSpPr/>
          <p:nvPr/>
        </p:nvSpPr>
        <p:spPr>
          <a:xfrm>
            <a:off x="8641080" y="5468112"/>
            <a:ext cx="132588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23" name="text-378"/>
          <p:cNvSpPr txBox="1"/>
          <p:nvPr/>
        </p:nvSpPr>
        <p:spPr>
          <a:xfrm>
            <a:off x="8750808" y="5468112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00" b="1" dirty="0">
                <a:solidFill>
                  <a:schemeClr val="accent1"/>
                </a:solidFill>
              </a:rPr>
              <a:t>حوالة</a:t>
            </a:r>
            <a:endParaRPr lang="ar-TN" sz="1400" dirty="0"/>
          </a:p>
        </p:txBody>
      </p:sp>
      <p:sp>
        <p:nvSpPr>
          <p:cNvPr id="24" name="pill-379"/>
          <p:cNvSpPr/>
          <p:nvPr/>
        </p:nvSpPr>
        <p:spPr>
          <a:xfrm>
            <a:off x="7178040" y="5468112"/>
            <a:ext cx="132588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25" name="text-380"/>
          <p:cNvSpPr txBox="1"/>
          <p:nvPr/>
        </p:nvSpPr>
        <p:spPr>
          <a:xfrm>
            <a:off x="7287768" y="5468112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00" b="1" dirty="0">
                <a:solidFill>
                  <a:schemeClr val="accent1"/>
                </a:solidFill>
              </a:rPr>
              <a:t>شيك</a:t>
            </a:r>
            <a:endParaRPr lang="ar-TN" sz="1400" dirty="0"/>
          </a:p>
        </p:txBody>
      </p:sp>
      <p:sp>
        <p:nvSpPr>
          <p:cNvPr id="26" name="pill-381"/>
          <p:cNvSpPr/>
          <p:nvPr/>
        </p:nvSpPr>
        <p:spPr>
          <a:xfrm>
            <a:off x="5715000" y="5468112"/>
            <a:ext cx="132588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27" name="text-382"/>
          <p:cNvSpPr txBox="1"/>
          <p:nvPr/>
        </p:nvSpPr>
        <p:spPr>
          <a:xfrm>
            <a:off x="5824728" y="5468112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00" b="1" dirty="0">
                <a:solidFill>
                  <a:schemeClr val="accent1"/>
                </a:solidFill>
              </a:rPr>
              <a:t>نقدًا</a:t>
            </a:r>
            <a:endParaRPr lang="ar-TN" sz="1400" dirty="0"/>
          </a:p>
        </p:txBody>
      </p:sp>
      <p:pic>
        <p:nvPicPr>
          <p:cNvPr id="28" name="3d-salary-383" descr="sala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81323"/>
            <a:ext cx="4389120" cy="23050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الحسابات بالعملة الأجنبية</a:t>
            </a:r>
            <a:endParaRPr lang="ar-TN" sz="3000" dirty="0"/>
          </a:p>
        </p:txBody>
      </p:sp>
      <p:sp>
        <p:nvSpPr>
          <p:cNvPr id="3" name="card-384"/>
          <p:cNvSpPr/>
          <p:nvPr/>
        </p:nvSpPr>
        <p:spPr>
          <a:xfrm>
            <a:off x="5257800" y="1417320"/>
            <a:ext cx="6382512" cy="2697480"/>
          </a:xfrm>
          <a:prstGeom prst="roundRect">
            <a:avLst>
              <a:gd name="adj" fmla="val 542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icon-bg-385"/>
          <p:cNvSpPr/>
          <p:nvPr/>
        </p:nvSpPr>
        <p:spPr>
          <a:xfrm>
            <a:off x="10863072" y="1618488"/>
            <a:ext cx="548640" cy="54864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5" name="icon-38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1755648"/>
            <a:ext cx="274320" cy="274320"/>
          </a:xfrm>
          <a:prstGeom prst="rect">
            <a:avLst/>
          </a:prstGeom>
        </p:spPr>
      </p:pic>
      <p:sp>
        <p:nvSpPr>
          <p:cNvPr id="6" name="text-387"/>
          <p:cNvSpPr txBox="1"/>
          <p:nvPr/>
        </p:nvSpPr>
        <p:spPr>
          <a:xfrm>
            <a:off x="5486400" y="16002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b="1" dirty="0">
                <a:solidFill>
                  <a:schemeClr val="tx1"/>
                </a:solidFill>
              </a:rPr>
              <a:t>الحسابات المهنية بالعملة الأجنبية</a:t>
            </a:r>
            <a:endParaRPr lang="ar-TN" sz="1400" dirty="0"/>
          </a:p>
          <a:p>
            <a:pPr rtl="1" algn="r" indent="0" marL="0">
              <a:buNone/>
            </a:pPr>
            <a:r>
              <a:rPr lang="ar-TN" altLang="en-US" sz="1250" dirty="0">
                <a:solidFill>
                  <a:schemeClr val="accent5"/>
                </a:solidFill>
              </a:rPr>
              <a:t>للمتعاملين الاقتصاديين المقيمين ذوي الموارد بالعملة — حماية من مخاطر الصرف</a:t>
            </a:r>
            <a:endParaRPr lang="ar-TN" sz="1400" dirty="0"/>
          </a:p>
        </p:txBody>
      </p:sp>
      <p:sp>
        <p:nvSpPr>
          <p:cNvPr id="7" name="text-388"/>
          <p:cNvSpPr txBox="1"/>
          <p:nvPr/>
        </p:nvSpPr>
        <p:spPr>
          <a:xfrm>
            <a:off x="5486400" y="2514600"/>
            <a:ext cx="5897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تُغذّى بنسبة 100% من عائدات التصدير أو القروض الخارجية المرخّصة.</a:t>
            </a:r>
            <a:endParaRPr lang="ar-TN" sz="125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تُستعمل وجوبًا وبالأولوية لتسديد النفقات بالعملة الأجنبية.</a:t>
            </a:r>
            <a:endParaRPr lang="ar-TN" sz="125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يُفوَّت في كل فائض غير مستحق مقابل الدينار في سوق الصرف.</a:t>
            </a:r>
            <a:endParaRPr lang="ar-TN" sz="125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الإيداع النقدي فيها يتطلّب إجباريًا التصريح الديواني والفواتير ذات الصلة.</a:t>
            </a:r>
            <a:endParaRPr lang="ar-TN" sz="1250" dirty="0"/>
          </a:p>
        </p:txBody>
      </p:sp>
      <p:sp>
        <p:nvSpPr>
          <p:cNvPr id="8" name="card-389"/>
          <p:cNvSpPr/>
          <p:nvPr/>
        </p:nvSpPr>
        <p:spPr>
          <a:xfrm>
            <a:off x="5257800" y="4297680"/>
            <a:ext cx="6382512" cy="1783080"/>
          </a:xfrm>
          <a:prstGeom prst="roundRect">
            <a:avLst>
              <a:gd name="adj" fmla="val 820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390"/>
          <p:cNvSpPr/>
          <p:nvPr/>
        </p:nvSpPr>
        <p:spPr>
          <a:xfrm>
            <a:off x="10863072" y="4498848"/>
            <a:ext cx="548640" cy="54864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3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4636008"/>
            <a:ext cx="274320" cy="274320"/>
          </a:xfrm>
          <a:prstGeom prst="rect">
            <a:avLst/>
          </a:prstGeom>
        </p:spPr>
      </p:pic>
      <p:sp>
        <p:nvSpPr>
          <p:cNvPr id="11" name="text-392"/>
          <p:cNvSpPr txBox="1"/>
          <p:nvPr/>
        </p:nvSpPr>
        <p:spPr>
          <a:xfrm>
            <a:off x="5486400" y="44805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b="1" dirty="0">
                <a:solidFill>
                  <a:schemeClr val="tx1"/>
                </a:solidFill>
              </a:rPr>
              <a:t>الحسابات الأجنبية بالعملة وبالدينار القابل للتحويل</a:t>
            </a:r>
            <a:endParaRPr lang="ar-TN" sz="1400" dirty="0"/>
          </a:p>
          <a:p>
            <a:pPr rtl="1" algn="r" indent="0" marL="0">
              <a:buNone/>
            </a:pPr>
            <a:r>
              <a:rPr lang="ar-TN" altLang="en-US" sz="1250" dirty="0">
                <a:solidFill>
                  <a:schemeClr val="accent5"/>
                </a:solidFill>
              </a:rPr>
              <a:t>للأشخاص الطبيعيين والمعنويين غير المقيمين</a:t>
            </a:r>
            <a:endParaRPr lang="ar-TN" sz="1400" dirty="0"/>
          </a:p>
        </p:txBody>
      </p:sp>
      <p:sp>
        <p:nvSpPr>
          <p:cNvPr id="12" name="text-393"/>
          <p:cNvSpPr txBox="1"/>
          <p:nvPr/>
        </p:nvSpPr>
        <p:spPr>
          <a:xfrm>
            <a:off x="5486400" y="539496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التغذية: الإيداعات النقدية تخضع لتصريح ديواني ساري المفعول.</a:t>
            </a:r>
            <a:endParaRPr lang="ar-TN" sz="1250" dirty="0"/>
          </a:p>
          <a:p>
            <a:pPr rtl="1" algn="r" marL="177800" indent="-177800">
              <a:spcAft>
                <a:spcPts val="400"/>
              </a:spcAft>
              <a:buSzPct val="100000"/>
              <a:buChar char="•"/>
            </a:pPr>
            <a:r>
              <a:rPr lang="ar-TN" altLang="en-US" sz="1250" dirty="0">
                <a:solidFill>
                  <a:schemeClr val="tx1"/>
                </a:solidFill>
              </a:rPr>
              <a:t>السحب النقدي للتصدير: لا يفوق ما يعادل 30,000 دينار للمنتفع الواحد عن كل سفرة.</a:t>
            </a:r>
            <a:endParaRPr lang="ar-TN" sz="1250" dirty="0"/>
          </a:p>
        </p:txBody>
      </p:sp>
      <p:pic>
        <p:nvPicPr>
          <p:cNvPr id="13" name="3d-vault-394" descr="vau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93220"/>
            <a:ext cx="4297680" cy="28217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أرقام مرجعية للتذكّر</a:t>
            </a:r>
            <a:endParaRPr lang="ar-TN" sz="3000" dirty="0"/>
          </a:p>
        </p:txBody>
      </p:sp>
      <p:sp>
        <p:nvSpPr>
          <p:cNvPr id="3" name="card-395"/>
          <p:cNvSpPr/>
          <p:nvPr/>
        </p:nvSpPr>
        <p:spPr>
          <a:xfrm>
            <a:off x="9628632" y="1463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text-396"/>
          <p:cNvSpPr txBox="1"/>
          <p:nvPr/>
        </p:nvSpPr>
        <p:spPr>
          <a:xfrm>
            <a:off x="9811512" y="1627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2800" b="1" dirty="0">
                <a:solidFill>
                  <a:schemeClr val="accent2"/>
                </a:solidFill>
              </a:rPr>
              <a:t>20,000 د</a:t>
            </a:r>
            <a:endParaRPr lang="ar-TN" sz="2800" dirty="0"/>
          </a:p>
        </p:txBody>
      </p:sp>
      <p:sp>
        <p:nvSpPr>
          <p:cNvPr id="5" name="text-397"/>
          <p:cNvSpPr txBox="1"/>
          <p:nvPr/>
        </p:nvSpPr>
        <p:spPr>
          <a:xfrm>
            <a:off x="9811512" y="2423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عتبة التصريح الديواني عند التوريد أو التصدير</a:t>
            </a:r>
            <a:endParaRPr lang="ar-TN" sz="1250" dirty="0"/>
          </a:p>
        </p:txBody>
      </p:sp>
      <p:sp>
        <p:nvSpPr>
          <p:cNvPr id="6" name="card-398"/>
          <p:cNvSpPr/>
          <p:nvPr/>
        </p:nvSpPr>
        <p:spPr>
          <a:xfrm>
            <a:off x="7443216" y="1463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7" name="text-399"/>
          <p:cNvSpPr txBox="1"/>
          <p:nvPr/>
        </p:nvSpPr>
        <p:spPr>
          <a:xfrm>
            <a:off x="7626096" y="1627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2800" b="1" dirty="0">
                <a:solidFill>
                  <a:schemeClr val="accent4"/>
                </a:solidFill>
              </a:rPr>
              <a:t>30,000 د</a:t>
            </a:r>
            <a:endParaRPr lang="ar-TN" sz="2800" dirty="0"/>
          </a:p>
        </p:txBody>
      </p:sp>
      <p:sp>
        <p:nvSpPr>
          <p:cNvPr id="8" name="text-400"/>
          <p:cNvSpPr txBox="1"/>
          <p:nvPr/>
        </p:nvSpPr>
        <p:spPr>
          <a:xfrm>
            <a:off x="7626096" y="2423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سقف التصدير النقدي لكل سفرة ولكل منتفع</a:t>
            </a:r>
            <a:endParaRPr lang="ar-TN" sz="1250" dirty="0"/>
          </a:p>
        </p:txBody>
      </p:sp>
      <p:sp>
        <p:nvSpPr>
          <p:cNvPr id="9" name="card-401"/>
          <p:cNvSpPr/>
          <p:nvPr/>
        </p:nvSpPr>
        <p:spPr>
          <a:xfrm>
            <a:off x="5257800" y="1463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0" name="text-402"/>
          <p:cNvSpPr txBox="1"/>
          <p:nvPr/>
        </p:nvSpPr>
        <p:spPr>
          <a:xfrm>
            <a:off x="5440680" y="1627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2800" b="1" dirty="0">
                <a:solidFill>
                  <a:schemeClr val="accent1"/>
                </a:solidFill>
              </a:rPr>
              <a:t>6,000 د</a:t>
            </a:r>
            <a:endParaRPr lang="ar-TN" sz="2800" dirty="0"/>
          </a:p>
        </p:txBody>
      </p:sp>
      <p:sp>
        <p:nvSpPr>
          <p:cNvPr id="11" name="text-403"/>
          <p:cNvSpPr txBox="1"/>
          <p:nvPr/>
        </p:nvSpPr>
        <p:spPr>
          <a:xfrm>
            <a:off x="5440680" y="2423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المنحة السياحية السنوية للتونسي المقيم</a:t>
            </a:r>
            <a:endParaRPr lang="ar-TN" sz="1250" dirty="0"/>
          </a:p>
        </p:txBody>
      </p:sp>
      <p:sp>
        <p:nvSpPr>
          <p:cNvPr id="12" name="card-404"/>
          <p:cNvSpPr/>
          <p:nvPr/>
        </p:nvSpPr>
        <p:spPr>
          <a:xfrm>
            <a:off x="9628632" y="3749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text-405"/>
          <p:cNvSpPr txBox="1"/>
          <p:nvPr/>
        </p:nvSpPr>
        <p:spPr>
          <a:xfrm>
            <a:off x="9811512" y="3913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2800" b="1" dirty="0">
                <a:solidFill>
                  <a:schemeClr val="accent2"/>
                </a:solidFill>
              </a:rPr>
              <a:t>90 يومًا</a:t>
            </a:r>
            <a:endParaRPr lang="ar-TN" sz="2800" dirty="0"/>
          </a:p>
        </p:txBody>
      </p:sp>
      <p:sp>
        <p:nvSpPr>
          <p:cNvPr id="14" name="text-406"/>
          <p:cNvSpPr txBox="1"/>
          <p:nvPr/>
        </p:nvSpPr>
        <p:spPr>
          <a:xfrm>
            <a:off x="9811512" y="4709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الصلوحية القصوى للتصريح الديواني</a:t>
            </a:r>
            <a:endParaRPr lang="ar-TN" sz="1250" dirty="0"/>
          </a:p>
        </p:txBody>
      </p:sp>
      <p:sp>
        <p:nvSpPr>
          <p:cNvPr id="15" name="card-407"/>
          <p:cNvSpPr/>
          <p:nvPr/>
        </p:nvSpPr>
        <p:spPr>
          <a:xfrm>
            <a:off x="7443216" y="3749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6" name="text-408"/>
          <p:cNvSpPr txBox="1"/>
          <p:nvPr/>
        </p:nvSpPr>
        <p:spPr>
          <a:xfrm>
            <a:off x="7626096" y="3913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2800" b="1" dirty="0">
                <a:solidFill>
                  <a:schemeClr val="accent4"/>
                </a:solidFill>
              </a:rPr>
              <a:t>60 يومًا</a:t>
            </a:r>
            <a:endParaRPr lang="ar-TN" sz="2800" dirty="0"/>
          </a:p>
        </p:txBody>
      </p:sp>
      <p:sp>
        <p:nvSpPr>
          <p:cNvPr id="17" name="text-409"/>
          <p:cNvSpPr txBox="1"/>
          <p:nvPr/>
        </p:nvSpPr>
        <p:spPr>
          <a:xfrm>
            <a:off x="7626096" y="4709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صلوحية رخصة تصدير العملة (AED)</a:t>
            </a:r>
            <a:endParaRPr lang="ar-TN" sz="1250" dirty="0"/>
          </a:p>
        </p:txBody>
      </p:sp>
      <p:sp>
        <p:nvSpPr>
          <p:cNvPr id="18" name="card-410"/>
          <p:cNvSpPr/>
          <p:nvPr/>
        </p:nvSpPr>
        <p:spPr>
          <a:xfrm>
            <a:off x="5257800" y="3749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9" name="text-411"/>
          <p:cNvSpPr txBox="1"/>
          <p:nvPr/>
        </p:nvSpPr>
        <p:spPr>
          <a:xfrm>
            <a:off x="5440680" y="3913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2800" b="1" dirty="0">
                <a:solidFill>
                  <a:schemeClr val="accent1"/>
                </a:solidFill>
              </a:rPr>
              <a:t>10 أيام</a:t>
            </a:r>
            <a:endParaRPr lang="ar-TN" sz="2800" dirty="0"/>
          </a:p>
        </p:txBody>
      </p:sp>
      <p:sp>
        <p:nvSpPr>
          <p:cNvPr id="20" name="text-412"/>
          <p:cNvSpPr txBox="1"/>
          <p:nvPr/>
        </p:nvSpPr>
        <p:spPr>
          <a:xfrm>
            <a:off x="5440680" y="4709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أجل إرجاع عائدات تصدير السلع</a:t>
            </a:r>
            <a:endParaRPr lang="ar-TN" sz="1250" dirty="0"/>
          </a:p>
        </p:txBody>
      </p:sp>
      <p:pic>
        <p:nvPicPr>
          <p:cNvPr id="21" name="3d-bank-413" descr="b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90852"/>
            <a:ext cx="4389120" cy="30784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T Change">
  <a:themeElements>
    <a:clrScheme name="BCT Change">
      <a:dk1>
        <a:srgbClr val="0F3D3E"/>
      </a:dk1>
      <a:lt1>
        <a:srgbClr val="FFFFFF"/>
      </a:lt1>
      <a:dk2>
        <a:srgbClr val="1F6F6B"/>
      </a:dk2>
      <a:lt2>
        <a:srgbClr val="EEF6F4"/>
      </a:lt2>
      <a:accent1>
        <a:srgbClr val="1F6F6B"/>
      </a:accent1>
      <a:accent2>
        <a:srgbClr val="B8862B"/>
      </a:accent2>
      <a:accent3>
        <a:srgbClr val="7FC8BE"/>
      </a:accent3>
      <a:accent4>
        <a:srgbClr val="C0392B"/>
      </a:accent4>
      <a:accent5>
        <a:srgbClr val="5B7F7E"/>
      </a:accent5>
      <a:accent6>
        <a:srgbClr val="E9D39A"/>
      </a:accent6>
      <a:hlink>
        <a:srgbClr val="1F6F6B"/>
      </a:hlink>
      <a:folHlink>
        <a:srgbClr val="5B7F7E"/>
      </a:folHlink>
    </a:clrScheme>
    <a:fontScheme name="BCT Change">
      <a:majorFont>
        <a:latin typeface="Arial"/>
        <a:ea typeface="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أهم الأحكام المنظمة لعمليات الصرف بالعملة الأجنبية نقدًا</dc:title>
  <dc:subject>البنك المركزي التونسي — دليل تراتيب الصرف</dc:subject>
  <dc:creator>PptxGenJS</dc:creator>
  <cp:lastModifiedBy>PptxGenJS</cp:lastModifiedBy>
  <cp:revision>1</cp:revision>
  <dcterms:created xsi:type="dcterms:W3CDTF">2026-10-02T11:24:15Z</dcterms:created>
  <dcterms:modified xsi:type="dcterms:W3CDTF">2026-10-02T11:24:15Z</dcterms:modified>
</cp:coreProperties>
</file>