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0f6f3d1a-2842-e117-2908-515422668b64}">
          <p14:sldIdLst>
            <p14:sldId id="256"/>
            <p14:sldId id="257"/>
          </p14:sldIdLst>
        </p14:section>
        <p14:section name="I · المنع كأصل" id="{a204fcb8-b50d-8fb2-e149-22ec9fef5ced}">
          <p14:sldIdLst>
            <p14:sldId id="258"/>
            <p14:sldId id="259"/>
            <p14:sldId id="260"/>
          </p14:sldIdLst>
        </p14:section>
        <p14:section name="II · القانون 18/1976" id="{2b55dbb5-1147-6349-42e7-af02e66d4f6c}">
          <p14:sldIdLst>
            <p14:sldId id="261"/>
            <p14:sldId id="262"/>
          </p14:sldIdLst>
        </p14:section>
        <p14:section name="III · الأمر 608/1977 والإقامة" id="{6d4c4bb1-a647-15af-8417-35e852c74033}">
          <p14:sldIdLst>
            <p14:sldId id="263"/>
            <p14:sldId id="264"/>
            <p14:sldId id="265"/>
            <p14:sldId id="266"/>
          </p14:sldIdLst>
        </p14:section>
        <p14:section name="IV · حالات وتبعات" id="{e918a24f-1649-c1bf-6450-36c8b3a5bff3}">
          <p14:sldIdLst>
            <p14:sldId id="267"/>
            <p14:sldId id="268"/>
            <p14:sldId id="269"/>
            <p14:sldId id="270"/>
            <p14:sldId id="271"/>
          </p14:sldIdLst>
        </p14:section>
        <p14:section name="الخلاصة" id="{3c9752dc-806a-7fd5-e5b1-898bdc32189f}">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محور تكويني موجّه للإطارات الأمنية حول الأسس القانونية لتراتيب الصرف في تونس ومفهوم الإقامة الصرفية.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أربعة محاور: الفلسفة العامة، القانون الأم، النص الترتيبي ومفهوم الإقامة، ثم الحالات التطبيقية والخلاصة الأمنية.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المنع هو الأصل، والترخيص هو الاستثناء: إمّا ترخيص عام بنصّ قانوني، أو ترخيص خاص مسبق من البنك المركزي.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بالنسبة للمقيم، الحيازة دون سند قرينة على المخالفة؛ والسند يكون تصريحًا ديوانيًا أو وصلًا بنكيًا أو ترخيصًا.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ثلاث ركائز: احتكار البنك المركزي وتفويضه للبنوك، إلزامية إرجاع محاصيل التصدير، وباب زجري بعقوبات سجنية وخطايا.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المقيم خاضع للمنع ويحتاج ترخيصًا؛ غير المقيم يتمتع بحرية أكبر شرط شرعية المصدر والمرور عبر القنوات الرسمية.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الإقامة الإدارية تقوم على الهوية والعنوان، أما الإقامة الصرفية فتقوم على مركز المصالح الاقتصادية، وهي صفة متحرّكة.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الصفة الصرفية تُحدَّد بمكان العمل ومصدر الدخل ومكان الإنفاق الاعتيادي، وتتغيّر بتغيّر هذه المعطيات.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الجنسية تونسية، لكن الصفة الصرفية «غير مقيم» لأن مركز مصالحه الاقتصادية بالخارج.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الجنسية أجنبية، لكن الصفة الصرفية «مقيم»: يخضع لنفس قيود المواطن التونسي المقيم.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الصفة الصرفية متحرّكة: العودة النهائية تحوّل الشخص من غير مقيم إلى مقيم بكل ما يترتّب عن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الوثائق المطلوبة تهدف إلى إثبات الصفة الصرفية للشخص، لا هويته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الأول ليس «من أين لك هذا؟» بل «ما هي صفتك الصرفية؟»؛ الإجابة تحدّد الإطار القانوني للمساءلة.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خلاصتان: ابدأ بتحديد الصفة الصرفية، وتذكّر أن عبء الإثبات يقع على حائز العملة.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L-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_L-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_L-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PLAIN_L-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172200" y="1874520"/>
            <a:ext cx="5440680" cy="2148840"/>
          </a:xfrm>
          <a:prstGeom prst="rect">
            <a:avLst/>
          </a:prstGeom>
          <a:noFill/>
          <a:ln/>
        </p:spPr>
        <p:txBody>
          <a:bodyPr wrap="square" rtlCol="0"/>
          <a:lstStyle>
            <a:lvl1pPr rtl="1" algn="r" indent="0" marL="0">
              <a:buNone/>
              <a:defRPr lang="ar-TN" altLang="en-US" sz="4000" b="1" dirty="0">
                <a:solidFill>
                  <a:schemeClr val="tx1"/>
                </a:solidFill>
              </a:defRPr>
            </a:lvl1pPr>
          </a:lstStyle>
          <a:p>
            <a:pPr algn="r" indent="0" marL="0">
              <a:buNone/>
            </a:pPr>
            <a:endParaRPr lang="ar-TN" sz="4000" dirty="0"/>
          </a:p>
        </p:txBody>
      </p:sp>
      <p:sp>
        <p:nvSpPr>
          <p:cNvPr id="3" name="Text 0"/>
          <p:cNvSpPr/>
          <p:nvPr>
            <p:ph idx="101" type="body" hasCustomPrompt="1"/>
          </p:nvPr>
        </p:nvSpPr>
        <p:spPr>
          <a:xfrm>
            <a:off x="6172200" y="4114800"/>
            <a:ext cx="5440680" cy="548640"/>
          </a:xfrm>
          <a:prstGeom prst="rect">
            <a:avLst/>
          </a:prstGeom>
          <a:noFill/>
          <a:ln/>
        </p:spPr>
        <p:txBody>
          <a:bodyPr wrap="square" rtlCol="0"/>
          <a:lstStyle>
            <a:lvl1pPr rtl="1" algn="r" indent="0" marL="0">
              <a:buNone/>
              <a:defRPr lang="ar-TN" altLang="en-US" sz="1800" dirty="0">
                <a:solidFill>
                  <a:schemeClr val="accent1"/>
                </a:solidFill>
              </a:defRPr>
            </a:lvl1pPr>
          </a:lstStyle>
          <a:p>
            <a:pPr algn="r" indent="0" marL="0">
              <a:buNone/>
            </a:pPr>
            <a:endParaRPr lang="ar-TN"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0" y="2514600"/>
            <a:ext cx="5239512" cy="1737360"/>
          </a:xfrm>
          <a:prstGeom prst="rect">
            <a:avLst/>
          </a:prstGeom>
          <a:noFill/>
          <a:ln/>
        </p:spPr>
        <p:txBody>
          <a:bodyPr wrap="square" rtlCol="0"/>
          <a:lstStyle>
            <a:lvl1pPr rtl="1" algn="r" indent="0" marL="0">
              <a:buNone/>
              <a:defRPr lang="ar-TN" altLang="en-US" sz="3600" b="1" dirty="0">
                <a:solidFill>
                  <a:schemeClr val="tx1"/>
                </a:solidFill>
              </a:defRPr>
            </a:lvl1pPr>
          </a:lstStyle>
          <a:p>
            <a:pPr algn="r" indent="0" marL="0">
              <a:buNone/>
            </a:pPr>
            <a:endParaRPr lang="ar-TN" sz="3600" dirty="0"/>
          </a:p>
        </p:txBody>
      </p:sp>
      <p:sp>
        <p:nvSpPr>
          <p:cNvPr id="3" name="Text 0"/>
          <p:cNvSpPr/>
          <p:nvPr>
            <p:ph idx="101" type="body" hasCustomPrompt="1"/>
          </p:nvPr>
        </p:nvSpPr>
        <p:spPr>
          <a:xfrm>
            <a:off x="6400800" y="4343400"/>
            <a:ext cx="5239512" cy="1097280"/>
          </a:xfrm>
          <a:prstGeom prst="rect">
            <a:avLst/>
          </a:prstGeom>
          <a:noFill/>
          <a:ln/>
        </p:spPr>
        <p:txBody>
          <a:bodyPr wrap="square" rtlCol="0"/>
          <a:lstStyle>
            <a:lvl1pPr rtl="1" algn="r" indent="0" marL="0">
              <a:buNone/>
              <a:defRPr lang="ar-TN" altLang="en-US" sz="1600" dirty="0">
                <a:solidFill>
                  <a:schemeClr val="accent5"/>
                </a:solidFill>
              </a:defRPr>
            </a:lvl1pPr>
          </a:lstStyle>
          <a:p>
            <a:pPr algn="r" indent="0" marL="0">
              <a:buNone/>
            </a:pPr>
            <a:endParaRPr lang="ar-TN"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lstStyle>
            <a:lvl1pPr rtl="1" algn="r" indent="0" marL="0">
              <a:buNone/>
              <a:defRPr lang="ar-TN" altLang="en-US" sz="3000" b="1" dirty="0">
                <a:solidFill>
                  <a:schemeClr val="tx1"/>
                </a:solidFill>
              </a:defRPr>
            </a:lvl1pPr>
          </a:lstStyle>
          <a:p>
            <a:pPr algn="r" indent="0" marL="0">
              <a:buNone/>
            </a:pPr>
            <a:endParaRPr lang="ar-TN" sz="3000" dirty="0"/>
          </a:p>
        </p:txBody>
      </p:sp>
      <p:sp>
        <p:nvSpPr>
          <p:cNvPr id="3" name="Text 0"/>
          <p:cNvSpPr/>
          <p:nvPr/>
        </p:nvSpPr>
        <p:spPr>
          <a:xfrm>
            <a:off x="5242255" y="6400800"/>
            <a:ext cx="6400800" cy="274320"/>
          </a:xfrm>
          <a:prstGeom prst="rect">
            <a:avLst/>
          </a:prstGeom>
          <a:noFill/>
          <a:ln/>
        </p:spPr>
        <p:txBody>
          <a:bodyPr wrap="square" lIns="0" tIns="0" rIns="0" bIns="0" rtlCol="0" anchor="ctr"/>
          <a:lstStyle/>
          <a:p>
            <a:pPr algn="r" indent="0" marL="0">
              <a:buNone/>
            </a:pPr>
            <a:r>
              <a:rPr lang="ar-TN" altLang="en-US" sz="1000" dirty="0">
                <a:solidFill>
                  <a:schemeClr val="accent5"/>
                </a:solidFill>
              </a:rPr>
              <a:t>تكوين الإطارات الأمنية · الإطار القانوني لتراتيب الصرف في تونس</a:t>
            </a:r>
            <a:endParaRPr lang="ar-TN"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LAIN_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rtlCol="0"/>
          <a:lstStyle>
            <a:lvl1pPr rtl="1" algn="r" indent="0" marL="0">
              <a:buNone/>
              <a:defRPr lang="ar-TN" altLang="en-US" sz="3000" b="1" dirty="0">
                <a:solidFill>
                  <a:schemeClr val="tx1"/>
                </a:solidFill>
              </a:defRPr>
            </a:lvl1pPr>
          </a:lstStyle>
          <a:p>
            <a:pPr algn="r" indent="0" marL="0">
              <a:buNone/>
            </a:pPr>
            <a:endParaRPr lang="ar-TN" sz="3000" dirty="0"/>
          </a:p>
        </p:txBody>
      </p:sp>
      <p:sp>
        <p:nvSpPr>
          <p:cNvPr id="3" name="Text 0"/>
          <p:cNvSpPr/>
          <p:nvPr/>
        </p:nvSpPr>
        <p:spPr>
          <a:xfrm>
            <a:off x="5242255" y="6400800"/>
            <a:ext cx="6400800" cy="274320"/>
          </a:xfrm>
          <a:prstGeom prst="rect">
            <a:avLst/>
          </a:prstGeom>
          <a:noFill/>
          <a:ln/>
        </p:spPr>
        <p:txBody>
          <a:bodyPr wrap="square" lIns="0" tIns="0" rIns="0" bIns="0" rtlCol="0" anchor="ctr"/>
          <a:lstStyle/>
          <a:p>
            <a:pPr algn="r" indent="0" marL="0">
              <a:buNone/>
            </a:pPr>
            <a:r>
              <a:rPr lang="ar-TN" altLang="en-US" sz="1000" dirty="0">
                <a:solidFill>
                  <a:schemeClr val="accent5"/>
                </a:solidFill>
              </a:rPr>
              <a:t>تكوين الإطارات الأمنية · الإطار القانوني لتراتيب الصرف في تونس</a:t>
            </a:r>
            <a:endParaRPr lang="ar-TN"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5.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172200" y="1325880"/>
            <a:ext cx="5440680" cy="457200"/>
          </a:xfrm>
          <a:prstGeom prst="rect">
            <a:avLst/>
          </a:prstGeom>
          <a:noFill/>
          <a:ln/>
        </p:spPr>
        <p:txBody>
          <a:bodyPr wrap="square" lIns="0" tIns="0" rIns="0" bIns="0" rtlCol="0" anchor="t"/>
          <a:lstStyle/>
          <a:p>
            <a:pPr rtl="1" algn="r" indent="0" marL="0">
              <a:buNone/>
            </a:pPr>
            <a:r>
              <a:rPr lang="ar-TN" altLang="en-US" sz="2000" b="1" dirty="0">
                <a:solidFill>
                  <a:schemeClr val="accent2"/>
                </a:solidFill>
              </a:rPr>
              <a:t>تكوين الإطارات الأمنية</a:t>
            </a:r>
            <a:endParaRPr lang="ar-TN" sz="2000" dirty="0"/>
          </a:p>
        </p:txBody>
      </p:sp>
      <p:sp>
        <p:nvSpPr>
          <p:cNvPr id="3" name="Text 0"/>
          <p:cNvSpPr/>
          <p:nvPr>
            <p:ph idx="100" type="title" hasCustomPrompt="1"/>
          </p:nvPr>
        </p:nvSpPr>
        <p:spPr>
          <a:xfrm>
            <a:off x="6172200" y="1874520"/>
            <a:ext cx="5440680" cy="2148840"/>
          </a:xfrm>
          <a:prstGeom prst="rect">
            <a:avLst/>
          </a:prstGeom>
          <a:noFill/>
          <a:ln/>
        </p:spPr>
        <p:txBody>
          <a:bodyPr wrap="square" lIns="0" tIns="0" rIns="0" bIns="0" rtlCol="0" anchor="t"/>
          <a:lstStyle/>
          <a:p>
            <a:pPr rtl="1" algn="r" indent="0" marL="0">
              <a:buNone/>
            </a:pPr>
            <a:r>
              <a:rPr lang="ar-TN" altLang="en-US" sz="4000" b="1" dirty="0">
                <a:solidFill>
                  <a:schemeClr val="tx1"/>
                </a:solidFill>
              </a:rPr>
              <a:t>الإطار القانوني لتراتيب الصرف في تونس</a:t>
            </a:r>
            <a:endParaRPr lang="ar-TN" sz="4000" dirty="0"/>
          </a:p>
        </p:txBody>
      </p:sp>
      <p:sp>
        <p:nvSpPr>
          <p:cNvPr id="4" name="Text 0"/>
          <p:cNvSpPr/>
          <p:nvPr>
            <p:ph idx="101" type="body" hasCustomPrompt="1"/>
          </p:nvPr>
        </p:nvSpPr>
        <p:spPr>
          <a:xfrm>
            <a:off x="6172200" y="4114800"/>
            <a:ext cx="5440680" cy="548640"/>
          </a:xfrm>
          <a:prstGeom prst="rect">
            <a:avLst/>
          </a:prstGeom>
          <a:noFill/>
          <a:ln/>
        </p:spPr>
        <p:txBody>
          <a:bodyPr wrap="square" lIns="0" tIns="0" rIns="0" bIns="0" rtlCol="0" anchor="t"/>
          <a:lstStyle/>
          <a:p>
            <a:pPr rtl="1" algn="r" indent="0" marL="0">
              <a:buNone/>
            </a:pPr>
            <a:r>
              <a:rPr lang="ar-TN" altLang="en-US" sz="1800" dirty="0">
                <a:solidFill>
                  <a:schemeClr val="accent1"/>
                </a:solidFill>
              </a:rPr>
              <a:t>الفلسفة العامة · القانون 18/1976 · الأمر 608/1977</a:t>
            </a:r>
            <a:endParaRPr lang="ar-TN" sz="1800" dirty="0"/>
          </a:p>
        </p:txBody>
      </p:sp>
      <p:sp>
        <p:nvSpPr>
          <p:cNvPr id="5" name="pill-2"/>
          <p:cNvSpPr/>
          <p:nvPr/>
        </p:nvSpPr>
        <p:spPr>
          <a:xfrm>
            <a:off x="10012680" y="4983480"/>
            <a:ext cx="1600200" cy="457200"/>
          </a:xfrm>
          <a:prstGeom prst="roundRect">
            <a:avLst>
              <a:gd name="adj" fmla="val 50000"/>
            </a:avLst>
          </a:prstGeom>
          <a:solidFill>
            <a:schemeClr val="bg1"/>
          </a:solidFill>
          <a:ln/>
          <a:effectLst>
            <a:outerShdw sx="100000" sy="100000" kx="0" ky="0" algn="bl" rotWithShape="0" blurRad="127000" dist="38100" dir="5400000">
              <a:srgbClr val="0F3D3E">
                <a:alpha val="10000"/>
              </a:srgbClr>
            </a:outerShdw>
          </a:effectLst>
        </p:spPr>
      </p:sp>
      <p:sp>
        <p:nvSpPr>
          <p:cNvPr id="6" name="text-3"/>
          <p:cNvSpPr txBox="1"/>
          <p:nvPr/>
        </p:nvSpPr>
        <p:spPr>
          <a:xfrm>
            <a:off x="10122408" y="4983480"/>
            <a:ext cx="1380744" cy="457200"/>
          </a:xfrm>
          <a:prstGeom prst="rect">
            <a:avLst/>
          </a:prstGeom>
          <a:noFill/>
          <a:ln/>
        </p:spPr>
        <p:txBody>
          <a:bodyPr wrap="square" lIns="0" tIns="0" rIns="0" bIns="0" rtlCol="0" anchor="ctr"/>
          <a:lstStyle/>
          <a:p>
            <a:pPr rtl="1" algn="ctr" indent="0" marL="0">
              <a:buNone/>
            </a:pPr>
            <a:r>
              <a:rPr lang="ar-TN" altLang="en-US" sz="1300" b="1" dirty="0">
                <a:solidFill>
                  <a:schemeClr val="accent1"/>
                </a:solidFill>
              </a:rPr>
              <a:t>مفهوم الإقامة</a:t>
            </a:r>
            <a:endParaRPr lang="ar-TN" sz="1300" dirty="0"/>
          </a:p>
        </p:txBody>
      </p:sp>
      <p:sp>
        <p:nvSpPr>
          <p:cNvPr id="7" name="pill-4"/>
          <p:cNvSpPr/>
          <p:nvPr/>
        </p:nvSpPr>
        <p:spPr>
          <a:xfrm>
            <a:off x="8229600" y="4983480"/>
            <a:ext cx="1600200" cy="457200"/>
          </a:xfrm>
          <a:prstGeom prst="roundRect">
            <a:avLst>
              <a:gd name="adj" fmla="val 50000"/>
            </a:avLst>
          </a:prstGeom>
          <a:solidFill>
            <a:schemeClr val="bg1"/>
          </a:solidFill>
          <a:ln/>
          <a:effectLst>
            <a:outerShdw sx="100000" sy="100000" kx="0" ky="0" algn="bl" rotWithShape="0" blurRad="127000" dist="38100" dir="5400000">
              <a:srgbClr val="0F3D3E">
                <a:alpha val="10000"/>
              </a:srgbClr>
            </a:outerShdw>
          </a:effectLst>
        </p:spPr>
      </p:sp>
      <p:sp>
        <p:nvSpPr>
          <p:cNvPr id="8" name="text-5"/>
          <p:cNvSpPr txBox="1"/>
          <p:nvPr/>
        </p:nvSpPr>
        <p:spPr>
          <a:xfrm>
            <a:off x="8339328" y="4983480"/>
            <a:ext cx="1380744" cy="457200"/>
          </a:xfrm>
          <a:prstGeom prst="rect">
            <a:avLst/>
          </a:prstGeom>
          <a:noFill/>
          <a:ln/>
        </p:spPr>
        <p:txBody>
          <a:bodyPr wrap="square" lIns="0" tIns="0" rIns="0" bIns="0" rtlCol="0" anchor="ctr"/>
          <a:lstStyle/>
          <a:p>
            <a:pPr rtl="1" algn="ctr" indent="0" marL="0">
              <a:buNone/>
            </a:pPr>
            <a:r>
              <a:rPr lang="ar-TN" altLang="en-US" sz="1300" b="1" dirty="0">
                <a:solidFill>
                  <a:schemeClr val="accent1"/>
                </a:solidFill>
              </a:rPr>
              <a:t>حالات تطبيقية</a:t>
            </a:r>
            <a:endParaRPr lang="ar-TN" sz="1300" dirty="0"/>
          </a:p>
        </p:txBody>
      </p:sp>
      <p:sp>
        <p:nvSpPr>
          <p:cNvPr id="9" name="pill-6"/>
          <p:cNvSpPr/>
          <p:nvPr/>
        </p:nvSpPr>
        <p:spPr>
          <a:xfrm>
            <a:off x="6446520" y="4983480"/>
            <a:ext cx="1600200" cy="457200"/>
          </a:xfrm>
          <a:prstGeom prst="roundRect">
            <a:avLst>
              <a:gd name="adj" fmla="val 50000"/>
            </a:avLst>
          </a:prstGeom>
          <a:solidFill>
            <a:schemeClr val="bg1"/>
          </a:solidFill>
          <a:ln/>
          <a:effectLst>
            <a:outerShdw sx="100000" sy="100000" kx="0" ky="0" algn="bl" rotWithShape="0" blurRad="127000" dist="38100" dir="5400000">
              <a:srgbClr val="0F3D3E">
                <a:alpha val="10000"/>
              </a:srgbClr>
            </a:outerShdw>
          </a:effectLst>
        </p:spPr>
      </p:sp>
      <p:sp>
        <p:nvSpPr>
          <p:cNvPr id="10" name="text-7"/>
          <p:cNvSpPr txBox="1"/>
          <p:nvPr/>
        </p:nvSpPr>
        <p:spPr>
          <a:xfrm>
            <a:off x="6556248" y="4983480"/>
            <a:ext cx="1380744" cy="457200"/>
          </a:xfrm>
          <a:prstGeom prst="rect">
            <a:avLst/>
          </a:prstGeom>
          <a:noFill/>
          <a:ln/>
        </p:spPr>
        <p:txBody>
          <a:bodyPr wrap="square" lIns="0" tIns="0" rIns="0" bIns="0" rtlCol="0" anchor="ctr"/>
          <a:lstStyle/>
          <a:p>
            <a:pPr rtl="1" algn="ctr" indent="0" marL="0">
              <a:buNone/>
            </a:pPr>
            <a:r>
              <a:rPr lang="ar-TN" altLang="en-US" sz="1300" b="1" dirty="0">
                <a:solidFill>
                  <a:schemeClr val="accent1"/>
                </a:solidFill>
              </a:rPr>
              <a:t>التبعات الأمنية</a:t>
            </a:r>
            <a:endParaRPr lang="ar-TN" sz="1300" dirty="0"/>
          </a:p>
        </p:txBody>
      </p:sp>
      <p:pic>
        <p:nvPicPr>
          <p:cNvPr id="11" name="3d-law-8" descr="law">    </p:cNvPr>
          <p:cNvPicPr>
            <a:picLocks noChangeAspect="1"/>
          </p:cNvPicPr>
          <p:nvPr/>
        </p:nvPicPr>
        <p:blipFill>
          <a:blip r:embed="rId1"/>
          <a:stretch>
            <a:fillRect/>
          </a:stretch>
        </p:blipFill>
        <p:spPr>
          <a:xfrm>
            <a:off x="1447352" y="1600200"/>
            <a:ext cx="4146176" cy="3657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محاور العرض</a:t>
            </a:r>
            <a:endParaRPr lang="ar-TN" sz="3000" dirty="0"/>
          </a:p>
        </p:txBody>
      </p:sp>
      <p:sp>
        <p:nvSpPr>
          <p:cNvPr id="3" name="card-9"/>
          <p:cNvSpPr/>
          <p:nvPr/>
        </p:nvSpPr>
        <p:spPr>
          <a:xfrm>
            <a:off x="9037015" y="1463040"/>
            <a:ext cx="2606040" cy="4617720"/>
          </a:xfrm>
          <a:prstGeom prst="roundRect">
            <a:avLst>
              <a:gd name="adj" fmla="val 5614"/>
            </a:avLst>
          </a:prstGeom>
          <a:solidFill>
            <a:schemeClr val="bg1"/>
          </a:solidFill>
          <a:ln/>
          <a:effectLst>
            <a:outerShdw sx="100000" sy="100000" kx="0" ky="0" algn="bl" rotWithShape="0" blurRad="203200" dist="63500" dir="5400000">
              <a:srgbClr val="0F3D3E">
                <a:alpha val="13000"/>
              </a:srgbClr>
            </a:outerShdw>
          </a:effectLst>
        </p:spPr>
      </p:sp>
      <p:pic>
        <p:nvPicPr>
          <p:cNvPr id="4" name="3d-forbid-10" descr="forbid">    </p:cNvPr>
          <p:cNvPicPr>
            <a:picLocks noChangeAspect="1"/>
          </p:cNvPicPr>
          <p:nvPr/>
        </p:nvPicPr>
        <p:blipFill>
          <a:blip r:embed="rId1"/>
          <a:stretch>
            <a:fillRect/>
          </a:stretch>
        </p:blipFill>
        <p:spPr>
          <a:xfrm>
            <a:off x="9265615" y="2050265"/>
            <a:ext cx="2148840" cy="1698775"/>
          </a:xfrm>
          <a:prstGeom prst="rect">
            <a:avLst/>
          </a:prstGeom>
        </p:spPr>
      </p:pic>
      <p:sp>
        <p:nvSpPr>
          <p:cNvPr id="5" name="badge-11"/>
          <p:cNvSpPr/>
          <p:nvPr/>
        </p:nvSpPr>
        <p:spPr>
          <a:xfrm>
            <a:off x="10038283" y="3931920"/>
            <a:ext cx="603504" cy="603504"/>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6" name="badge-txt-12"/>
          <p:cNvSpPr txBox="1"/>
          <p:nvPr/>
        </p:nvSpPr>
        <p:spPr>
          <a:xfrm>
            <a:off x="10038283" y="3931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13"/>
          <p:cNvSpPr txBox="1"/>
          <p:nvPr/>
        </p:nvSpPr>
        <p:spPr>
          <a:xfrm>
            <a:off x="9265615" y="4709160"/>
            <a:ext cx="2148840" cy="1234440"/>
          </a:xfrm>
          <a:prstGeom prst="rect">
            <a:avLst/>
          </a:prstGeom>
          <a:noFill/>
          <a:ln/>
        </p:spPr>
        <p:txBody>
          <a:bodyPr wrap="square" lIns="0" tIns="0" rIns="0" bIns="0" rtlCol="0" anchor="t"/>
          <a:lstStyle/>
          <a:p>
            <a:pPr rtl="1" algn="ctr" indent="0" marL="0">
              <a:buNone/>
            </a:pPr>
            <a:r>
              <a:rPr lang="ar-TN" altLang="en-US" sz="1500" b="1" dirty="0">
                <a:solidFill>
                  <a:schemeClr val="tx1"/>
                </a:solidFill>
              </a:rPr>
              <a:t>الفلسفة العامة: المنع كأصل والترخيص كاستثناء</a:t>
            </a:r>
            <a:endParaRPr lang="ar-TN" sz="1500" dirty="0"/>
          </a:p>
        </p:txBody>
      </p:sp>
      <p:sp>
        <p:nvSpPr>
          <p:cNvPr id="8" name="card-14"/>
          <p:cNvSpPr/>
          <p:nvPr/>
        </p:nvSpPr>
        <p:spPr>
          <a:xfrm>
            <a:off x="6208776" y="1463040"/>
            <a:ext cx="2606040" cy="4617720"/>
          </a:xfrm>
          <a:prstGeom prst="roundRect">
            <a:avLst>
              <a:gd name="adj" fmla="val 5614"/>
            </a:avLst>
          </a:prstGeom>
          <a:solidFill>
            <a:schemeClr val="bg1"/>
          </a:solidFill>
          <a:ln/>
          <a:effectLst>
            <a:outerShdw sx="100000" sy="100000" kx="0" ky="0" algn="bl" rotWithShape="0" blurRad="203200" dist="63500" dir="5400000">
              <a:srgbClr val="0F3D3E">
                <a:alpha val="13000"/>
              </a:srgbClr>
            </a:outerShdw>
          </a:effectLst>
        </p:spPr>
      </p:sp>
      <p:pic>
        <p:nvPicPr>
          <p:cNvPr id="9" name="3d-bank-15" descr="bank">    </p:cNvPr>
          <p:cNvPicPr>
            <a:picLocks noChangeAspect="1"/>
          </p:cNvPicPr>
          <p:nvPr/>
        </p:nvPicPr>
        <p:blipFill>
          <a:blip r:embed="rId2"/>
          <a:stretch>
            <a:fillRect/>
          </a:stretch>
        </p:blipFill>
        <p:spPr>
          <a:xfrm>
            <a:off x="6437376" y="2241893"/>
            <a:ext cx="2148840" cy="1507147"/>
          </a:xfrm>
          <a:prstGeom prst="rect">
            <a:avLst/>
          </a:prstGeom>
        </p:spPr>
      </p:pic>
      <p:sp>
        <p:nvSpPr>
          <p:cNvPr id="10" name="badge-16"/>
          <p:cNvSpPr/>
          <p:nvPr/>
        </p:nvSpPr>
        <p:spPr>
          <a:xfrm>
            <a:off x="7210044" y="3931920"/>
            <a:ext cx="603504" cy="603504"/>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11" name="badge-txt-17"/>
          <p:cNvSpPr txBox="1"/>
          <p:nvPr/>
        </p:nvSpPr>
        <p:spPr>
          <a:xfrm>
            <a:off x="7210044" y="3931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18"/>
          <p:cNvSpPr txBox="1"/>
          <p:nvPr/>
        </p:nvSpPr>
        <p:spPr>
          <a:xfrm>
            <a:off x="6437376" y="4709160"/>
            <a:ext cx="2148840" cy="1234440"/>
          </a:xfrm>
          <a:prstGeom prst="rect">
            <a:avLst/>
          </a:prstGeom>
          <a:noFill/>
          <a:ln/>
        </p:spPr>
        <p:txBody>
          <a:bodyPr wrap="square" lIns="0" tIns="0" rIns="0" bIns="0" rtlCol="0" anchor="t"/>
          <a:lstStyle/>
          <a:p>
            <a:pPr rtl="1" algn="ctr" indent="0" marL="0">
              <a:buNone/>
            </a:pPr>
            <a:r>
              <a:rPr lang="ar-TN" altLang="en-US" sz="1500" b="1" dirty="0">
                <a:solidFill>
                  <a:schemeClr val="tx1"/>
                </a:solidFill>
              </a:rPr>
              <a:t>القانون عدد 18 لسنة 1976 (مجلة الصرف)</a:t>
            </a:r>
            <a:endParaRPr lang="ar-TN" sz="1500" dirty="0"/>
          </a:p>
        </p:txBody>
      </p:sp>
      <p:sp>
        <p:nvSpPr>
          <p:cNvPr id="13" name="card-19"/>
          <p:cNvSpPr/>
          <p:nvPr/>
        </p:nvSpPr>
        <p:spPr>
          <a:xfrm>
            <a:off x="3380537" y="1463040"/>
            <a:ext cx="2606040" cy="4617720"/>
          </a:xfrm>
          <a:prstGeom prst="roundRect">
            <a:avLst>
              <a:gd name="adj" fmla="val 5614"/>
            </a:avLst>
          </a:prstGeom>
          <a:solidFill>
            <a:schemeClr val="bg1"/>
          </a:solidFill>
          <a:ln/>
          <a:effectLst>
            <a:outerShdw sx="100000" sy="100000" kx="0" ky="0" algn="bl" rotWithShape="0" blurRad="203200" dist="63500" dir="5400000">
              <a:srgbClr val="0F3D3E">
                <a:alpha val="13000"/>
              </a:srgbClr>
            </a:outerShdw>
          </a:effectLst>
        </p:spPr>
      </p:sp>
      <p:pic>
        <p:nvPicPr>
          <p:cNvPr id="14" name="3d-globe-20" descr="globe">    </p:cNvPr>
          <p:cNvPicPr>
            <a:picLocks noChangeAspect="1"/>
          </p:cNvPicPr>
          <p:nvPr/>
        </p:nvPicPr>
        <p:blipFill>
          <a:blip r:embed="rId3"/>
          <a:stretch>
            <a:fillRect/>
          </a:stretch>
        </p:blipFill>
        <p:spPr>
          <a:xfrm>
            <a:off x="3907636" y="1874520"/>
            <a:ext cx="1551841" cy="1874520"/>
          </a:xfrm>
          <a:prstGeom prst="rect">
            <a:avLst/>
          </a:prstGeom>
        </p:spPr>
      </p:pic>
      <p:sp>
        <p:nvSpPr>
          <p:cNvPr id="15" name="badge-21"/>
          <p:cNvSpPr/>
          <p:nvPr/>
        </p:nvSpPr>
        <p:spPr>
          <a:xfrm>
            <a:off x="4381805" y="3931920"/>
            <a:ext cx="603504" cy="603504"/>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16" name="badge-txt-22"/>
          <p:cNvSpPr txBox="1"/>
          <p:nvPr/>
        </p:nvSpPr>
        <p:spPr>
          <a:xfrm>
            <a:off x="4381805" y="3931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23"/>
          <p:cNvSpPr txBox="1"/>
          <p:nvPr/>
        </p:nvSpPr>
        <p:spPr>
          <a:xfrm>
            <a:off x="3609137" y="4709160"/>
            <a:ext cx="2148840" cy="1234440"/>
          </a:xfrm>
          <a:prstGeom prst="rect">
            <a:avLst/>
          </a:prstGeom>
          <a:noFill/>
          <a:ln/>
        </p:spPr>
        <p:txBody>
          <a:bodyPr wrap="square" lIns="0" tIns="0" rIns="0" bIns="0" rtlCol="0" anchor="t"/>
          <a:lstStyle/>
          <a:p>
            <a:pPr rtl="1" algn="ctr" indent="0" marL="0">
              <a:buNone/>
            </a:pPr>
            <a:r>
              <a:rPr lang="ar-TN" altLang="en-US" sz="1500" b="1" dirty="0">
                <a:solidFill>
                  <a:schemeClr val="tx1"/>
                </a:solidFill>
              </a:rPr>
              <a:t>الأمر عدد 608 لسنة 1977 ومفهوم «الإقامة»</a:t>
            </a:r>
            <a:endParaRPr lang="ar-TN" sz="1500" dirty="0"/>
          </a:p>
        </p:txBody>
      </p:sp>
      <p:sp>
        <p:nvSpPr>
          <p:cNvPr id="18" name="card-24"/>
          <p:cNvSpPr/>
          <p:nvPr/>
        </p:nvSpPr>
        <p:spPr>
          <a:xfrm>
            <a:off x="552298" y="1463040"/>
            <a:ext cx="2606040" cy="4617720"/>
          </a:xfrm>
          <a:prstGeom prst="roundRect">
            <a:avLst>
              <a:gd name="adj" fmla="val 5614"/>
            </a:avLst>
          </a:prstGeom>
          <a:solidFill>
            <a:schemeClr val="bg1"/>
          </a:solidFill>
          <a:ln/>
          <a:effectLst>
            <a:outerShdw sx="100000" sy="100000" kx="0" ky="0" algn="bl" rotWithShape="0" blurRad="203200" dist="63500" dir="5400000">
              <a:srgbClr val="0F3D3E">
                <a:alpha val="13000"/>
              </a:srgbClr>
            </a:outerShdw>
          </a:effectLst>
        </p:spPr>
      </p:sp>
      <p:pic>
        <p:nvPicPr>
          <p:cNvPr id="19" name="3d-shield-25" descr="shield">    </p:cNvPr>
          <p:cNvPicPr>
            <a:picLocks noChangeAspect="1"/>
          </p:cNvPicPr>
          <p:nvPr/>
        </p:nvPicPr>
        <p:blipFill>
          <a:blip r:embed="rId4"/>
          <a:stretch>
            <a:fillRect/>
          </a:stretch>
        </p:blipFill>
        <p:spPr>
          <a:xfrm>
            <a:off x="780898" y="2108330"/>
            <a:ext cx="2148840" cy="1640710"/>
          </a:xfrm>
          <a:prstGeom prst="rect">
            <a:avLst/>
          </a:prstGeom>
        </p:spPr>
      </p:pic>
      <p:sp>
        <p:nvSpPr>
          <p:cNvPr id="20" name="badge-26"/>
          <p:cNvSpPr/>
          <p:nvPr/>
        </p:nvSpPr>
        <p:spPr>
          <a:xfrm>
            <a:off x="1553566" y="3931920"/>
            <a:ext cx="603504" cy="603504"/>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21" name="badge-txt-27"/>
          <p:cNvSpPr txBox="1"/>
          <p:nvPr/>
        </p:nvSpPr>
        <p:spPr>
          <a:xfrm>
            <a:off x="1553566" y="3931920"/>
            <a:ext cx="603504" cy="60350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28"/>
          <p:cNvSpPr txBox="1"/>
          <p:nvPr/>
        </p:nvSpPr>
        <p:spPr>
          <a:xfrm>
            <a:off x="780898" y="4709160"/>
            <a:ext cx="2148840" cy="1234440"/>
          </a:xfrm>
          <a:prstGeom prst="rect">
            <a:avLst/>
          </a:prstGeom>
          <a:noFill/>
          <a:ln/>
        </p:spPr>
        <p:txBody>
          <a:bodyPr wrap="square" lIns="0" tIns="0" rIns="0" bIns="0" rtlCol="0" anchor="t"/>
          <a:lstStyle/>
          <a:p>
            <a:pPr rtl="1" algn="ctr" indent="0" marL="0">
              <a:buNone/>
            </a:pPr>
            <a:r>
              <a:rPr lang="ar-TN" altLang="en-US" sz="1500" b="1" dirty="0">
                <a:solidFill>
                  <a:schemeClr val="tx1"/>
                </a:solidFill>
              </a:rPr>
              <a:t>حالات تطبيقية والتبعات العملياتية للأمنيين</a:t>
            </a:r>
            <a:endParaRPr lang="ar-TN" sz="15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ill-29"/>
          <p:cNvSpPr/>
          <p:nvPr/>
        </p:nvSpPr>
        <p:spPr>
          <a:xfrm>
            <a:off x="9445752" y="1828800"/>
            <a:ext cx="2194560" cy="530352"/>
          </a:xfrm>
          <a:prstGeom prst="roundRect">
            <a:avLst>
              <a:gd name="adj" fmla="val 50000"/>
            </a:avLst>
          </a:prstGeom>
          <a:solidFill>
            <a:schemeClr val="accent2"/>
          </a:solidFill>
          <a:ln/>
          <a:effectLst>
            <a:outerShdw sx="100000" sy="100000" kx="0" ky="0" algn="bl" rotWithShape="0" blurRad="127000" dist="38100" dir="5400000">
              <a:srgbClr val="0F3D3E">
                <a:alpha val="10000"/>
              </a:srgbClr>
            </a:outerShdw>
          </a:effectLst>
        </p:spPr>
      </p:sp>
      <p:sp>
        <p:nvSpPr>
          <p:cNvPr id="3" name="text-30"/>
          <p:cNvSpPr txBox="1"/>
          <p:nvPr/>
        </p:nvSpPr>
        <p:spPr>
          <a:xfrm>
            <a:off x="9555480" y="1828800"/>
            <a:ext cx="1975104" cy="530352"/>
          </a:xfrm>
          <a:prstGeom prst="rect">
            <a:avLst/>
          </a:prstGeom>
          <a:noFill/>
          <a:ln/>
        </p:spPr>
        <p:txBody>
          <a:bodyPr wrap="square" lIns="0" tIns="0" rIns="0" bIns="0" rtlCol="0" anchor="ctr"/>
          <a:lstStyle/>
          <a:p>
            <a:pPr rtl="1" algn="ctr" indent="0" marL="0">
              <a:buNone/>
            </a:pPr>
            <a:r>
              <a:rPr lang="ar-TN" altLang="en-US" sz="1500" b="1" dirty="0">
                <a:solidFill>
                  <a:schemeClr val="bg1"/>
                </a:solidFill>
              </a:rPr>
              <a:t>المحور الأول</a:t>
            </a:r>
            <a:endParaRPr lang="ar-TN" sz="1500" dirty="0"/>
          </a:p>
        </p:txBody>
      </p:sp>
      <p:sp>
        <p:nvSpPr>
          <p:cNvPr id="4" name="Text 0"/>
          <p:cNvSpPr/>
          <p:nvPr>
            <p:ph idx="100" type="title" hasCustomPrompt="1"/>
          </p:nvPr>
        </p:nvSpPr>
        <p:spPr>
          <a:xfrm>
            <a:off x="6400800" y="2514600"/>
            <a:ext cx="5239512" cy="1737360"/>
          </a:xfrm>
          <a:prstGeom prst="rect">
            <a:avLst/>
          </a:prstGeom>
          <a:noFill/>
          <a:ln/>
        </p:spPr>
        <p:txBody>
          <a:bodyPr wrap="square" lIns="0" tIns="0" rIns="0" bIns="0" rtlCol="0" anchor="t"/>
          <a:lstStyle/>
          <a:p>
            <a:pPr rtl="1" algn="r" indent="0" marL="0">
              <a:buNone/>
            </a:pPr>
            <a:r>
              <a:rPr lang="ar-TN" altLang="en-US" sz="3600" b="1" dirty="0">
                <a:solidFill>
                  <a:schemeClr val="tx1"/>
                </a:solidFill>
              </a:rPr>
              <a:t>المنع كأصل والترخيص كاستثناء</a:t>
            </a:r>
            <a:endParaRPr lang="ar-TN" sz="3600" dirty="0"/>
          </a:p>
        </p:txBody>
      </p:sp>
      <p:sp>
        <p:nvSpPr>
          <p:cNvPr id="5" name="Text 0"/>
          <p:cNvSpPr/>
          <p:nvPr>
            <p:ph idx="101" type="body" hasCustomPrompt="1"/>
          </p:nvPr>
        </p:nvSpPr>
        <p:spPr>
          <a:xfrm>
            <a:off x="6400800" y="4343400"/>
            <a:ext cx="5239512" cy="1097280"/>
          </a:xfrm>
          <a:prstGeom prst="rect">
            <a:avLst/>
          </a:prstGeom>
          <a:noFill/>
          <a:ln/>
        </p:spPr>
        <p:txBody>
          <a:bodyPr wrap="square" lIns="0" tIns="0" rIns="0" bIns="0" rtlCol="0" anchor="t"/>
          <a:lstStyle/>
          <a:p>
            <a:pPr rtl="1" algn="r" indent="0" marL="0">
              <a:buNone/>
            </a:pPr>
            <a:r>
              <a:rPr lang="ar-TN" altLang="en-US" sz="1600" dirty="0">
                <a:solidFill>
                  <a:schemeClr val="accent5"/>
                </a:solidFill>
              </a:rPr>
              <a:t>القاعدة الجوهرية التي لا تُفهم تراتيب الصرف في تونس دونها</a:t>
            </a:r>
            <a:endParaRPr lang="ar-TN" sz="1600" dirty="0"/>
          </a:p>
        </p:txBody>
      </p:sp>
      <p:pic>
        <p:nvPicPr>
          <p:cNvPr id="6" name="3d-forbid-31" descr="forbid">    </p:cNvPr>
          <p:cNvPicPr>
            <a:picLocks noChangeAspect="1"/>
          </p:cNvPicPr>
          <p:nvPr/>
        </p:nvPicPr>
        <p:blipFill>
          <a:blip r:embed="rId1"/>
          <a:stretch>
            <a:fillRect/>
          </a:stretch>
        </p:blipFill>
        <p:spPr>
          <a:xfrm>
            <a:off x="1463040" y="2214275"/>
            <a:ext cx="4023360" cy="3180685"/>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الفلسفة العامة للقانون</a:t>
            </a:r>
            <a:endParaRPr lang="ar-TN" sz="3000" dirty="0"/>
          </a:p>
        </p:txBody>
      </p:sp>
      <p:sp>
        <p:nvSpPr>
          <p:cNvPr id="3" name="text-32"/>
          <p:cNvSpPr txBox="1"/>
          <p:nvPr/>
        </p:nvSpPr>
        <p:spPr>
          <a:xfrm>
            <a:off x="548640" y="1115568"/>
            <a:ext cx="11094415" cy="384048"/>
          </a:xfrm>
          <a:prstGeom prst="rect">
            <a:avLst/>
          </a:prstGeom>
          <a:noFill/>
          <a:ln/>
        </p:spPr>
        <p:txBody>
          <a:bodyPr wrap="square" lIns="0" tIns="0" rIns="0" bIns="0" rtlCol="0" anchor="t"/>
          <a:lstStyle/>
          <a:p>
            <a:pPr rtl="1" algn="r" indent="0" marL="0">
              <a:buNone/>
            </a:pPr>
            <a:r>
              <a:rPr lang="ar-TN" altLang="en-US" sz="1500" dirty="0">
                <a:solidFill>
                  <a:schemeClr val="accent5"/>
                </a:solidFill>
              </a:rPr>
              <a:t>القانون التونسي لا يعتمد مبدأ حرية تداول العملة الأجنبية ولا حرية التحويلات المالية نحو الخارج</a:t>
            </a:r>
            <a:endParaRPr lang="ar-TN" sz="1500" dirty="0"/>
          </a:p>
        </p:txBody>
      </p:sp>
      <p:sp>
        <p:nvSpPr>
          <p:cNvPr id="4" name="card-33"/>
          <p:cNvSpPr/>
          <p:nvPr/>
        </p:nvSpPr>
        <p:spPr>
          <a:xfrm>
            <a:off x="6202375" y="1737360"/>
            <a:ext cx="5440680" cy="4343400"/>
          </a:xfrm>
          <a:prstGeom prst="roundRect">
            <a:avLst>
              <a:gd name="adj" fmla="val 3368"/>
            </a:avLst>
          </a:prstGeom>
          <a:solidFill>
            <a:schemeClr val="bg1"/>
          </a:solidFill>
          <a:ln/>
          <a:effectLst>
            <a:outerShdw sx="100000" sy="100000" kx="0" ky="0" algn="bl" rotWithShape="0" blurRad="203200" dist="63500" dir="5400000">
              <a:srgbClr val="0F3D3E">
                <a:alpha val="13000"/>
              </a:srgbClr>
            </a:outerShdw>
          </a:effectLst>
        </p:spPr>
      </p:sp>
      <p:sp>
        <p:nvSpPr>
          <p:cNvPr id="5" name="icon-bg-34"/>
          <p:cNvSpPr/>
          <p:nvPr/>
        </p:nvSpPr>
        <p:spPr>
          <a:xfrm>
            <a:off x="10774375" y="2011680"/>
            <a:ext cx="640080" cy="640080"/>
          </a:xfrm>
          <a:prstGeom prst="ellipse">
            <a:avLst/>
          </a:prstGeom>
          <a:solidFill>
            <a:schemeClr val="accent4"/>
          </a:solidFill>
          <a:ln/>
          <a:effectLst>
            <a:outerShdw sx="100000" sy="100000" kx="0" ky="0" algn="bl" rotWithShape="0" blurRad="127000" dist="38100" dir="5400000">
              <a:srgbClr val="0F3D3E">
                <a:alpha val="10000"/>
              </a:srgbClr>
            </a:outerShdw>
          </a:effectLst>
        </p:spPr>
      </p:sp>
      <p:pic>
        <p:nvPicPr>
          <p:cNvPr id="6" name="icon-35" descr="preencoded.png">    </p:cNvPr>
          <p:cNvPicPr>
            <a:picLocks noChangeAspect="1"/>
          </p:cNvPicPr>
          <p:nvPr/>
        </p:nvPicPr>
        <p:blipFill>
          <a:blip r:embed="rId1"/>
          <a:stretch>
            <a:fillRect/>
          </a:stretch>
        </p:blipFill>
        <p:spPr>
          <a:xfrm>
            <a:off x="10934395" y="2171700"/>
            <a:ext cx="320040" cy="320040"/>
          </a:xfrm>
          <a:prstGeom prst="rect">
            <a:avLst/>
          </a:prstGeom>
        </p:spPr>
      </p:pic>
      <p:sp>
        <p:nvSpPr>
          <p:cNvPr id="7" name="text-36"/>
          <p:cNvSpPr txBox="1"/>
          <p:nvPr/>
        </p:nvSpPr>
        <p:spPr>
          <a:xfrm>
            <a:off x="6476695" y="2011680"/>
            <a:ext cx="4160520" cy="640080"/>
          </a:xfrm>
          <a:prstGeom prst="rect">
            <a:avLst/>
          </a:prstGeom>
          <a:noFill/>
          <a:ln/>
        </p:spPr>
        <p:txBody>
          <a:bodyPr wrap="square" lIns="0" tIns="0" rIns="0" bIns="0" rtlCol="0" anchor="ctr"/>
          <a:lstStyle/>
          <a:p>
            <a:pPr rtl="1" algn="r" indent="0" marL="0">
              <a:buNone/>
            </a:pPr>
            <a:r>
              <a:rPr lang="ar-TN" altLang="en-US" sz="2200" b="1" dirty="0">
                <a:solidFill>
                  <a:schemeClr val="accent4"/>
                </a:solidFill>
              </a:rPr>
              <a:t>المبدأ العام: المنع</a:t>
            </a:r>
            <a:endParaRPr lang="ar-TN" sz="2200" dirty="0"/>
          </a:p>
        </p:txBody>
      </p:sp>
      <p:sp>
        <p:nvSpPr>
          <p:cNvPr id="8" name="text-37"/>
          <p:cNvSpPr txBox="1"/>
          <p:nvPr/>
        </p:nvSpPr>
        <p:spPr>
          <a:xfrm>
            <a:off x="6476695" y="2834640"/>
            <a:ext cx="4892040" cy="731520"/>
          </a:xfrm>
          <a:prstGeom prst="rect">
            <a:avLst/>
          </a:prstGeom>
          <a:noFill/>
          <a:ln/>
        </p:spPr>
        <p:txBody>
          <a:bodyPr wrap="square" lIns="0" tIns="0" rIns="0" bIns="0" rtlCol="0" anchor="t"/>
          <a:lstStyle/>
          <a:p>
            <a:pPr rtl="1" algn="r" indent="0" marL="0">
              <a:buNone/>
            </a:pPr>
            <a:r>
              <a:rPr lang="ar-TN" altLang="en-US" sz="1450" b="1" dirty="0">
                <a:solidFill>
                  <a:schemeClr val="tx1"/>
                </a:solidFill>
              </a:rPr>
              <a:t>يُحجَر على الأشخاص الطبيعيين والمعنويين المقيمين في تونس، دون مبرّر قانوني:</a:t>
            </a:r>
            <a:endParaRPr lang="ar-TN" sz="1450" dirty="0"/>
          </a:p>
        </p:txBody>
      </p:sp>
      <p:sp>
        <p:nvSpPr>
          <p:cNvPr id="9" name="text-38"/>
          <p:cNvSpPr txBox="1"/>
          <p:nvPr/>
        </p:nvSpPr>
        <p:spPr>
          <a:xfrm>
            <a:off x="6476695" y="3611880"/>
            <a:ext cx="4892040" cy="1417320"/>
          </a:xfrm>
          <a:prstGeom prst="rect">
            <a:avLst/>
          </a:prstGeom>
          <a:noFill/>
          <a:ln/>
        </p:spPr>
        <p:txBody>
          <a:bodyPr wrap="square" lIns="0" tIns="0" rIns="0" bIns="0" rtlCol="0" anchor="t"/>
          <a:lstStyle/>
          <a:p>
            <a:pPr rtl="1" algn="r" marL="177800" indent="-177800">
              <a:spcAft>
                <a:spcPts val="600"/>
              </a:spcAft>
              <a:buSzPct val="100000"/>
              <a:buChar char="•"/>
            </a:pPr>
            <a:r>
              <a:rPr lang="ar-TN" altLang="en-US" sz="1400" dirty="0">
                <a:solidFill>
                  <a:schemeClr val="tx1"/>
                </a:solidFill>
              </a:rPr>
              <a:t>أي تحويل للأموال إلى الخارج.</a:t>
            </a:r>
            <a:endParaRPr lang="ar-TN" sz="1400" dirty="0"/>
          </a:p>
          <a:p>
            <a:pPr rtl="1" algn="r" marL="177800" indent="-177800">
              <a:spcAft>
                <a:spcPts val="600"/>
              </a:spcAft>
              <a:buSzPct val="100000"/>
              <a:buChar char="•"/>
            </a:pPr>
            <a:r>
              <a:rPr lang="ar-TN" altLang="en-US" sz="1400" dirty="0">
                <a:solidFill>
                  <a:schemeClr val="tx1"/>
                </a:solidFill>
              </a:rPr>
              <a:t>امتلاك أصول بالخارج.</a:t>
            </a:r>
            <a:endParaRPr lang="ar-TN" sz="1400" dirty="0"/>
          </a:p>
          <a:p>
            <a:pPr rtl="1" algn="r" marL="177800" indent="-177800">
              <a:spcAft>
                <a:spcPts val="600"/>
              </a:spcAft>
              <a:buSzPct val="100000"/>
              <a:buChar char="•"/>
            </a:pPr>
            <a:r>
              <a:rPr lang="ar-TN" altLang="en-US" sz="1400" dirty="0">
                <a:solidFill>
                  <a:schemeClr val="tx1"/>
                </a:solidFill>
              </a:rPr>
              <a:t>مسك العملة الأجنبية داخل التراب التونسي.</a:t>
            </a:r>
            <a:endParaRPr lang="ar-TN" sz="1400" dirty="0"/>
          </a:p>
        </p:txBody>
      </p:sp>
      <p:pic>
        <p:nvPicPr>
          <p:cNvPr id="10" name="3d-forbid-39" descr="forbid">    </p:cNvPr>
          <p:cNvPicPr>
            <a:picLocks noChangeAspect="1"/>
          </p:cNvPicPr>
          <p:nvPr/>
        </p:nvPicPr>
        <p:blipFill>
          <a:blip r:embed="rId2"/>
          <a:stretch>
            <a:fillRect/>
          </a:stretch>
        </p:blipFill>
        <p:spPr>
          <a:xfrm>
            <a:off x="6783850" y="4983480"/>
            <a:ext cx="1214489" cy="960120"/>
          </a:xfrm>
          <a:prstGeom prst="rect">
            <a:avLst/>
          </a:prstGeom>
        </p:spPr>
      </p:pic>
      <p:sp>
        <p:nvSpPr>
          <p:cNvPr id="11" name="card-40"/>
          <p:cNvSpPr/>
          <p:nvPr/>
        </p:nvSpPr>
        <p:spPr>
          <a:xfrm>
            <a:off x="551383" y="1737360"/>
            <a:ext cx="5440680" cy="4343400"/>
          </a:xfrm>
          <a:prstGeom prst="roundRect">
            <a:avLst>
              <a:gd name="adj" fmla="val 3368"/>
            </a:avLst>
          </a:prstGeom>
          <a:solidFill>
            <a:schemeClr val="bg1"/>
          </a:solidFill>
          <a:ln/>
          <a:effectLst>
            <a:outerShdw sx="100000" sy="100000" kx="0" ky="0" algn="bl" rotWithShape="0" blurRad="203200" dist="63500" dir="5400000">
              <a:srgbClr val="0F3D3E">
                <a:alpha val="13000"/>
              </a:srgbClr>
            </a:outerShdw>
          </a:effectLst>
        </p:spPr>
      </p:sp>
      <p:sp>
        <p:nvSpPr>
          <p:cNvPr id="12" name="icon-bg-41"/>
          <p:cNvSpPr/>
          <p:nvPr/>
        </p:nvSpPr>
        <p:spPr>
          <a:xfrm>
            <a:off x="5123383" y="2011680"/>
            <a:ext cx="640080" cy="640080"/>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3" name="icon-42" descr="preencoded.png">    </p:cNvPr>
          <p:cNvPicPr>
            <a:picLocks noChangeAspect="1"/>
          </p:cNvPicPr>
          <p:nvPr/>
        </p:nvPicPr>
        <p:blipFill>
          <a:blip r:embed="rId3"/>
          <a:stretch>
            <a:fillRect/>
          </a:stretch>
        </p:blipFill>
        <p:spPr>
          <a:xfrm>
            <a:off x="5283403" y="2171700"/>
            <a:ext cx="320040" cy="320040"/>
          </a:xfrm>
          <a:prstGeom prst="rect">
            <a:avLst/>
          </a:prstGeom>
        </p:spPr>
      </p:pic>
      <p:sp>
        <p:nvSpPr>
          <p:cNvPr id="14" name="text-43"/>
          <p:cNvSpPr txBox="1"/>
          <p:nvPr/>
        </p:nvSpPr>
        <p:spPr>
          <a:xfrm>
            <a:off x="825703" y="2011680"/>
            <a:ext cx="4160520" cy="640080"/>
          </a:xfrm>
          <a:prstGeom prst="rect">
            <a:avLst/>
          </a:prstGeom>
          <a:noFill/>
          <a:ln/>
        </p:spPr>
        <p:txBody>
          <a:bodyPr wrap="square" lIns="0" tIns="0" rIns="0" bIns="0" rtlCol="0" anchor="ctr"/>
          <a:lstStyle/>
          <a:p>
            <a:pPr rtl="1" algn="r" indent="0" marL="0">
              <a:buNone/>
            </a:pPr>
            <a:r>
              <a:rPr lang="ar-TN" altLang="en-US" sz="2200" b="1" dirty="0">
                <a:solidFill>
                  <a:schemeClr val="accent1"/>
                </a:solidFill>
              </a:rPr>
              <a:t>الاستثناء: الترخيص</a:t>
            </a:r>
            <a:endParaRPr lang="ar-TN" sz="2200" dirty="0"/>
          </a:p>
        </p:txBody>
      </p:sp>
      <p:sp>
        <p:nvSpPr>
          <p:cNvPr id="15" name="text-44"/>
          <p:cNvSpPr txBox="1"/>
          <p:nvPr/>
        </p:nvSpPr>
        <p:spPr>
          <a:xfrm>
            <a:off x="825703" y="2834640"/>
            <a:ext cx="4892040" cy="731520"/>
          </a:xfrm>
          <a:prstGeom prst="rect">
            <a:avLst/>
          </a:prstGeom>
          <a:noFill/>
          <a:ln/>
        </p:spPr>
        <p:txBody>
          <a:bodyPr wrap="square" lIns="0" tIns="0" rIns="0" bIns="0" rtlCol="0" anchor="t"/>
          <a:lstStyle/>
          <a:p>
            <a:pPr rtl="1" algn="r" indent="0" marL="0">
              <a:buNone/>
            </a:pPr>
            <a:r>
              <a:rPr lang="ar-TN" altLang="en-US" sz="1450" b="1" dirty="0">
                <a:solidFill>
                  <a:schemeClr val="tx1"/>
                </a:solidFill>
              </a:rPr>
              <a:t>كل عملية صرف (تحويل، توريد، تصدير، مسك عملة) يجب أن تكون مرخّصة:</a:t>
            </a:r>
            <a:endParaRPr lang="ar-TN" sz="1450" dirty="0"/>
          </a:p>
        </p:txBody>
      </p:sp>
      <p:sp>
        <p:nvSpPr>
          <p:cNvPr id="16" name="text-45"/>
          <p:cNvSpPr txBox="1"/>
          <p:nvPr/>
        </p:nvSpPr>
        <p:spPr>
          <a:xfrm>
            <a:off x="825703" y="3611880"/>
            <a:ext cx="4892040" cy="1417320"/>
          </a:xfrm>
          <a:prstGeom prst="rect">
            <a:avLst/>
          </a:prstGeom>
          <a:noFill/>
          <a:ln/>
        </p:spPr>
        <p:txBody>
          <a:bodyPr wrap="square" lIns="0" tIns="0" rIns="0" bIns="0" rtlCol="0" anchor="t"/>
          <a:lstStyle/>
          <a:p>
            <a:pPr rtl="1" algn="r" marL="177800" indent="-177800">
              <a:spcAft>
                <a:spcPts val="600"/>
              </a:spcAft>
              <a:buSzPct val="100000"/>
              <a:buChar char="•"/>
            </a:pPr>
            <a:r>
              <a:rPr lang="ar-TN" altLang="en-US" sz="1400" dirty="0">
                <a:solidFill>
                  <a:schemeClr val="tx1"/>
                </a:solidFill>
              </a:rPr>
              <a:t>بنصّ قانوني صريح (ترخيص عام): المنحة السياحية، امتيازات التونسيين بالخارج…</a:t>
            </a:r>
            <a:endParaRPr lang="ar-TN" sz="1400" dirty="0"/>
          </a:p>
          <a:p>
            <a:pPr rtl="1" algn="r" marL="177800" indent="-177800">
              <a:spcAft>
                <a:spcPts val="600"/>
              </a:spcAft>
              <a:buSzPct val="100000"/>
              <a:buChar char="•"/>
            </a:pPr>
            <a:r>
              <a:rPr lang="ar-TN" altLang="en-US" sz="1400" dirty="0">
                <a:solidFill>
                  <a:schemeClr val="tx1"/>
                </a:solidFill>
              </a:rPr>
              <a:t>أو بترخيص مسبق ومحدَّد من البنك المركزي التونسي.</a:t>
            </a:r>
            <a:endParaRPr lang="ar-TN" sz="1400" dirty="0"/>
          </a:p>
        </p:txBody>
      </p:sp>
      <p:pic>
        <p:nvPicPr>
          <p:cNvPr id="17" name="3d-document-46" descr="document">    </p:cNvPr>
          <p:cNvPicPr>
            <a:picLocks noChangeAspect="1"/>
          </p:cNvPicPr>
          <p:nvPr/>
        </p:nvPicPr>
        <p:blipFill>
          <a:blip r:embed="rId4"/>
          <a:stretch>
            <a:fillRect/>
          </a:stretch>
        </p:blipFill>
        <p:spPr>
          <a:xfrm>
            <a:off x="1056585" y="4983480"/>
            <a:ext cx="1367036" cy="960120"/>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ملاحظة للإطارات الأمنية: قرينة المخالفة</a:t>
            </a:r>
            <a:endParaRPr lang="ar-TN" sz="3000" dirty="0"/>
          </a:p>
        </p:txBody>
      </p:sp>
      <p:sp>
        <p:nvSpPr>
          <p:cNvPr id="3" name="card-47"/>
          <p:cNvSpPr/>
          <p:nvPr/>
        </p:nvSpPr>
        <p:spPr>
          <a:xfrm>
            <a:off x="5257800" y="1463040"/>
            <a:ext cx="6382512" cy="1920240"/>
          </a:xfrm>
          <a:prstGeom prst="roundRect">
            <a:avLst>
              <a:gd name="adj" fmla="val 7619"/>
            </a:avLst>
          </a:prstGeom>
          <a:solidFill>
            <a:schemeClr val="bg2"/>
          </a:solidFill>
          <a:ln w="12700">
            <a:solidFill>
              <a:srgbClr val="7FC8BE"/>
            </a:solidFill>
            <a:prstDash val="solid"/>
          </a:ln>
        </p:spPr>
      </p:sp>
      <p:sp>
        <p:nvSpPr>
          <p:cNvPr id="4" name="icon-bg-48"/>
          <p:cNvSpPr/>
          <p:nvPr/>
        </p:nvSpPr>
        <p:spPr>
          <a:xfrm>
            <a:off x="10817352" y="1691640"/>
            <a:ext cx="594360" cy="594360"/>
          </a:xfrm>
          <a:prstGeom prst="ellipse">
            <a:avLst/>
          </a:prstGeom>
          <a:solidFill>
            <a:schemeClr val="accent2"/>
          </a:solidFill>
          <a:ln/>
          <a:effectLst>
            <a:outerShdw sx="100000" sy="100000" kx="0" ky="0" algn="bl" rotWithShape="0" blurRad="127000" dist="38100" dir="5400000">
              <a:srgbClr val="0F3D3E">
                <a:alpha val="10000"/>
              </a:srgbClr>
            </a:outerShdw>
          </a:effectLst>
        </p:spPr>
      </p:sp>
      <p:pic>
        <p:nvPicPr>
          <p:cNvPr id="5" name="icon-49" descr="preencoded.png">    </p:cNvPr>
          <p:cNvPicPr>
            <a:picLocks noChangeAspect="1"/>
          </p:cNvPicPr>
          <p:nvPr/>
        </p:nvPicPr>
        <p:blipFill>
          <a:blip r:embed="rId1"/>
          <a:stretch>
            <a:fillRect/>
          </a:stretch>
        </p:blipFill>
        <p:spPr>
          <a:xfrm>
            <a:off x="10965942" y="1840230"/>
            <a:ext cx="297180" cy="297180"/>
          </a:xfrm>
          <a:prstGeom prst="rect">
            <a:avLst/>
          </a:prstGeom>
        </p:spPr>
      </p:pic>
      <p:sp>
        <p:nvSpPr>
          <p:cNvPr id="6" name="text-50"/>
          <p:cNvSpPr txBox="1"/>
          <p:nvPr/>
        </p:nvSpPr>
        <p:spPr>
          <a:xfrm>
            <a:off x="5486400" y="1645920"/>
            <a:ext cx="5303520" cy="1554480"/>
          </a:xfrm>
          <a:prstGeom prst="rect">
            <a:avLst/>
          </a:prstGeom>
          <a:noFill/>
          <a:ln/>
        </p:spPr>
        <p:txBody>
          <a:bodyPr wrap="square" lIns="0" tIns="0" rIns="0" bIns="0" rtlCol="0" anchor="ctr"/>
          <a:lstStyle/>
          <a:p>
            <a:pPr rtl="1" algn="r" indent="0" marL="0">
              <a:lnSpc>
                <a:spcPct val="110000"/>
              </a:lnSpc>
              <a:buNone/>
            </a:pPr>
            <a:r>
              <a:rPr lang="ar-TN" altLang="en-US" sz="1700" dirty="0">
                <a:solidFill>
                  <a:schemeClr val="tx1"/>
                </a:solidFill>
              </a:rPr>
              <a:t>أي حيازة أو تحويل للعملة الأجنبية من قِبل «مقيم» </a:t>
            </a:r>
            <a:pPr rtl="1" algn="r" indent="0" marL="0">
              <a:lnSpc>
                <a:spcPct val="110000"/>
              </a:lnSpc>
              <a:buNone/>
            </a:pPr>
            <a:r>
              <a:rPr lang="ar-TN" altLang="en-US" sz="1700" b="1" dirty="0">
                <a:solidFill>
                  <a:schemeClr val="accent4"/>
                </a:solidFill>
              </a:rPr>
              <a:t>قرينة على المخالفة</a:t>
            </a:r>
            <a:pPr rtl="1" algn="r" indent="0" marL="0">
              <a:lnSpc>
                <a:spcPct val="110000"/>
              </a:lnSpc>
              <a:buNone/>
            </a:pPr>
            <a:r>
              <a:rPr lang="ar-TN" altLang="en-US" sz="1700" dirty="0">
                <a:solidFill>
                  <a:schemeClr val="tx1"/>
                </a:solidFill>
              </a:rPr>
              <a:t>، ما لم يُثبت المعنيّ بالأمر توفّره على الترخيص أو السند القانوني.</a:t>
            </a:r>
            <a:endParaRPr lang="ar-TN" sz="1700" dirty="0"/>
          </a:p>
        </p:txBody>
      </p:sp>
      <p:sp>
        <p:nvSpPr>
          <p:cNvPr id="7" name="text-51"/>
          <p:cNvSpPr txBox="1"/>
          <p:nvPr/>
        </p:nvSpPr>
        <p:spPr>
          <a:xfrm>
            <a:off x="5257800" y="3611880"/>
            <a:ext cx="6382512" cy="411480"/>
          </a:xfrm>
          <a:prstGeom prst="rect">
            <a:avLst/>
          </a:prstGeom>
          <a:noFill/>
          <a:ln/>
        </p:spPr>
        <p:txBody>
          <a:bodyPr wrap="square" lIns="0" tIns="0" rIns="0" bIns="0" rtlCol="0" anchor="t"/>
          <a:lstStyle/>
          <a:p>
            <a:pPr rtl="1" algn="r" indent="0" marL="0">
              <a:buNone/>
            </a:pPr>
            <a:r>
              <a:rPr lang="ar-TN" altLang="en-US" sz="1600" b="1" dirty="0">
                <a:solidFill>
                  <a:schemeClr val="accent1"/>
                </a:solidFill>
              </a:rPr>
              <a:t>أمثلة على السند القانوني المبرِّر:</a:t>
            </a:r>
            <a:endParaRPr lang="ar-TN" sz="1600" dirty="0"/>
          </a:p>
        </p:txBody>
      </p:sp>
      <p:sp>
        <p:nvSpPr>
          <p:cNvPr id="8" name="card-52"/>
          <p:cNvSpPr/>
          <p:nvPr/>
        </p:nvSpPr>
        <p:spPr>
          <a:xfrm>
            <a:off x="9628632" y="4206240"/>
            <a:ext cx="2011680" cy="1874520"/>
          </a:xfrm>
          <a:prstGeom prst="roundRect">
            <a:avLst>
              <a:gd name="adj" fmla="val 7805"/>
            </a:avLst>
          </a:prstGeom>
          <a:solidFill>
            <a:schemeClr val="bg1"/>
          </a:solidFill>
          <a:ln/>
          <a:effectLst>
            <a:outerShdw sx="100000" sy="100000" kx="0" ky="0" algn="bl" rotWithShape="0" blurRad="203200" dist="63500" dir="5400000">
              <a:srgbClr val="0F3D3E">
                <a:alpha val="13000"/>
              </a:srgbClr>
            </a:outerShdw>
          </a:effectLst>
        </p:spPr>
      </p:sp>
      <p:sp>
        <p:nvSpPr>
          <p:cNvPr id="9" name="icon-bg-53"/>
          <p:cNvSpPr/>
          <p:nvPr/>
        </p:nvSpPr>
        <p:spPr>
          <a:xfrm>
            <a:off x="10305288" y="4407408"/>
            <a:ext cx="658368" cy="65836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0" name="icon-54" descr="preencoded.png">    </p:cNvPr>
          <p:cNvPicPr>
            <a:picLocks noChangeAspect="1"/>
          </p:cNvPicPr>
          <p:nvPr/>
        </p:nvPicPr>
        <p:blipFill>
          <a:blip r:embed="rId2"/>
          <a:stretch>
            <a:fillRect/>
          </a:stretch>
        </p:blipFill>
        <p:spPr>
          <a:xfrm>
            <a:off x="10469880" y="4572000"/>
            <a:ext cx="329184" cy="329184"/>
          </a:xfrm>
          <a:prstGeom prst="rect">
            <a:avLst/>
          </a:prstGeom>
        </p:spPr>
      </p:pic>
      <p:sp>
        <p:nvSpPr>
          <p:cNvPr id="11" name="text-55"/>
          <p:cNvSpPr txBox="1"/>
          <p:nvPr/>
        </p:nvSpPr>
        <p:spPr>
          <a:xfrm>
            <a:off x="9765792" y="5212080"/>
            <a:ext cx="1737360" cy="685800"/>
          </a:xfrm>
          <a:prstGeom prst="rect">
            <a:avLst/>
          </a:prstGeom>
          <a:noFill/>
          <a:ln/>
        </p:spPr>
        <p:txBody>
          <a:bodyPr wrap="square" lIns="0" tIns="0" rIns="0" bIns="0" rtlCol="0" anchor="t"/>
          <a:lstStyle/>
          <a:p>
            <a:pPr rtl="1" algn="ctr" indent="0" marL="0">
              <a:buNone/>
            </a:pPr>
            <a:r>
              <a:rPr lang="ar-TN" altLang="en-US" sz="1400" b="1" dirty="0">
                <a:solidFill>
                  <a:schemeClr val="tx1"/>
                </a:solidFill>
              </a:rPr>
              <a:t>التصريح الديواني</a:t>
            </a:r>
            <a:endParaRPr lang="ar-TN" sz="1400" dirty="0"/>
          </a:p>
        </p:txBody>
      </p:sp>
      <p:sp>
        <p:nvSpPr>
          <p:cNvPr id="12" name="card-56"/>
          <p:cNvSpPr/>
          <p:nvPr/>
        </p:nvSpPr>
        <p:spPr>
          <a:xfrm>
            <a:off x="7443216" y="4206240"/>
            <a:ext cx="2011680" cy="1874520"/>
          </a:xfrm>
          <a:prstGeom prst="roundRect">
            <a:avLst>
              <a:gd name="adj" fmla="val 7805"/>
            </a:avLst>
          </a:prstGeom>
          <a:solidFill>
            <a:schemeClr val="bg1"/>
          </a:solidFill>
          <a:ln/>
          <a:effectLst>
            <a:outerShdw sx="100000" sy="100000" kx="0" ky="0" algn="bl" rotWithShape="0" blurRad="203200" dist="63500" dir="5400000">
              <a:srgbClr val="0F3D3E">
                <a:alpha val="13000"/>
              </a:srgbClr>
            </a:outerShdw>
          </a:effectLst>
        </p:spPr>
      </p:sp>
      <p:sp>
        <p:nvSpPr>
          <p:cNvPr id="13" name="icon-bg-57"/>
          <p:cNvSpPr/>
          <p:nvPr/>
        </p:nvSpPr>
        <p:spPr>
          <a:xfrm>
            <a:off x="8119872" y="4407408"/>
            <a:ext cx="658368" cy="65836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4" name="icon-58" descr="preencoded.png">    </p:cNvPr>
          <p:cNvPicPr>
            <a:picLocks noChangeAspect="1"/>
          </p:cNvPicPr>
          <p:nvPr/>
        </p:nvPicPr>
        <p:blipFill>
          <a:blip r:embed="rId3"/>
          <a:stretch>
            <a:fillRect/>
          </a:stretch>
        </p:blipFill>
        <p:spPr>
          <a:xfrm>
            <a:off x="8284464" y="4572000"/>
            <a:ext cx="329184" cy="329184"/>
          </a:xfrm>
          <a:prstGeom prst="rect">
            <a:avLst/>
          </a:prstGeom>
        </p:spPr>
      </p:pic>
      <p:sp>
        <p:nvSpPr>
          <p:cNvPr id="15" name="text-59"/>
          <p:cNvSpPr txBox="1"/>
          <p:nvPr/>
        </p:nvSpPr>
        <p:spPr>
          <a:xfrm>
            <a:off x="7580376" y="5212080"/>
            <a:ext cx="1737360" cy="685800"/>
          </a:xfrm>
          <a:prstGeom prst="rect">
            <a:avLst/>
          </a:prstGeom>
          <a:noFill/>
          <a:ln/>
        </p:spPr>
        <p:txBody>
          <a:bodyPr wrap="square" lIns="0" tIns="0" rIns="0" bIns="0" rtlCol="0" anchor="t"/>
          <a:lstStyle/>
          <a:p>
            <a:pPr rtl="1" algn="ctr" indent="0" marL="0">
              <a:buNone/>
            </a:pPr>
            <a:r>
              <a:rPr lang="ar-TN" altLang="en-US" sz="1400" b="1" dirty="0">
                <a:solidFill>
                  <a:schemeClr val="tx1"/>
                </a:solidFill>
              </a:rPr>
              <a:t>وصل السحب البنكي</a:t>
            </a:r>
            <a:endParaRPr lang="ar-TN" sz="1400" dirty="0"/>
          </a:p>
        </p:txBody>
      </p:sp>
      <p:sp>
        <p:nvSpPr>
          <p:cNvPr id="16" name="card-60"/>
          <p:cNvSpPr/>
          <p:nvPr/>
        </p:nvSpPr>
        <p:spPr>
          <a:xfrm>
            <a:off x="5257800" y="4206240"/>
            <a:ext cx="2011680" cy="1874520"/>
          </a:xfrm>
          <a:prstGeom prst="roundRect">
            <a:avLst>
              <a:gd name="adj" fmla="val 7805"/>
            </a:avLst>
          </a:prstGeom>
          <a:solidFill>
            <a:schemeClr val="bg1"/>
          </a:solidFill>
          <a:ln/>
          <a:effectLst>
            <a:outerShdw sx="100000" sy="100000" kx="0" ky="0" algn="bl" rotWithShape="0" blurRad="203200" dist="63500" dir="5400000">
              <a:srgbClr val="0F3D3E">
                <a:alpha val="13000"/>
              </a:srgbClr>
            </a:outerShdw>
          </a:effectLst>
        </p:spPr>
      </p:sp>
      <p:sp>
        <p:nvSpPr>
          <p:cNvPr id="17" name="icon-bg-61"/>
          <p:cNvSpPr/>
          <p:nvPr/>
        </p:nvSpPr>
        <p:spPr>
          <a:xfrm>
            <a:off x="5934456" y="4407408"/>
            <a:ext cx="658368" cy="65836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8" name="icon-62" descr="preencoded.png">    </p:cNvPr>
          <p:cNvPicPr>
            <a:picLocks noChangeAspect="1"/>
          </p:cNvPicPr>
          <p:nvPr/>
        </p:nvPicPr>
        <p:blipFill>
          <a:blip r:embed="rId4"/>
          <a:stretch>
            <a:fillRect/>
          </a:stretch>
        </p:blipFill>
        <p:spPr>
          <a:xfrm>
            <a:off x="6099048" y="4572000"/>
            <a:ext cx="329184" cy="329184"/>
          </a:xfrm>
          <a:prstGeom prst="rect">
            <a:avLst/>
          </a:prstGeom>
        </p:spPr>
      </p:pic>
      <p:sp>
        <p:nvSpPr>
          <p:cNvPr id="19" name="text-63"/>
          <p:cNvSpPr txBox="1"/>
          <p:nvPr/>
        </p:nvSpPr>
        <p:spPr>
          <a:xfrm>
            <a:off x="5394960" y="5212080"/>
            <a:ext cx="1737360" cy="685800"/>
          </a:xfrm>
          <a:prstGeom prst="rect">
            <a:avLst/>
          </a:prstGeom>
          <a:noFill/>
          <a:ln/>
        </p:spPr>
        <p:txBody>
          <a:bodyPr wrap="square" lIns="0" tIns="0" rIns="0" bIns="0" rtlCol="0" anchor="t"/>
          <a:lstStyle/>
          <a:p>
            <a:pPr rtl="1" algn="ctr" indent="0" marL="0">
              <a:buNone/>
            </a:pPr>
            <a:r>
              <a:rPr lang="ar-TN" altLang="en-US" sz="1400" b="1" dirty="0">
                <a:solidFill>
                  <a:schemeClr val="tx1"/>
                </a:solidFill>
              </a:rPr>
              <a:t>ترخيص البنك المركزي</a:t>
            </a:r>
            <a:endParaRPr lang="ar-TN" sz="1400" dirty="0"/>
          </a:p>
        </p:txBody>
      </p:sp>
      <p:pic>
        <p:nvPicPr>
          <p:cNvPr id="20" name="3d-shield-64" descr="shield">    </p:cNvPr>
          <p:cNvPicPr>
            <a:picLocks noChangeAspect="1"/>
          </p:cNvPicPr>
          <p:nvPr/>
        </p:nvPicPr>
        <p:blipFill>
          <a:blip r:embed="rId5"/>
          <a:stretch>
            <a:fillRect/>
          </a:stretch>
        </p:blipFill>
        <p:spPr>
          <a:xfrm>
            <a:off x="640080" y="2594838"/>
            <a:ext cx="4206240" cy="3211602"/>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ill-65"/>
          <p:cNvSpPr/>
          <p:nvPr/>
        </p:nvSpPr>
        <p:spPr>
          <a:xfrm>
            <a:off x="9445752" y="1828800"/>
            <a:ext cx="2194560" cy="530352"/>
          </a:xfrm>
          <a:prstGeom prst="roundRect">
            <a:avLst>
              <a:gd name="adj" fmla="val 50000"/>
            </a:avLst>
          </a:prstGeom>
          <a:solidFill>
            <a:schemeClr val="accent2"/>
          </a:solidFill>
          <a:ln/>
          <a:effectLst>
            <a:outerShdw sx="100000" sy="100000" kx="0" ky="0" algn="bl" rotWithShape="0" blurRad="127000" dist="38100" dir="5400000">
              <a:srgbClr val="0F3D3E">
                <a:alpha val="10000"/>
              </a:srgbClr>
            </a:outerShdw>
          </a:effectLst>
        </p:spPr>
      </p:sp>
      <p:sp>
        <p:nvSpPr>
          <p:cNvPr id="3" name="text-66"/>
          <p:cNvSpPr txBox="1"/>
          <p:nvPr/>
        </p:nvSpPr>
        <p:spPr>
          <a:xfrm>
            <a:off x="9555480" y="1828800"/>
            <a:ext cx="1975104" cy="530352"/>
          </a:xfrm>
          <a:prstGeom prst="rect">
            <a:avLst/>
          </a:prstGeom>
          <a:noFill/>
          <a:ln/>
        </p:spPr>
        <p:txBody>
          <a:bodyPr wrap="square" lIns="0" tIns="0" rIns="0" bIns="0" rtlCol="0" anchor="ctr"/>
          <a:lstStyle/>
          <a:p>
            <a:pPr rtl="1" algn="ctr" indent="0" marL="0">
              <a:buNone/>
            </a:pPr>
            <a:r>
              <a:rPr lang="ar-TN" altLang="en-US" sz="1500" b="1" dirty="0">
                <a:solidFill>
                  <a:schemeClr val="bg1"/>
                </a:solidFill>
              </a:rPr>
              <a:t>المحور الثاني</a:t>
            </a:r>
            <a:endParaRPr lang="ar-TN" sz="1500" dirty="0"/>
          </a:p>
        </p:txBody>
      </p:sp>
      <p:sp>
        <p:nvSpPr>
          <p:cNvPr id="4" name="Text 0"/>
          <p:cNvSpPr/>
          <p:nvPr>
            <p:ph idx="100" type="title" hasCustomPrompt="1"/>
          </p:nvPr>
        </p:nvSpPr>
        <p:spPr>
          <a:xfrm>
            <a:off x="6400800" y="2514600"/>
            <a:ext cx="5239512" cy="1737360"/>
          </a:xfrm>
          <a:prstGeom prst="rect">
            <a:avLst/>
          </a:prstGeom>
          <a:noFill/>
          <a:ln/>
        </p:spPr>
        <p:txBody>
          <a:bodyPr wrap="square" lIns="0" tIns="0" rIns="0" bIns="0" rtlCol="0" anchor="t"/>
          <a:lstStyle/>
          <a:p>
            <a:pPr rtl="1" algn="r" indent="0" marL="0">
              <a:buNone/>
            </a:pPr>
            <a:r>
              <a:rPr lang="ar-TN" altLang="en-US" sz="3600" b="1" dirty="0">
                <a:solidFill>
                  <a:schemeClr val="tx1"/>
                </a:solidFill>
              </a:rPr>
              <a:t>القانون عدد 18 لسنة 1976 (مجلة الصرف)</a:t>
            </a:r>
            <a:endParaRPr lang="ar-TN" sz="3600" dirty="0"/>
          </a:p>
        </p:txBody>
      </p:sp>
      <p:sp>
        <p:nvSpPr>
          <p:cNvPr id="5" name="Text 0"/>
          <p:cNvSpPr/>
          <p:nvPr>
            <p:ph idx="101" type="body" hasCustomPrompt="1"/>
          </p:nvPr>
        </p:nvSpPr>
        <p:spPr>
          <a:xfrm>
            <a:off x="6400800" y="4343400"/>
            <a:ext cx="5239512" cy="1097280"/>
          </a:xfrm>
          <a:prstGeom prst="rect">
            <a:avLst/>
          </a:prstGeom>
          <a:noFill/>
          <a:ln/>
        </p:spPr>
        <p:txBody>
          <a:bodyPr wrap="square" lIns="0" tIns="0" rIns="0" bIns="0" rtlCol="0" anchor="t"/>
          <a:lstStyle/>
          <a:p>
            <a:pPr rtl="1" algn="r" indent="0" marL="0">
              <a:buNone/>
            </a:pPr>
            <a:r>
              <a:rPr lang="ar-TN" altLang="en-US" sz="1600" dirty="0">
                <a:solidFill>
                  <a:schemeClr val="accent5"/>
                </a:solidFill>
              </a:rPr>
              <a:t>الإطار التشريعي الأم المنظِّم للصرف والتجارة الخارجية: أحكام تنظيمية وأحكام زجرية</a:t>
            </a:r>
            <a:endParaRPr lang="ar-TN" sz="1600" dirty="0"/>
          </a:p>
        </p:txBody>
      </p:sp>
      <p:pic>
        <p:nvPicPr>
          <p:cNvPr id="6" name="3d-bank-67" descr="bank">    </p:cNvPr>
          <p:cNvPicPr>
            <a:picLocks noChangeAspect="1"/>
          </p:cNvPicPr>
          <p:nvPr/>
        </p:nvPicPr>
        <p:blipFill>
          <a:blip r:embed="rId1"/>
          <a:stretch>
            <a:fillRect/>
          </a:stretch>
        </p:blipFill>
        <p:spPr>
          <a:xfrm>
            <a:off x="1371600" y="2170480"/>
            <a:ext cx="4206240" cy="2950160"/>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أهمّ ما جاء في القانون وتعديلاته</a:t>
            </a:r>
            <a:endParaRPr lang="ar-TN" sz="3000" dirty="0"/>
          </a:p>
        </p:txBody>
      </p:sp>
      <p:sp>
        <p:nvSpPr>
          <p:cNvPr id="3" name="card-68"/>
          <p:cNvSpPr/>
          <p:nvPr/>
        </p:nvSpPr>
        <p:spPr>
          <a:xfrm>
            <a:off x="5257800" y="1463040"/>
            <a:ext cx="6382512" cy="1417320"/>
          </a:xfrm>
          <a:prstGeom prst="roundRect">
            <a:avLst>
              <a:gd name="adj" fmla="val 10323"/>
            </a:avLst>
          </a:prstGeom>
          <a:solidFill>
            <a:schemeClr val="bg1"/>
          </a:solidFill>
          <a:ln/>
          <a:effectLst>
            <a:outerShdw sx="100000" sy="100000" kx="0" ky="0" algn="bl" rotWithShape="0" blurRad="203200" dist="63500" dir="5400000">
              <a:srgbClr val="0F3D3E">
                <a:alpha val="13000"/>
              </a:srgbClr>
            </a:outerShdw>
          </a:effectLst>
        </p:spPr>
      </p:sp>
      <p:sp>
        <p:nvSpPr>
          <p:cNvPr id="4" name="icon-bg-69"/>
          <p:cNvSpPr/>
          <p:nvPr/>
        </p:nvSpPr>
        <p:spPr>
          <a:xfrm>
            <a:off x="10844784" y="1682496"/>
            <a:ext cx="566928" cy="56692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5" name="icon-70" descr="preencoded.png">    </p:cNvPr>
          <p:cNvPicPr>
            <a:picLocks noChangeAspect="1"/>
          </p:cNvPicPr>
          <p:nvPr/>
        </p:nvPicPr>
        <p:blipFill>
          <a:blip r:embed="rId1"/>
          <a:stretch>
            <a:fillRect/>
          </a:stretch>
        </p:blipFill>
        <p:spPr>
          <a:xfrm>
            <a:off x="10986516" y="1824228"/>
            <a:ext cx="283464" cy="283464"/>
          </a:xfrm>
          <a:prstGeom prst="rect">
            <a:avLst/>
          </a:prstGeom>
        </p:spPr>
      </p:pic>
      <p:sp>
        <p:nvSpPr>
          <p:cNvPr id="6" name="text-71"/>
          <p:cNvSpPr txBox="1"/>
          <p:nvPr/>
        </p:nvSpPr>
        <p:spPr>
          <a:xfrm>
            <a:off x="5486400" y="1664208"/>
            <a:ext cx="5129784" cy="105156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500" b="1" dirty="0">
                <a:solidFill>
                  <a:schemeClr val="tx1"/>
                </a:solidFill>
              </a:rPr>
              <a:t>احتكار البنك المركزي للسوق</a:t>
            </a:r>
            <a:endParaRPr lang="ar-TN" sz="1400" dirty="0"/>
          </a:p>
          <a:p>
            <a:pPr rtl="1" algn="r" indent="0" marL="0">
              <a:lnSpc>
                <a:spcPct val="105000"/>
              </a:lnSpc>
              <a:spcAft>
                <a:spcPts val="300"/>
              </a:spcAft>
              <a:buNone/>
            </a:pPr>
            <a:r>
              <a:rPr lang="ar-TN" altLang="en-US" sz="1300" dirty="0">
                <a:solidFill>
                  <a:schemeClr val="tx1"/>
                </a:solidFill>
              </a:rPr>
              <a:t>يسهر على تطبيق سياسة الصرف، وهو الجهة الوحيدة المخوَّلة بتفويض صلاحيات الصرف للوسطاء المقبولين (Intermédiaires Agréés)، وهي أساسًا البنوك.</a:t>
            </a:r>
            <a:endParaRPr lang="ar-TN" sz="1400" dirty="0"/>
          </a:p>
        </p:txBody>
      </p:sp>
      <p:sp>
        <p:nvSpPr>
          <p:cNvPr id="7" name="card-72"/>
          <p:cNvSpPr/>
          <p:nvPr/>
        </p:nvSpPr>
        <p:spPr>
          <a:xfrm>
            <a:off x="5257800" y="3035808"/>
            <a:ext cx="6382512" cy="1417320"/>
          </a:xfrm>
          <a:prstGeom prst="roundRect">
            <a:avLst>
              <a:gd name="adj" fmla="val 10323"/>
            </a:avLst>
          </a:prstGeom>
          <a:solidFill>
            <a:schemeClr val="bg1"/>
          </a:solidFill>
          <a:ln/>
          <a:effectLst>
            <a:outerShdw sx="100000" sy="100000" kx="0" ky="0" algn="bl" rotWithShape="0" blurRad="203200" dist="63500" dir="5400000">
              <a:srgbClr val="0F3D3E">
                <a:alpha val="13000"/>
              </a:srgbClr>
            </a:outerShdw>
          </a:effectLst>
        </p:spPr>
      </p:sp>
      <p:sp>
        <p:nvSpPr>
          <p:cNvPr id="8" name="icon-bg-73"/>
          <p:cNvSpPr/>
          <p:nvPr/>
        </p:nvSpPr>
        <p:spPr>
          <a:xfrm>
            <a:off x="10844784" y="3255264"/>
            <a:ext cx="566928" cy="56692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9" name="icon-74" descr="preencoded.png">    </p:cNvPr>
          <p:cNvPicPr>
            <a:picLocks noChangeAspect="1"/>
          </p:cNvPicPr>
          <p:nvPr/>
        </p:nvPicPr>
        <p:blipFill>
          <a:blip r:embed="rId2"/>
          <a:stretch>
            <a:fillRect/>
          </a:stretch>
        </p:blipFill>
        <p:spPr>
          <a:xfrm>
            <a:off x="10986516" y="3396996"/>
            <a:ext cx="283464" cy="283464"/>
          </a:xfrm>
          <a:prstGeom prst="rect">
            <a:avLst/>
          </a:prstGeom>
        </p:spPr>
      </p:pic>
      <p:sp>
        <p:nvSpPr>
          <p:cNvPr id="10" name="text-75"/>
          <p:cNvSpPr txBox="1"/>
          <p:nvPr/>
        </p:nvSpPr>
        <p:spPr>
          <a:xfrm>
            <a:off x="5486400" y="3236976"/>
            <a:ext cx="5129784" cy="105156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500" b="1" dirty="0">
                <a:solidFill>
                  <a:schemeClr val="tx1"/>
                </a:solidFill>
              </a:rPr>
              <a:t>إلزامية إرجاع محاصيل التصدير</a:t>
            </a:r>
            <a:endParaRPr lang="ar-TN" sz="1400" dirty="0"/>
          </a:p>
          <a:p>
            <a:pPr rtl="1" algn="r" indent="0" marL="0">
              <a:lnSpc>
                <a:spcPct val="105000"/>
              </a:lnSpc>
              <a:spcAft>
                <a:spcPts val="300"/>
              </a:spcAft>
              <a:buNone/>
            </a:pPr>
            <a:r>
              <a:rPr lang="ar-TN" altLang="en-US" sz="1300" dirty="0">
                <a:solidFill>
                  <a:schemeClr val="tx1"/>
                </a:solidFill>
              </a:rPr>
              <a:t>كل مصدّر للسلع أو الخدمات ملزَم بإرجاع مداخيله بالعملة إلى تونس وبيعها في سوق الصرف المحلية في آجال محدّدة (Rapatriement des devises).</a:t>
            </a:r>
            <a:endParaRPr lang="ar-TN" sz="1400" dirty="0"/>
          </a:p>
        </p:txBody>
      </p:sp>
      <p:sp>
        <p:nvSpPr>
          <p:cNvPr id="11" name="card-76"/>
          <p:cNvSpPr/>
          <p:nvPr/>
        </p:nvSpPr>
        <p:spPr>
          <a:xfrm>
            <a:off x="5257800" y="4608576"/>
            <a:ext cx="6382512" cy="1417320"/>
          </a:xfrm>
          <a:prstGeom prst="roundRect">
            <a:avLst>
              <a:gd name="adj" fmla="val 10323"/>
            </a:avLst>
          </a:prstGeom>
          <a:solidFill>
            <a:schemeClr val="bg1"/>
          </a:solidFill>
          <a:ln/>
          <a:effectLst>
            <a:outerShdw sx="100000" sy="100000" kx="0" ky="0" algn="bl" rotWithShape="0" blurRad="203200" dist="63500" dir="5400000">
              <a:srgbClr val="0F3D3E">
                <a:alpha val="13000"/>
              </a:srgbClr>
            </a:outerShdw>
          </a:effectLst>
        </p:spPr>
      </p:sp>
      <p:sp>
        <p:nvSpPr>
          <p:cNvPr id="12" name="icon-bg-77"/>
          <p:cNvSpPr/>
          <p:nvPr/>
        </p:nvSpPr>
        <p:spPr>
          <a:xfrm>
            <a:off x="10844784" y="4828032"/>
            <a:ext cx="566928" cy="566928"/>
          </a:xfrm>
          <a:prstGeom prst="ellipse">
            <a:avLst/>
          </a:prstGeom>
          <a:solidFill>
            <a:schemeClr val="accent4"/>
          </a:solidFill>
          <a:ln/>
          <a:effectLst>
            <a:outerShdw sx="100000" sy="100000" kx="0" ky="0" algn="bl" rotWithShape="0" blurRad="127000" dist="38100" dir="5400000">
              <a:srgbClr val="0F3D3E">
                <a:alpha val="10000"/>
              </a:srgbClr>
            </a:outerShdw>
          </a:effectLst>
        </p:spPr>
      </p:sp>
      <p:pic>
        <p:nvPicPr>
          <p:cNvPr id="13" name="icon-78" descr="preencoded.png">    </p:cNvPr>
          <p:cNvPicPr>
            <a:picLocks noChangeAspect="1"/>
          </p:cNvPicPr>
          <p:nvPr/>
        </p:nvPicPr>
        <p:blipFill>
          <a:blip r:embed="rId3"/>
          <a:stretch>
            <a:fillRect/>
          </a:stretch>
        </p:blipFill>
        <p:spPr>
          <a:xfrm>
            <a:off x="10986516" y="4969764"/>
            <a:ext cx="283464" cy="283464"/>
          </a:xfrm>
          <a:prstGeom prst="rect">
            <a:avLst/>
          </a:prstGeom>
        </p:spPr>
      </p:pic>
      <p:sp>
        <p:nvSpPr>
          <p:cNvPr id="14" name="text-79"/>
          <p:cNvSpPr txBox="1"/>
          <p:nvPr/>
        </p:nvSpPr>
        <p:spPr>
          <a:xfrm>
            <a:off x="5486400" y="4809744"/>
            <a:ext cx="5129784" cy="105156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500" b="1" dirty="0">
                <a:solidFill>
                  <a:schemeClr val="tx1"/>
                </a:solidFill>
              </a:rPr>
              <a:t>الجرائم والعقوبات (الباب الزجري)</a:t>
            </a:r>
            <a:endParaRPr lang="ar-TN" sz="1400" dirty="0"/>
          </a:p>
          <a:p>
            <a:pPr rtl="1" algn="r" indent="0" marL="0">
              <a:lnSpc>
                <a:spcPct val="105000"/>
              </a:lnSpc>
              <a:spcAft>
                <a:spcPts val="300"/>
              </a:spcAft>
              <a:buNone/>
            </a:pPr>
            <a:r>
              <a:rPr lang="ar-TN" altLang="en-US" sz="1300" dirty="0">
                <a:solidFill>
                  <a:schemeClr val="tx1"/>
                </a:solidFill>
              </a:rPr>
              <a:t>عقوبات سالبة للحرية وخطايا مالية قاسية: تكوين مكاسب بالخارج دون ترخيص، عدم التصريح بالعملة، التعامل في السوق السوداء.</a:t>
            </a:r>
            <a:endParaRPr lang="ar-TN" sz="1400" dirty="0"/>
          </a:p>
        </p:txBody>
      </p:sp>
      <p:pic>
        <p:nvPicPr>
          <p:cNvPr id="15" name="3d-law-80" descr="law">    </p:cNvPr>
          <p:cNvPicPr>
            <a:picLocks noChangeAspect="1"/>
          </p:cNvPicPr>
          <p:nvPr/>
        </p:nvPicPr>
        <p:blipFill>
          <a:blip r:embed="rId4"/>
          <a:stretch>
            <a:fillRect/>
          </a:stretch>
        </p:blipFill>
        <p:spPr>
          <a:xfrm>
            <a:off x="1188384" y="1463040"/>
            <a:ext cx="3109632" cy="2743200"/>
          </a:xfrm>
          <a:prstGeom prst="rect">
            <a:avLst/>
          </a:prstGeom>
        </p:spPr>
      </p:pic>
      <p:sp>
        <p:nvSpPr>
          <p:cNvPr id="16" name="card-81"/>
          <p:cNvSpPr/>
          <p:nvPr/>
        </p:nvSpPr>
        <p:spPr>
          <a:xfrm>
            <a:off x="914400" y="4526280"/>
            <a:ext cx="3749040" cy="1554480"/>
          </a:xfrm>
          <a:prstGeom prst="roundRect">
            <a:avLst>
              <a:gd name="adj" fmla="val 9412"/>
            </a:avLst>
          </a:prstGeom>
          <a:solidFill>
            <a:schemeClr val="bg2"/>
          </a:solidFill>
          <a:ln w="12700">
            <a:solidFill>
              <a:srgbClr val="7FC8BE"/>
            </a:solidFill>
            <a:prstDash val="solid"/>
          </a:ln>
        </p:spPr>
      </p:sp>
      <p:sp>
        <p:nvSpPr>
          <p:cNvPr id="17" name="text-82"/>
          <p:cNvSpPr txBox="1"/>
          <p:nvPr/>
        </p:nvSpPr>
        <p:spPr>
          <a:xfrm>
            <a:off x="1143000" y="4663440"/>
            <a:ext cx="3291840" cy="1325880"/>
          </a:xfrm>
          <a:prstGeom prst="rect">
            <a:avLst/>
          </a:prstGeom>
          <a:noFill/>
          <a:ln/>
        </p:spPr>
        <p:txBody>
          <a:bodyPr wrap="square" lIns="0" tIns="0" rIns="0" bIns="0" rtlCol="0" anchor="ctr"/>
          <a:lstStyle/>
          <a:p>
            <a:pPr rtl="1" algn="r" indent="0" marL="0">
              <a:buNone/>
            </a:pPr>
            <a:r>
              <a:rPr lang="ar-TN" altLang="en-US" sz="1300" b="1" dirty="0">
                <a:solidFill>
                  <a:schemeClr val="accent1"/>
                </a:solidFill>
              </a:rPr>
              <a:t>جرائم ذات طبيعة اقتصادية بحتة</a:t>
            </a:r>
            <a:endParaRPr lang="ar-TN" sz="1300" dirty="0"/>
          </a:p>
          <a:p>
            <a:pPr rtl="1" algn="r" indent="0" marL="0">
              <a:buNone/>
            </a:pPr>
            <a:r>
              <a:rPr lang="ar-TN" altLang="en-US" sz="1300" dirty="0">
                <a:solidFill>
                  <a:schemeClr val="tx1"/>
                </a:solidFill>
              </a:rPr>
              <a:t>تهدف إلى حماية المصلحة الوطنية. وفهم إلزامية الإرجاع حيويّ لفهم جرائم عدم إرجاع المحاصيل.</a:t>
            </a:r>
            <a:endParaRPr lang="ar-TN"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ill-83"/>
          <p:cNvSpPr/>
          <p:nvPr/>
        </p:nvSpPr>
        <p:spPr>
          <a:xfrm>
            <a:off x="9445752" y="1828800"/>
            <a:ext cx="2194560" cy="530352"/>
          </a:xfrm>
          <a:prstGeom prst="roundRect">
            <a:avLst>
              <a:gd name="adj" fmla="val 50000"/>
            </a:avLst>
          </a:prstGeom>
          <a:solidFill>
            <a:schemeClr val="accent2"/>
          </a:solidFill>
          <a:ln/>
          <a:effectLst>
            <a:outerShdw sx="100000" sy="100000" kx="0" ky="0" algn="bl" rotWithShape="0" blurRad="127000" dist="38100" dir="5400000">
              <a:srgbClr val="0F3D3E">
                <a:alpha val="10000"/>
              </a:srgbClr>
            </a:outerShdw>
          </a:effectLst>
        </p:spPr>
      </p:sp>
      <p:sp>
        <p:nvSpPr>
          <p:cNvPr id="3" name="text-84"/>
          <p:cNvSpPr txBox="1"/>
          <p:nvPr/>
        </p:nvSpPr>
        <p:spPr>
          <a:xfrm>
            <a:off x="9555480" y="1828800"/>
            <a:ext cx="1975104" cy="530352"/>
          </a:xfrm>
          <a:prstGeom prst="rect">
            <a:avLst/>
          </a:prstGeom>
          <a:noFill/>
          <a:ln/>
        </p:spPr>
        <p:txBody>
          <a:bodyPr wrap="square" lIns="0" tIns="0" rIns="0" bIns="0" rtlCol="0" anchor="ctr"/>
          <a:lstStyle/>
          <a:p>
            <a:pPr rtl="1" algn="ctr" indent="0" marL="0">
              <a:buNone/>
            </a:pPr>
            <a:r>
              <a:rPr lang="ar-TN" altLang="en-US" sz="1500" b="1" dirty="0">
                <a:solidFill>
                  <a:schemeClr val="bg1"/>
                </a:solidFill>
              </a:rPr>
              <a:t>المحور الثالث</a:t>
            </a:r>
            <a:endParaRPr lang="ar-TN" sz="1500" dirty="0"/>
          </a:p>
        </p:txBody>
      </p:sp>
      <p:sp>
        <p:nvSpPr>
          <p:cNvPr id="4" name="Text 0"/>
          <p:cNvSpPr/>
          <p:nvPr>
            <p:ph idx="100" type="title" hasCustomPrompt="1"/>
          </p:nvPr>
        </p:nvSpPr>
        <p:spPr>
          <a:xfrm>
            <a:off x="6400800" y="2514600"/>
            <a:ext cx="5239512" cy="1737360"/>
          </a:xfrm>
          <a:prstGeom prst="rect">
            <a:avLst/>
          </a:prstGeom>
          <a:noFill/>
          <a:ln/>
        </p:spPr>
        <p:txBody>
          <a:bodyPr wrap="square" lIns="0" tIns="0" rIns="0" bIns="0" rtlCol="0" anchor="t"/>
          <a:lstStyle/>
          <a:p>
            <a:pPr rtl="1" algn="r" indent="0" marL="0">
              <a:buNone/>
            </a:pPr>
            <a:r>
              <a:rPr lang="ar-TN" altLang="en-US" sz="3600" b="1" dirty="0">
                <a:solidFill>
                  <a:schemeClr val="tx1"/>
                </a:solidFill>
              </a:rPr>
              <a:t>الأمر عدد 608 لسنة 1977 ومفهوم «الإقامة»</a:t>
            </a:r>
            <a:endParaRPr lang="ar-TN" sz="3600" dirty="0"/>
          </a:p>
        </p:txBody>
      </p:sp>
      <p:sp>
        <p:nvSpPr>
          <p:cNvPr id="5" name="Text 0"/>
          <p:cNvSpPr/>
          <p:nvPr>
            <p:ph idx="101" type="body" hasCustomPrompt="1"/>
          </p:nvPr>
        </p:nvSpPr>
        <p:spPr>
          <a:xfrm>
            <a:off x="6400800" y="4343400"/>
            <a:ext cx="5239512" cy="1097280"/>
          </a:xfrm>
          <a:prstGeom prst="rect">
            <a:avLst/>
          </a:prstGeom>
          <a:noFill/>
          <a:ln/>
        </p:spPr>
        <p:txBody>
          <a:bodyPr wrap="square" lIns="0" tIns="0" rIns="0" bIns="0" rtlCol="0" anchor="t"/>
          <a:lstStyle/>
          <a:p>
            <a:pPr rtl="1" algn="r" indent="0" marL="0">
              <a:buNone/>
            </a:pPr>
            <a:r>
              <a:rPr lang="ar-TN" altLang="en-US" sz="1600" dirty="0">
                <a:solidFill>
                  <a:schemeClr val="accent5"/>
                </a:solidFill>
              </a:rPr>
              <a:t>النصّ الترتيبي التطبيقي: يفصّل كيفية التطبيق العملي ويفكّك المفاهيم الأساسية</a:t>
            </a:r>
            <a:endParaRPr lang="ar-TN" sz="1600" dirty="0"/>
          </a:p>
        </p:txBody>
      </p:sp>
      <p:pic>
        <p:nvPicPr>
          <p:cNvPr id="6" name="3d-globe-85" descr="globe">    </p:cNvPr>
          <p:cNvPicPr>
            <a:picLocks noChangeAspect="1"/>
          </p:cNvPicPr>
          <p:nvPr/>
        </p:nvPicPr>
        <p:blipFill>
          <a:blip r:embed="rId1"/>
          <a:stretch>
            <a:fillRect/>
          </a:stretch>
        </p:blipFill>
        <p:spPr>
          <a:xfrm>
            <a:off x="1733630" y="1280160"/>
            <a:ext cx="3482181" cy="4206240"/>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فئتان حسب الفصل الأول من الأمر 608</a:t>
            </a:r>
            <a:endParaRPr lang="ar-TN" sz="3000" dirty="0"/>
          </a:p>
        </p:txBody>
      </p:sp>
      <p:sp>
        <p:nvSpPr>
          <p:cNvPr id="3" name="text-86"/>
          <p:cNvSpPr txBox="1"/>
          <p:nvPr/>
        </p:nvSpPr>
        <p:spPr>
          <a:xfrm>
            <a:off x="548640" y="1115568"/>
            <a:ext cx="11094415" cy="384048"/>
          </a:xfrm>
          <a:prstGeom prst="rect">
            <a:avLst/>
          </a:prstGeom>
          <a:noFill/>
          <a:ln/>
        </p:spPr>
        <p:txBody>
          <a:bodyPr wrap="square" lIns="0" tIns="0" rIns="0" bIns="0" rtlCol="0" anchor="t"/>
          <a:lstStyle/>
          <a:p>
            <a:pPr rtl="1" algn="r" indent="0" marL="0">
              <a:buNone/>
            </a:pPr>
            <a:r>
              <a:rPr lang="ar-TN" altLang="en-US" sz="1500" dirty="0">
                <a:solidFill>
                  <a:schemeClr val="accent5"/>
                </a:solidFill>
              </a:rPr>
              <a:t>La Résidence: جوهر قانون الصرف — مفهوم يختلف جذريًا عن المفهوم الإداري والأمني المعتاد</a:t>
            </a:r>
            <a:endParaRPr lang="ar-TN" sz="1500" dirty="0"/>
          </a:p>
        </p:txBody>
      </p:sp>
      <p:sp>
        <p:nvSpPr>
          <p:cNvPr id="4" name="card-87"/>
          <p:cNvSpPr/>
          <p:nvPr/>
        </p:nvSpPr>
        <p:spPr>
          <a:xfrm>
            <a:off x="6202375" y="1783080"/>
            <a:ext cx="5440680" cy="4297680"/>
          </a:xfrm>
          <a:prstGeom prst="roundRect">
            <a:avLst>
              <a:gd name="adj" fmla="val 3404"/>
            </a:avLst>
          </a:prstGeom>
          <a:solidFill>
            <a:schemeClr val="bg1"/>
          </a:solidFill>
          <a:ln/>
          <a:effectLst>
            <a:outerShdw sx="100000" sy="100000" kx="0" ky="0" algn="bl" rotWithShape="0" blurRad="203200" dist="63500" dir="5400000">
              <a:srgbClr val="0F3D3E">
                <a:alpha val="13000"/>
              </a:srgbClr>
            </a:outerShdw>
          </a:effectLst>
        </p:spPr>
      </p:sp>
      <p:sp>
        <p:nvSpPr>
          <p:cNvPr id="5" name="icon-bg-88"/>
          <p:cNvSpPr/>
          <p:nvPr/>
        </p:nvSpPr>
        <p:spPr>
          <a:xfrm>
            <a:off x="10820095" y="2011680"/>
            <a:ext cx="594360" cy="594360"/>
          </a:xfrm>
          <a:prstGeom prst="ellipse">
            <a:avLst/>
          </a:prstGeom>
          <a:solidFill>
            <a:schemeClr val="accent4"/>
          </a:solidFill>
          <a:ln/>
          <a:effectLst>
            <a:outerShdw sx="100000" sy="100000" kx="0" ky="0" algn="bl" rotWithShape="0" blurRad="127000" dist="38100" dir="5400000">
              <a:srgbClr val="0F3D3E">
                <a:alpha val="10000"/>
              </a:srgbClr>
            </a:outerShdw>
          </a:effectLst>
        </p:spPr>
      </p:sp>
      <p:pic>
        <p:nvPicPr>
          <p:cNvPr id="6" name="icon-89" descr="preencoded.png">    </p:cNvPr>
          <p:cNvPicPr>
            <a:picLocks noChangeAspect="1"/>
          </p:cNvPicPr>
          <p:nvPr/>
        </p:nvPicPr>
        <p:blipFill>
          <a:blip r:embed="rId1"/>
          <a:stretch>
            <a:fillRect/>
          </a:stretch>
        </p:blipFill>
        <p:spPr>
          <a:xfrm>
            <a:off x="10968685" y="2160270"/>
            <a:ext cx="297180" cy="297180"/>
          </a:xfrm>
          <a:prstGeom prst="rect">
            <a:avLst/>
          </a:prstGeom>
        </p:spPr>
      </p:pic>
      <p:sp>
        <p:nvSpPr>
          <p:cNvPr id="7" name="text-90"/>
          <p:cNvSpPr txBox="1"/>
          <p:nvPr/>
        </p:nvSpPr>
        <p:spPr>
          <a:xfrm>
            <a:off x="7665415" y="1965960"/>
            <a:ext cx="3063240" cy="731520"/>
          </a:xfrm>
          <a:prstGeom prst="rect">
            <a:avLst/>
          </a:prstGeom>
          <a:noFill/>
          <a:ln/>
        </p:spPr>
        <p:txBody>
          <a:bodyPr wrap="square" lIns="0" tIns="0" rIns="0" bIns="0" rtlCol="0" anchor="ctr"/>
          <a:lstStyle/>
          <a:p>
            <a:pPr rtl="1" algn="r" indent="0" marL="0">
              <a:buNone/>
            </a:pPr>
            <a:r>
              <a:rPr lang="ar-TN" altLang="en-US" sz="2000" b="1" dirty="0">
                <a:solidFill>
                  <a:schemeClr val="accent4"/>
                </a:solidFill>
              </a:rPr>
              <a:t>المقيمون</a:t>
            </a:r>
            <a:endParaRPr lang="ar-TN" sz="1400" dirty="0"/>
          </a:p>
          <a:p>
            <a:pPr rtl="1" algn="r" indent="0" marL="0">
              <a:buNone/>
            </a:pPr>
            <a:r>
              <a:rPr lang="ar-TN" altLang="en-US" sz="1150" dirty="0">
                <a:solidFill>
                  <a:schemeClr val="accent5"/>
                </a:solidFill>
              </a:rPr>
              <a:t>Les Résidents</a:t>
            </a:r>
            <a:endParaRPr lang="ar-TN" sz="1400" dirty="0"/>
          </a:p>
        </p:txBody>
      </p:sp>
      <p:pic>
        <p:nvPicPr>
          <p:cNvPr id="8" name="3d-house-91" descr="house">    </p:cNvPr>
          <p:cNvPicPr>
            <a:picLocks noChangeAspect="1"/>
          </p:cNvPicPr>
          <p:nvPr/>
        </p:nvPicPr>
        <p:blipFill>
          <a:blip r:embed="rId2"/>
          <a:stretch>
            <a:fillRect/>
          </a:stretch>
        </p:blipFill>
        <p:spPr>
          <a:xfrm>
            <a:off x="6478984" y="1874520"/>
            <a:ext cx="1001262" cy="868680"/>
          </a:xfrm>
          <a:prstGeom prst="rect">
            <a:avLst/>
          </a:prstGeom>
        </p:spPr>
      </p:pic>
      <p:sp>
        <p:nvSpPr>
          <p:cNvPr id="9" name="text-92"/>
          <p:cNvSpPr txBox="1"/>
          <p:nvPr/>
        </p:nvSpPr>
        <p:spPr>
          <a:xfrm>
            <a:off x="6476695" y="2834640"/>
            <a:ext cx="4892040" cy="1783080"/>
          </a:xfrm>
          <a:prstGeom prst="rect">
            <a:avLst/>
          </a:prstGeom>
          <a:noFill/>
          <a:ln/>
        </p:spPr>
        <p:txBody>
          <a:bodyPr wrap="square" lIns="0" tIns="0" rIns="0" bIns="0" rtlCol="0" anchor="t"/>
          <a:lstStyle/>
          <a:p>
            <a:pPr rtl="1" algn="r" marL="177800" indent="-177800">
              <a:spcAft>
                <a:spcPts val="500"/>
              </a:spcAft>
              <a:buSzPct val="100000"/>
              <a:buChar char="•"/>
            </a:pPr>
            <a:r>
              <a:rPr lang="ar-TN" altLang="en-US" sz="1350" dirty="0">
                <a:solidFill>
                  <a:schemeClr val="tx1"/>
                </a:solidFill>
              </a:rPr>
              <a:t>التونسيون الذين يقطنون عادةً بتونس.</a:t>
            </a:r>
            <a:endParaRPr lang="ar-TN" sz="1350" dirty="0"/>
          </a:p>
          <a:p>
            <a:pPr rtl="1" algn="r" marL="177800" indent="-177800">
              <a:spcAft>
                <a:spcPts val="500"/>
              </a:spcAft>
              <a:buSzPct val="100000"/>
              <a:buChar char="•"/>
            </a:pPr>
            <a:r>
              <a:rPr lang="ar-TN" altLang="en-US" sz="1350" dirty="0">
                <a:solidFill>
                  <a:schemeClr val="tx1"/>
                </a:solidFill>
              </a:rPr>
              <a:t>الأجانب القاطنون بتونس بصفة مستمرة (عادةً أكثر من سنتين، مع استثناءات حسب النشاط).</a:t>
            </a:r>
            <a:endParaRPr lang="ar-TN" sz="1350" dirty="0"/>
          </a:p>
          <a:p>
            <a:pPr rtl="1" algn="r" marL="177800" indent="-177800">
              <a:spcAft>
                <a:spcPts val="500"/>
              </a:spcAft>
              <a:buSzPct val="100000"/>
              <a:buChar char="•"/>
            </a:pPr>
            <a:r>
              <a:rPr lang="ar-TN" altLang="en-US" sz="1350" dirty="0">
                <a:solidFill>
                  <a:schemeClr val="tx1"/>
                </a:solidFill>
              </a:rPr>
              <a:t>الذوات المعنوية التونسية والأجنبية المنتصبة في تونس، بالنسبة لنشاطها في تونس.</a:t>
            </a:r>
            <a:endParaRPr lang="ar-TN" sz="1350" dirty="0"/>
          </a:p>
        </p:txBody>
      </p:sp>
      <p:sp>
        <p:nvSpPr>
          <p:cNvPr id="10" name="rule-93"/>
          <p:cNvSpPr/>
          <p:nvPr/>
        </p:nvSpPr>
        <p:spPr>
          <a:xfrm>
            <a:off x="6430975" y="4709160"/>
            <a:ext cx="4983480" cy="1188720"/>
          </a:xfrm>
          <a:prstGeom prst="roundRect">
            <a:avLst>
              <a:gd name="adj" fmla="val 9231"/>
            </a:avLst>
          </a:prstGeom>
          <a:solidFill>
            <a:schemeClr val="bg2"/>
          </a:solidFill>
          <a:ln/>
        </p:spPr>
      </p:sp>
      <p:sp>
        <p:nvSpPr>
          <p:cNvPr id="11" name="text-94"/>
          <p:cNvSpPr txBox="1"/>
          <p:nvPr/>
        </p:nvSpPr>
        <p:spPr>
          <a:xfrm>
            <a:off x="6613855" y="4754880"/>
            <a:ext cx="4617720" cy="1097280"/>
          </a:xfrm>
          <a:prstGeom prst="rect">
            <a:avLst/>
          </a:prstGeom>
          <a:noFill/>
          <a:ln/>
        </p:spPr>
        <p:txBody>
          <a:bodyPr wrap="square" lIns="0" tIns="0" rIns="0" bIns="0" rtlCol="0" anchor="ctr"/>
          <a:lstStyle/>
          <a:p>
            <a:pPr rtl="1" algn="r" indent="0" marL="0">
              <a:buNone/>
            </a:pPr>
            <a:r>
              <a:rPr lang="ar-TN" altLang="en-US" sz="1350" b="1" dirty="0">
                <a:solidFill>
                  <a:schemeClr val="accent4"/>
                </a:solidFill>
              </a:rPr>
              <a:t>المبدأ المطبَّق: </a:t>
            </a:r>
            <a:pPr rtl="1" algn="r" indent="0" marL="0">
              <a:buNone/>
            </a:pPr>
            <a:r>
              <a:rPr lang="ar-TN" altLang="en-US" sz="1350" dirty="0">
                <a:solidFill>
                  <a:schemeClr val="tx1"/>
                </a:solidFill>
              </a:rPr>
              <a:t>يخضعون للمنع الشامل ويحتاجون إلى تراخيص (المنحة السياحية، FCR…).</a:t>
            </a:r>
            <a:endParaRPr lang="ar-TN" sz="1350" dirty="0"/>
          </a:p>
        </p:txBody>
      </p:sp>
      <p:sp>
        <p:nvSpPr>
          <p:cNvPr id="12" name="card-95"/>
          <p:cNvSpPr/>
          <p:nvPr/>
        </p:nvSpPr>
        <p:spPr>
          <a:xfrm>
            <a:off x="551383" y="1783080"/>
            <a:ext cx="5440680" cy="4297680"/>
          </a:xfrm>
          <a:prstGeom prst="roundRect">
            <a:avLst>
              <a:gd name="adj" fmla="val 3404"/>
            </a:avLst>
          </a:prstGeom>
          <a:solidFill>
            <a:schemeClr val="bg1"/>
          </a:solidFill>
          <a:ln/>
          <a:effectLst>
            <a:outerShdw sx="100000" sy="100000" kx="0" ky="0" algn="bl" rotWithShape="0" blurRad="203200" dist="63500" dir="5400000">
              <a:srgbClr val="0F3D3E">
                <a:alpha val="13000"/>
              </a:srgbClr>
            </a:outerShdw>
          </a:effectLst>
        </p:spPr>
      </p:sp>
      <p:sp>
        <p:nvSpPr>
          <p:cNvPr id="13" name="icon-bg-96"/>
          <p:cNvSpPr/>
          <p:nvPr/>
        </p:nvSpPr>
        <p:spPr>
          <a:xfrm>
            <a:off x="5169103" y="2011680"/>
            <a:ext cx="594360" cy="594360"/>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4" name="icon-97" descr="preencoded.png">    </p:cNvPr>
          <p:cNvPicPr>
            <a:picLocks noChangeAspect="1"/>
          </p:cNvPicPr>
          <p:nvPr/>
        </p:nvPicPr>
        <p:blipFill>
          <a:blip r:embed="rId3"/>
          <a:stretch>
            <a:fillRect/>
          </a:stretch>
        </p:blipFill>
        <p:spPr>
          <a:xfrm>
            <a:off x="5317693" y="2160270"/>
            <a:ext cx="297180" cy="297180"/>
          </a:xfrm>
          <a:prstGeom prst="rect">
            <a:avLst/>
          </a:prstGeom>
        </p:spPr>
      </p:pic>
      <p:sp>
        <p:nvSpPr>
          <p:cNvPr id="15" name="text-98"/>
          <p:cNvSpPr txBox="1"/>
          <p:nvPr/>
        </p:nvSpPr>
        <p:spPr>
          <a:xfrm>
            <a:off x="2014423" y="1965960"/>
            <a:ext cx="3063240" cy="731520"/>
          </a:xfrm>
          <a:prstGeom prst="rect">
            <a:avLst/>
          </a:prstGeom>
          <a:noFill/>
          <a:ln/>
        </p:spPr>
        <p:txBody>
          <a:bodyPr wrap="square" lIns="0" tIns="0" rIns="0" bIns="0" rtlCol="0" anchor="ctr"/>
          <a:lstStyle/>
          <a:p>
            <a:pPr rtl="1" algn="r" indent="0" marL="0">
              <a:buNone/>
            </a:pPr>
            <a:r>
              <a:rPr lang="ar-TN" altLang="en-US" sz="2000" b="1" dirty="0">
                <a:solidFill>
                  <a:schemeClr val="accent1"/>
                </a:solidFill>
              </a:rPr>
              <a:t>غير المقيمين</a:t>
            </a:r>
            <a:endParaRPr lang="ar-TN" sz="1400" dirty="0"/>
          </a:p>
          <a:p>
            <a:pPr rtl="1" algn="r" indent="0" marL="0">
              <a:buNone/>
            </a:pPr>
            <a:r>
              <a:rPr lang="ar-TN" altLang="en-US" sz="1150" dirty="0">
                <a:solidFill>
                  <a:schemeClr val="accent5"/>
                </a:solidFill>
              </a:rPr>
              <a:t>Les Non-Résidents</a:t>
            </a:r>
            <a:endParaRPr lang="ar-TN" sz="1400" dirty="0"/>
          </a:p>
        </p:txBody>
      </p:sp>
      <p:pic>
        <p:nvPicPr>
          <p:cNvPr id="16" name="3d-plane-99" descr="plane">    </p:cNvPr>
          <p:cNvPicPr>
            <a:picLocks noChangeAspect="1"/>
          </p:cNvPicPr>
          <p:nvPr/>
        </p:nvPicPr>
        <p:blipFill>
          <a:blip r:embed="rId4"/>
          <a:stretch>
            <a:fillRect/>
          </a:stretch>
        </p:blipFill>
        <p:spPr>
          <a:xfrm>
            <a:off x="711403" y="2014184"/>
            <a:ext cx="1234440" cy="729016"/>
          </a:xfrm>
          <a:prstGeom prst="rect">
            <a:avLst/>
          </a:prstGeom>
        </p:spPr>
      </p:pic>
      <p:sp>
        <p:nvSpPr>
          <p:cNvPr id="17" name="text-100"/>
          <p:cNvSpPr txBox="1"/>
          <p:nvPr/>
        </p:nvSpPr>
        <p:spPr>
          <a:xfrm>
            <a:off x="825703" y="2834640"/>
            <a:ext cx="4892040" cy="1783080"/>
          </a:xfrm>
          <a:prstGeom prst="rect">
            <a:avLst/>
          </a:prstGeom>
          <a:noFill/>
          <a:ln/>
        </p:spPr>
        <p:txBody>
          <a:bodyPr wrap="square" lIns="0" tIns="0" rIns="0" bIns="0" rtlCol="0" anchor="t"/>
          <a:lstStyle/>
          <a:p>
            <a:pPr rtl="1" algn="r" marL="177800" indent="-177800">
              <a:spcAft>
                <a:spcPts val="500"/>
              </a:spcAft>
              <a:buSzPct val="100000"/>
              <a:buChar char="•"/>
            </a:pPr>
            <a:r>
              <a:rPr lang="ar-TN" altLang="en-US" sz="1350" dirty="0">
                <a:solidFill>
                  <a:schemeClr val="tx1"/>
                </a:solidFill>
              </a:rPr>
              <a:t>التونسيون بالخارج (TRE): مركز مصالحهم الأساسية بالخارج.</a:t>
            </a:r>
            <a:endParaRPr lang="ar-TN" sz="1350" dirty="0"/>
          </a:p>
          <a:p>
            <a:pPr rtl="1" algn="r" marL="177800" indent="-177800">
              <a:spcAft>
                <a:spcPts val="500"/>
              </a:spcAft>
              <a:buSzPct val="100000"/>
              <a:buChar char="•"/>
            </a:pPr>
            <a:r>
              <a:rPr lang="ar-TN" altLang="en-US" sz="1350" dirty="0">
                <a:solidFill>
                  <a:schemeClr val="tx1"/>
                </a:solidFill>
              </a:rPr>
              <a:t>الأجانب الذين يقطنون عادةً بالخارج.</a:t>
            </a:r>
            <a:endParaRPr lang="ar-TN" sz="1350" dirty="0"/>
          </a:p>
          <a:p>
            <a:pPr rtl="1" algn="r" marL="177800" indent="-177800">
              <a:spcAft>
                <a:spcPts val="500"/>
              </a:spcAft>
              <a:buSzPct val="100000"/>
              <a:buChar char="•"/>
            </a:pPr>
            <a:r>
              <a:rPr lang="ar-TN" altLang="en-US" sz="1350" dirty="0">
                <a:solidFill>
                  <a:schemeClr val="tx1"/>
                </a:solidFill>
              </a:rPr>
              <a:t>الشركات الأجنبية أو فروع الشركات التونسية بالخارج.</a:t>
            </a:r>
            <a:endParaRPr lang="ar-TN" sz="1350" dirty="0"/>
          </a:p>
        </p:txBody>
      </p:sp>
      <p:sp>
        <p:nvSpPr>
          <p:cNvPr id="18" name="rule-101"/>
          <p:cNvSpPr/>
          <p:nvPr/>
        </p:nvSpPr>
        <p:spPr>
          <a:xfrm>
            <a:off x="779983" y="4709160"/>
            <a:ext cx="4983480" cy="1188720"/>
          </a:xfrm>
          <a:prstGeom prst="roundRect">
            <a:avLst>
              <a:gd name="adj" fmla="val 9231"/>
            </a:avLst>
          </a:prstGeom>
          <a:solidFill>
            <a:schemeClr val="bg2"/>
          </a:solidFill>
          <a:ln/>
        </p:spPr>
      </p:sp>
      <p:sp>
        <p:nvSpPr>
          <p:cNvPr id="19" name="text-102"/>
          <p:cNvSpPr txBox="1"/>
          <p:nvPr/>
        </p:nvSpPr>
        <p:spPr>
          <a:xfrm>
            <a:off x="962863" y="4754880"/>
            <a:ext cx="4617720" cy="1097280"/>
          </a:xfrm>
          <a:prstGeom prst="rect">
            <a:avLst/>
          </a:prstGeom>
          <a:noFill/>
          <a:ln/>
        </p:spPr>
        <p:txBody>
          <a:bodyPr wrap="square" lIns="0" tIns="0" rIns="0" bIns="0" rtlCol="0" anchor="ctr"/>
          <a:lstStyle/>
          <a:p>
            <a:pPr rtl="1" algn="r" indent="0" marL="0">
              <a:buNone/>
            </a:pPr>
            <a:r>
              <a:rPr lang="ar-TN" altLang="en-US" sz="1350" b="1" dirty="0">
                <a:solidFill>
                  <a:schemeClr val="accent1"/>
                </a:solidFill>
              </a:rPr>
              <a:t>المبدأ المطبَّق: </a:t>
            </a:r>
            <a:pPr rtl="1" algn="r" indent="0" marL="0">
              <a:buNone/>
            </a:pPr>
            <a:r>
              <a:rPr lang="ar-TN" altLang="en-US" sz="1350" dirty="0">
                <a:solidFill>
                  <a:schemeClr val="tx1"/>
                </a:solidFill>
              </a:rPr>
              <a:t>حرية أكبر: مسك العملة، حسابات بالعملة الصعبة، تحويل أموالهم إلى الخارج — بشرط شرعية المصدر والمرور عبر القنوات الرسمية.</a:t>
            </a:r>
            <a:endParaRPr lang="ar-TN" sz="135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الإقامة الإدارية مقابل الإقامة الصرفية</a:t>
            </a:r>
            <a:endParaRPr lang="ar-TN" sz="3000" dirty="0"/>
          </a:p>
        </p:txBody>
      </p:sp>
      <p:sp>
        <p:nvSpPr>
          <p:cNvPr id="3" name="text-103"/>
          <p:cNvSpPr txBox="1"/>
          <p:nvPr/>
        </p:nvSpPr>
        <p:spPr>
          <a:xfrm>
            <a:off x="548640" y="1115568"/>
            <a:ext cx="11094415" cy="384048"/>
          </a:xfrm>
          <a:prstGeom prst="rect">
            <a:avLst/>
          </a:prstGeom>
          <a:noFill/>
          <a:ln/>
        </p:spPr>
        <p:txBody>
          <a:bodyPr wrap="square" lIns="0" tIns="0" rIns="0" bIns="0" rtlCol="0" anchor="t"/>
          <a:lstStyle/>
          <a:p>
            <a:pPr rtl="1" algn="r" indent="0" marL="0">
              <a:buNone/>
            </a:pPr>
            <a:r>
              <a:rPr lang="ar-TN" altLang="en-US" sz="1500" dirty="0">
                <a:solidFill>
                  <a:schemeClr val="accent5"/>
                </a:solidFill>
              </a:rPr>
              <a:t>عدم استيعاب هذا الفرق يؤدّي غالبًا إلى أخطاء إجرائية في تحرير المحاضر الأمنية والديوانية</a:t>
            </a:r>
            <a:endParaRPr lang="ar-TN" sz="1500" dirty="0"/>
          </a:p>
        </p:txBody>
      </p:sp>
      <p:sp>
        <p:nvSpPr>
          <p:cNvPr id="4" name="col-head-104"/>
          <p:cNvSpPr/>
          <p:nvPr/>
        </p:nvSpPr>
        <p:spPr>
          <a:xfrm>
            <a:off x="5404104" y="1783080"/>
            <a:ext cx="4727448" cy="777240"/>
          </a:xfrm>
          <a:prstGeom prst="roundRect">
            <a:avLst>
              <a:gd name="adj" fmla="val 16471"/>
            </a:avLst>
          </a:prstGeom>
          <a:solidFill>
            <a:schemeClr val="accent5"/>
          </a:solidFill>
          <a:ln/>
          <a:effectLst>
            <a:outerShdw sx="100000" sy="100000" kx="0" ky="0" algn="bl" rotWithShape="0" blurRad="127000" dist="38100" dir="5400000">
              <a:srgbClr val="0F3D3E">
                <a:alpha val="10000"/>
              </a:srgbClr>
            </a:outerShdw>
          </a:effectLst>
        </p:spPr>
      </p:sp>
      <p:sp>
        <p:nvSpPr>
          <p:cNvPr id="5" name="text-105"/>
          <p:cNvSpPr txBox="1"/>
          <p:nvPr/>
        </p:nvSpPr>
        <p:spPr>
          <a:xfrm>
            <a:off x="5586984" y="1783080"/>
            <a:ext cx="4361688" cy="777240"/>
          </a:xfrm>
          <a:prstGeom prst="rect">
            <a:avLst/>
          </a:prstGeom>
          <a:noFill/>
          <a:ln/>
        </p:spPr>
        <p:txBody>
          <a:bodyPr wrap="square" lIns="0" tIns="0" rIns="0" bIns="0" rtlCol="0" anchor="ctr"/>
          <a:lstStyle/>
          <a:p>
            <a:pPr rtl="1" algn="ctr" indent="0" marL="0">
              <a:buNone/>
            </a:pPr>
            <a:r>
              <a:rPr lang="ar-TN" altLang="en-US" sz="1700" b="1" dirty="0">
                <a:solidFill>
                  <a:schemeClr val="bg1"/>
                </a:solidFill>
              </a:rPr>
              <a:t>الإقامة الإدارية / الأمنية</a:t>
            </a:r>
            <a:endParaRPr lang="ar-TN" sz="1400" dirty="0"/>
          </a:p>
          <a:p>
            <a:pPr rtl="1" algn="ctr" indent="0" marL="0">
              <a:buNone/>
            </a:pPr>
            <a:r>
              <a:rPr lang="ar-TN" altLang="en-US" sz="1100" dirty="0">
                <a:solidFill>
                  <a:schemeClr val="bg1"/>
                </a:solidFill>
              </a:rPr>
              <a:t>La Résidence Administrative</a:t>
            </a:r>
            <a:endParaRPr lang="ar-TN" sz="1400" dirty="0"/>
          </a:p>
        </p:txBody>
      </p:sp>
      <p:sp>
        <p:nvSpPr>
          <p:cNvPr id="6" name="col-head-106"/>
          <p:cNvSpPr/>
          <p:nvPr/>
        </p:nvSpPr>
        <p:spPr>
          <a:xfrm>
            <a:off x="548640" y="1783080"/>
            <a:ext cx="4727448" cy="777240"/>
          </a:xfrm>
          <a:prstGeom prst="roundRect">
            <a:avLst>
              <a:gd name="adj" fmla="val 16471"/>
            </a:avLst>
          </a:prstGeom>
          <a:solidFill>
            <a:schemeClr val="accent1"/>
          </a:solidFill>
          <a:ln/>
          <a:effectLst>
            <a:outerShdw sx="100000" sy="100000" kx="0" ky="0" algn="bl" rotWithShape="0" blurRad="127000" dist="38100" dir="5400000">
              <a:srgbClr val="0F3D3E">
                <a:alpha val="10000"/>
              </a:srgbClr>
            </a:outerShdw>
          </a:effectLst>
        </p:spPr>
      </p:sp>
      <p:sp>
        <p:nvSpPr>
          <p:cNvPr id="7" name="text-107"/>
          <p:cNvSpPr txBox="1"/>
          <p:nvPr/>
        </p:nvSpPr>
        <p:spPr>
          <a:xfrm>
            <a:off x="731520" y="1783080"/>
            <a:ext cx="4361688" cy="777240"/>
          </a:xfrm>
          <a:prstGeom prst="rect">
            <a:avLst/>
          </a:prstGeom>
          <a:noFill/>
          <a:ln/>
        </p:spPr>
        <p:txBody>
          <a:bodyPr wrap="square" lIns="0" tIns="0" rIns="0" bIns="0" rtlCol="0" anchor="ctr"/>
          <a:lstStyle/>
          <a:p>
            <a:pPr rtl="1" algn="ctr" indent="0" marL="0">
              <a:buNone/>
            </a:pPr>
            <a:r>
              <a:rPr lang="ar-TN" altLang="en-US" sz="1700" b="1" dirty="0">
                <a:solidFill>
                  <a:schemeClr val="bg1"/>
                </a:solidFill>
              </a:rPr>
              <a:t>الإقامة الصرفية (الأمر 608)</a:t>
            </a:r>
            <a:endParaRPr lang="ar-TN" sz="1400" dirty="0"/>
          </a:p>
          <a:p>
            <a:pPr rtl="1" algn="ctr" indent="0" marL="0">
              <a:buNone/>
            </a:pPr>
            <a:r>
              <a:rPr lang="ar-TN" altLang="en-US" sz="1100" dirty="0">
                <a:solidFill>
                  <a:schemeClr val="bg1"/>
                </a:solidFill>
              </a:rPr>
              <a:t>La Résidence de Change</a:t>
            </a:r>
            <a:endParaRPr lang="ar-TN" sz="1400" dirty="0"/>
          </a:p>
        </p:txBody>
      </p:sp>
      <p:sp>
        <p:nvSpPr>
          <p:cNvPr id="8" name="card-108"/>
          <p:cNvSpPr/>
          <p:nvPr/>
        </p:nvSpPr>
        <p:spPr>
          <a:xfrm>
            <a:off x="10222992" y="2697480"/>
            <a:ext cx="1417320" cy="1024128"/>
          </a:xfrm>
          <a:prstGeom prst="roundRect">
            <a:avLst>
              <a:gd name="adj" fmla="val 14286"/>
            </a:avLst>
          </a:prstGeom>
          <a:solidFill>
            <a:schemeClr val="accent2"/>
          </a:solidFill>
          <a:ln/>
          <a:effectLst>
            <a:outerShdw sx="100000" sy="100000" kx="0" ky="0" algn="bl" rotWithShape="0" blurRad="203200" dist="63500" dir="5400000">
              <a:srgbClr val="0F3D3E">
                <a:alpha val="13000"/>
              </a:srgbClr>
            </a:outerShdw>
          </a:effectLst>
        </p:spPr>
      </p:sp>
      <p:sp>
        <p:nvSpPr>
          <p:cNvPr id="9" name="text-109"/>
          <p:cNvSpPr txBox="1"/>
          <p:nvPr/>
        </p:nvSpPr>
        <p:spPr>
          <a:xfrm>
            <a:off x="10222992" y="2697480"/>
            <a:ext cx="1417320" cy="1024128"/>
          </a:xfrm>
          <a:prstGeom prst="rect">
            <a:avLst/>
          </a:prstGeom>
          <a:noFill/>
          <a:ln/>
        </p:spPr>
        <p:txBody>
          <a:bodyPr wrap="square" lIns="0" tIns="0" rIns="0" bIns="0" rtlCol="0" anchor="ctr"/>
          <a:lstStyle/>
          <a:p>
            <a:pPr rtl="1" algn="ctr" indent="0" marL="0">
              <a:buNone/>
            </a:pPr>
            <a:r>
              <a:rPr lang="ar-TN" altLang="en-US" sz="1600" b="1" dirty="0">
                <a:solidFill>
                  <a:schemeClr val="bg1"/>
                </a:solidFill>
              </a:rPr>
              <a:t>المعيار</a:t>
            </a:r>
            <a:endParaRPr lang="ar-TN" sz="1600" dirty="0"/>
          </a:p>
        </p:txBody>
      </p:sp>
      <p:sp>
        <p:nvSpPr>
          <p:cNvPr id="10" name="card-110"/>
          <p:cNvSpPr/>
          <p:nvPr/>
        </p:nvSpPr>
        <p:spPr>
          <a:xfrm>
            <a:off x="5404104" y="2697480"/>
            <a:ext cx="4727448" cy="1024128"/>
          </a:xfrm>
          <a:prstGeom prst="roundRect">
            <a:avLst>
              <a:gd name="adj" fmla="val 14286"/>
            </a:avLst>
          </a:prstGeom>
          <a:solidFill>
            <a:schemeClr val="bg2"/>
          </a:solidFill>
          <a:ln/>
        </p:spPr>
      </p:sp>
      <p:sp>
        <p:nvSpPr>
          <p:cNvPr id="11" name="text-111"/>
          <p:cNvSpPr txBox="1"/>
          <p:nvPr/>
        </p:nvSpPr>
        <p:spPr>
          <a:xfrm>
            <a:off x="5586984" y="2697480"/>
            <a:ext cx="4361688" cy="1024128"/>
          </a:xfrm>
          <a:prstGeom prst="rect">
            <a:avLst/>
          </a:prstGeom>
          <a:noFill/>
          <a:ln/>
        </p:spPr>
        <p:txBody>
          <a:bodyPr wrap="square" lIns="0" tIns="0" rIns="0" bIns="0" rtlCol="0" anchor="ctr"/>
          <a:lstStyle/>
          <a:p>
            <a:pPr rtl="1" algn="r" indent="0" marL="0">
              <a:buNone/>
            </a:pPr>
            <a:r>
              <a:rPr lang="ar-TN" altLang="en-US" sz="1300" dirty="0">
                <a:solidFill>
                  <a:schemeClr val="tx1"/>
                </a:solidFill>
              </a:rPr>
              <a:t>الهوية والجنسية والعنوان المسجَّل في الوثائق الرسمية (بطاقة التعريف، جواز السفر، بطاقة الإقامة).</a:t>
            </a:r>
            <a:endParaRPr lang="ar-TN" sz="1300" dirty="0"/>
          </a:p>
        </p:txBody>
      </p:sp>
      <p:sp>
        <p:nvSpPr>
          <p:cNvPr id="12" name="card-112"/>
          <p:cNvSpPr/>
          <p:nvPr/>
        </p:nvSpPr>
        <p:spPr>
          <a:xfrm>
            <a:off x="548640" y="2697480"/>
            <a:ext cx="4727448" cy="1024128"/>
          </a:xfrm>
          <a:prstGeom prst="roundRect">
            <a:avLst>
              <a:gd name="adj" fmla="val 14286"/>
            </a:avLst>
          </a:prstGeom>
          <a:solidFill>
            <a:schemeClr val="bg1"/>
          </a:solidFill>
          <a:ln/>
          <a:effectLst>
            <a:outerShdw sx="100000" sy="100000" kx="0" ky="0" algn="bl" rotWithShape="0" blurRad="203200" dist="63500" dir="5400000">
              <a:srgbClr val="0F3D3E">
                <a:alpha val="13000"/>
              </a:srgbClr>
            </a:outerShdw>
          </a:effectLst>
        </p:spPr>
      </p:sp>
      <p:sp>
        <p:nvSpPr>
          <p:cNvPr id="13" name="text-113"/>
          <p:cNvSpPr txBox="1"/>
          <p:nvPr/>
        </p:nvSpPr>
        <p:spPr>
          <a:xfrm>
            <a:off x="731520" y="2697480"/>
            <a:ext cx="4361688" cy="1024128"/>
          </a:xfrm>
          <a:prstGeom prst="rect">
            <a:avLst/>
          </a:prstGeom>
          <a:noFill/>
          <a:ln/>
        </p:spPr>
        <p:txBody>
          <a:bodyPr wrap="square" lIns="0" tIns="0" rIns="0" bIns="0" rtlCol="0" anchor="ctr"/>
          <a:lstStyle/>
          <a:p>
            <a:pPr rtl="1" algn="r" indent="0" marL="0">
              <a:buNone/>
            </a:pPr>
            <a:r>
              <a:rPr lang="ar-TN" altLang="en-US" sz="1300" b="1" dirty="0">
                <a:solidFill>
                  <a:schemeClr val="tx1"/>
                </a:solidFill>
              </a:rPr>
              <a:t>معيار اقتصادي حصرًا: «مركز المصالح الاقتصادية الأساسية» — لا اعتبار للجنسية ولا لمكان الميلاد.</a:t>
            </a:r>
            <a:endParaRPr lang="ar-TN" sz="1300" dirty="0"/>
          </a:p>
        </p:txBody>
      </p:sp>
      <p:sp>
        <p:nvSpPr>
          <p:cNvPr id="14" name="card-114"/>
          <p:cNvSpPr/>
          <p:nvPr/>
        </p:nvSpPr>
        <p:spPr>
          <a:xfrm>
            <a:off x="10222992" y="3840480"/>
            <a:ext cx="1417320" cy="1024128"/>
          </a:xfrm>
          <a:prstGeom prst="roundRect">
            <a:avLst>
              <a:gd name="adj" fmla="val 14286"/>
            </a:avLst>
          </a:prstGeom>
          <a:solidFill>
            <a:schemeClr val="accent2"/>
          </a:solidFill>
          <a:ln/>
          <a:effectLst>
            <a:outerShdw sx="100000" sy="100000" kx="0" ky="0" algn="bl" rotWithShape="0" blurRad="203200" dist="63500" dir="5400000">
              <a:srgbClr val="0F3D3E">
                <a:alpha val="13000"/>
              </a:srgbClr>
            </a:outerShdw>
          </a:effectLst>
        </p:spPr>
      </p:sp>
      <p:sp>
        <p:nvSpPr>
          <p:cNvPr id="15" name="text-115"/>
          <p:cNvSpPr txBox="1"/>
          <p:nvPr/>
        </p:nvSpPr>
        <p:spPr>
          <a:xfrm>
            <a:off x="10222992" y="3840480"/>
            <a:ext cx="1417320" cy="1024128"/>
          </a:xfrm>
          <a:prstGeom prst="rect">
            <a:avLst/>
          </a:prstGeom>
          <a:noFill/>
          <a:ln/>
        </p:spPr>
        <p:txBody>
          <a:bodyPr wrap="square" lIns="0" tIns="0" rIns="0" bIns="0" rtlCol="0" anchor="ctr"/>
          <a:lstStyle/>
          <a:p>
            <a:pPr rtl="1" algn="ctr" indent="0" marL="0">
              <a:buNone/>
            </a:pPr>
            <a:r>
              <a:rPr lang="ar-TN" altLang="en-US" sz="1600" b="1" dirty="0">
                <a:solidFill>
                  <a:schemeClr val="bg1"/>
                </a:solidFill>
              </a:rPr>
              <a:t>الهدف</a:t>
            </a:r>
            <a:endParaRPr lang="ar-TN" sz="1600" dirty="0"/>
          </a:p>
        </p:txBody>
      </p:sp>
      <p:sp>
        <p:nvSpPr>
          <p:cNvPr id="16" name="card-116"/>
          <p:cNvSpPr/>
          <p:nvPr/>
        </p:nvSpPr>
        <p:spPr>
          <a:xfrm>
            <a:off x="5404104" y="3840480"/>
            <a:ext cx="4727448" cy="1024128"/>
          </a:xfrm>
          <a:prstGeom prst="roundRect">
            <a:avLst>
              <a:gd name="adj" fmla="val 14286"/>
            </a:avLst>
          </a:prstGeom>
          <a:solidFill>
            <a:schemeClr val="bg2"/>
          </a:solidFill>
          <a:ln/>
        </p:spPr>
      </p:sp>
      <p:sp>
        <p:nvSpPr>
          <p:cNvPr id="17" name="text-117"/>
          <p:cNvSpPr txBox="1"/>
          <p:nvPr/>
        </p:nvSpPr>
        <p:spPr>
          <a:xfrm>
            <a:off x="5586984" y="3840480"/>
            <a:ext cx="4361688" cy="1024128"/>
          </a:xfrm>
          <a:prstGeom prst="rect">
            <a:avLst/>
          </a:prstGeom>
          <a:noFill/>
          <a:ln/>
        </p:spPr>
        <p:txBody>
          <a:bodyPr wrap="square" lIns="0" tIns="0" rIns="0" bIns="0" rtlCol="0" anchor="ctr"/>
          <a:lstStyle/>
          <a:p>
            <a:pPr rtl="1" algn="r" indent="0" marL="0">
              <a:buNone/>
            </a:pPr>
            <a:r>
              <a:rPr lang="ar-TN" altLang="en-US" sz="1300" dirty="0">
                <a:solidFill>
                  <a:schemeClr val="tx1"/>
                </a:solidFill>
              </a:rPr>
              <a:t>حفظ النظام العام، تحديد الاختصاص الترابي للمحاكم ومراكز الأمن، ضبط الحالة المدنية.</a:t>
            </a:r>
            <a:endParaRPr lang="ar-TN" sz="1300" dirty="0"/>
          </a:p>
        </p:txBody>
      </p:sp>
      <p:sp>
        <p:nvSpPr>
          <p:cNvPr id="18" name="card-118"/>
          <p:cNvSpPr/>
          <p:nvPr/>
        </p:nvSpPr>
        <p:spPr>
          <a:xfrm>
            <a:off x="548640" y="3840480"/>
            <a:ext cx="4727448" cy="1024128"/>
          </a:xfrm>
          <a:prstGeom prst="roundRect">
            <a:avLst>
              <a:gd name="adj" fmla="val 14286"/>
            </a:avLst>
          </a:prstGeom>
          <a:solidFill>
            <a:schemeClr val="bg1"/>
          </a:solidFill>
          <a:ln/>
          <a:effectLst>
            <a:outerShdw sx="100000" sy="100000" kx="0" ky="0" algn="bl" rotWithShape="0" blurRad="203200" dist="63500" dir="5400000">
              <a:srgbClr val="0F3D3E">
                <a:alpha val="13000"/>
              </a:srgbClr>
            </a:outerShdw>
          </a:effectLst>
        </p:spPr>
      </p:sp>
      <p:sp>
        <p:nvSpPr>
          <p:cNvPr id="19" name="text-119"/>
          <p:cNvSpPr txBox="1"/>
          <p:nvPr/>
        </p:nvSpPr>
        <p:spPr>
          <a:xfrm>
            <a:off x="731520" y="3840480"/>
            <a:ext cx="4361688" cy="1024128"/>
          </a:xfrm>
          <a:prstGeom prst="rect">
            <a:avLst/>
          </a:prstGeom>
          <a:noFill/>
          <a:ln/>
        </p:spPr>
        <p:txBody>
          <a:bodyPr wrap="square" lIns="0" tIns="0" rIns="0" bIns="0" rtlCol="0" anchor="ctr"/>
          <a:lstStyle/>
          <a:p>
            <a:pPr rtl="1" algn="r" indent="0" marL="0">
              <a:buNone/>
            </a:pPr>
            <a:r>
              <a:rPr lang="ar-TN" altLang="en-US" sz="1300" dirty="0">
                <a:solidFill>
                  <a:schemeClr val="tx1"/>
                </a:solidFill>
              </a:rPr>
              <a:t>حماية الرصيد الوطني من العملة الصعبة ومنع خروج الثروة المتكوّنة داخل تونس.</a:t>
            </a:r>
            <a:endParaRPr lang="ar-TN" sz="1300" dirty="0"/>
          </a:p>
        </p:txBody>
      </p:sp>
      <p:sp>
        <p:nvSpPr>
          <p:cNvPr id="20" name="card-120"/>
          <p:cNvSpPr/>
          <p:nvPr/>
        </p:nvSpPr>
        <p:spPr>
          <a:xfrm>
            <a:off x="10222992" y="4983480"/>
            <a:ext cx="1417320" cy="1024128"/>
          </a:xfrm>
          <a:prstGeom prst="roundRect">
            <a:avLst>
              <a:gd name="adj" fmla="val 14286"/>
            </a:avLst>
          </a:prstGeom>
          <a:solidFill>
            <a:schemeClr val="accent2"/>
          </a:solidFill>
          <a:ln/>
          <a:effectLst>
            <a:outerShdw sx="100000" sy="100000" kx="0" ky="0" algn="bl" rotWithShape="0" blurRad="203200" dist="63500" dir="5400000">
              <a:srgbClr val="0F3D3E">
                <a:alpha val="13000"/>
              </a:srgbClr>
            </a:outerShdw>
          </a:effectLst>
        </p:spPr>
      </p:sp>
      <p:sp>
        <p:nvSpPr>
          <p:cNvPr id="21" name="text-121"/>
          <p:cNvSpPr txBox="1"/>
          <p:nvPr/>
        </p:nvSpPr>
        <p:spPr>
          <a:xfrm>
            <a:off x="10222992" y="4983480"/>
            <a:ext cx="1417320" cy="1024128"/>
          </a:xfrm>
          <a:prstGeom prst="rect">
            <a:avLst/>
          </a:prstGeom>
          <a:noFill/>
          <a:ln/>
        </p:spPr>
        <p:txBody>
          <a:bodyPr wrap="square" lIns="0" tIns="0" rIns="0" bIns="0" rtlCol="0" anchor="ctr"/>
          <a:lstStyle/>
          <a:p>
            <a:pPr rtl="1" algn="ctr" indent="0" marL="0">
              <a:buNone/>
            </a:pPr>
            <a:r>
              <a:rPr lang="ar-TN" altLang="en-US" sz="1600" b="1" dirty="0">
                <a:solidFill>
                  <a:schemeClr val="bg1"/>
                </a:solidFill>
              </a:rPr>
              <a:t>القاعدة</a:t>
            </a:r>
            <a:endParaRPr lang="ar-TN" sz="1600" dirty="0"/>
          </a:p>
        </p:txBody>
      </p:sp>
      <p:sp>
        <p:nvSpPr>
          <p:cNvPr id="22" name="card-122"/>
          <p:cNvSpPr/>
          <p:nvPr/>
        </p:nvSpPr>
        <p:spPr>
          <a:xfrm>
            <a:off x="5404104" y="4983480"/>
            <a:ext cx="4727448" cy="1024128"/>
          </a:xfrm>
          <a:prstGeom prst="roundRect">
            <a:avLst>
              <a:gd name="adj" fmla="val 14286"/>
            </a:avLst>
          </a:prstGeom>
          <a:solidFill>
            <a:schemeClr val="bg2"/>
          </a:solidFill>
          <a:ln/>
        </p:spPr>
      </p:sp>
      <p:sp>
        <p:nvSpPr>
          <p:cNvPr id="23" name="text-123"/>
          <p:cNvSpPr txBox="1"/>
          <p:nvPr/>
        </p:nvSpPr>
        <p:spPr>
          <a:xfrm>
            <a:off x="5586984" y="4983480"/>
            <a:ext cx="4361688" cy="1024128"/>
          </a:xfrm>
          <a:prstGeom prst="rect">
            <a:avLst/>
          </a:prstGeom>
          <a:noFill/>
          <a:ln/>
        </p:spPr>
        <p:txBody>
          <a:bodyPr wrap="square" lIns="0" tIns="0" rIns="0" bIns="0" rtlCol="0" anchor="ctr"/>
          <a:lstStyle/>
          <a:p>
            <a:pPr rtl="1" algn="r" indent="0" marL="0">
              <a:buNone/>
            </a:pPr>
            <a:r>
              <a:rPr lang="ar-TN" altLang="en-US" sz="1300" dirty="0">
                <a:solidFill>
                  <a:schemeClr val="tx1"/>
                </a:solidFill>
              </a:rPr>
              <a:t>صفة ثابتة: التونسي «مواطن تونسي» أينما كان، والأجنبي أجنبي.</a:t>
            </a:r>
            <a:endParaRPr lang="ar-TN" sz="1300" dirty="0"/>
          </a:p>
        </p:txBody>
      </p:sp>
      <p:sp>
        <p:nvSpPr>
          <p:cNvPr id="24" name="card-124"/>
          <p:cNvSpPr/>
          <p:nvPr/>
        </p:nvSpPr>
        <p:spPr>
          <a:xfrm>
            <a:off x="548640" y="4983480"/>
            <a:ext cx="4727448" cy="1024128"/>
          </a:xfrm>
          <a:prstGeom prst="roundRect">
            <a:avLst>
              <a:gd name="adj" fmla="val 14286"/>
            </a:avLst>
          </a:prstGeom>
          <a:solidFill>
            <a:schemeClr val="bg1"/>
          </a:solidFill>
          <a:ln/>
          <a:effectLst>
            <a:outerShdw sx="100000" sy="100000" kx="0" ky="0" algn="bl" rotWithShape="0" blurRad="203200" dist="63500" dir="5400000">
              <a:srgbClr val="0F3D3E">
                <a:alpha val="13000"/>
              </a:srgbClr>
            </a:outerShdw>
          </a:effectLst>
        </p:spPr>
      </p:sp>
      <p:sp>
        <p:nvSpPr>
          <p:cNvPr id="25" name="text-125"/>
          <p:cNvSpPr txBox="1"/>
          <p:nvPr/>
        </p:nvSpPr>
        <p:spPr>
          <a:xfrm>
            <a:off x="731520" y="4983480"/>
            <a:ext cx="4361688" cy="1024128"/>
          </a:xfrm>
          <a:prstGeom prst="rect">
            <a:avLst/>
          </a:prstGeom>
          <a:noFill/>
          <a:ln/>
        </p:spPr>
        <p:txBody>
          <a:bodyPr wrap="square" lIns="0" tIns="0" rIns="0" bIns="0" rtlCol="0" anchor="ctr"/>
          <a:lstStyle/>
          <a:p>
            <a:pPr rtl="1" algn="r" indent="0" marL="0">
              <a:buNone/>
            </a:pPr>
            <a:r>
              <a:rPr lang="ar-TN" altLang="en-US" sz="1300" dirty="0">
                <a:solidFill>
                  <a:schemeClr val="tx1"/>
                </a:solidFill>
              </a:rPr>
              <a:t>صفة متحرّكة: تتغيّر بتغيّر ظروف الشخص، وليست ثابتة مثل الجنسية.</a:t>
            </a:r>
            <a:endParaRPr lang="ar-TN"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المعيار الحاسم: مركز المصالح الاقتصادية الأساسية</a:t>
            </a:r>
            <a:endParaRPr lang="ar-TN" sz="3000" dirty="0"/>
          </a:p>
        </p:txBody>
      </p:sp>
      <p:sp>
        <p:nvSpPr>
          <p:cNvPr id="3" name="text-126"/>
          <p:cNvSpPr txBox="1"/>
          <p:nvPr/>
        </p:nvSpPr>
        <p:spPr>
          <a:xfrm>
            <a:off x="548640" y="1115568"/>
            <a:ext cx="11094415" cy="384048"/>
          </a:xfrm>
          <a:prstGeom prst="rect">
            <a:avLst/>
          </a:prstGeom>
          <a:noFill/>
          <a:ln/>
        </p:spPr>
        <p:txBody>
          <a:bodyPr wrap="square" lIns="0" tIns="0" rIns="0" bIns="0" rtlCol="0" anchor="t"/>
          <a:lstStyle/>
          <a:p>
            <a:pPr algn="r" indent="0" marL="0">
              <a:buNone/>
            </a:pPr>
            <a:r>
              <a:rPr lang="fr-FR" altLang="en-US" sz="1500" dirty="0">
                <a:solidFill>
                  <a:schemeClr val="accent5"/>
                </a:solidFill>
              </a:rPr>
              <a:t>Centre des intérêts économiques principaux</a:t>
            </a:r>
            <a:endParaRPr lang="fr-FR" sz="1500" dirty="0"/>
          </a:p>
        </p:txBody>
      </p:sp>
      <p:sp>
        <p:nvSpPr>
          <p:cNvPr id="4" name="text-127"/>
          <p:cNvSpPr txBox="1"/>
          <p:nvPr/>
        </p:nvSpPr>
        <p:spPr>
          <a:xfrm>
            <a:off x="5257800" y="1737360"/>
            <a:ext cx="6382512" cy="457200"/>
          </a:xfrm>
          <a:prstGeom prst="rect">
            <a:avLst/>
          </a:prstGeom>
          <a:noFill/>
          <a:ln/>
        </p:spPr>
        <p:txBody>
          <a:bodyPr wrap="square" lIns="0" tIns="0" rIns="0" bIns="0" rtlCol="0" anchor="t"/>
          <a:lstStyle/>
          <a:p>
            <a:pPr rtl="1" algn="r" indent="0" marL="0">
              <a:buNone/>
            </a:pPr>
            <a:r>
              <a:rPr lang="ar-TN" altLang="en-US" sz="1700" b="1" dirty="0">
                <a:solidFill>
                  <a:schemeClr val="accent1"/>
                </a:solidFill>
              </a:rPr>
              <a:t>ثلاثة أسئلة تحدّد الصفة الصرفية للشخص:</a:t>
            </a:r>
            <a:endParaRPr lang="ar-TN" sz="1700" dirty="0"/>
          </a:p>
        </p:txBody>
      </p:sp>
      <p:sp>
        <p:nvSpPr>
          <p:cNvPr id="5" name="card-128"/>
          <p:cNvSpPr/>
          <p:nvPr/>
        </p:nvSpPr>
        <p:spPr>
          <a:xfrm>
            <a:off x="5257800" y="2377440"/>
            <a:ext cx="6382512" cy="731520"/>
          </a:xfrm>
          <a:prstGeom prst="roundRect">
            <a:avLst>
              <a:gd name="adj" fmla="val 50000"/>
            </a:avLst>
          </a:prstGeom>
          <a:solidFill>
            <a:schemeClr val="bg1"/>
          </a:solidFill>
          <a:ln/>
          <a:effectLst>
            <a:outerShdw sx="100000" sy="100000" kx="0" ky="0" algn="bl" rotWithShape="0" blurRad="203200" dist="63500" dir="5400000">
              <a:srgbClr val="0F3D3E">
                <a:alpha val="13000"/>
              </a:srgbClr>
            </a:outerShdw>
          </a:effectLst>
        </p:spPr>
      </p:sp>
      <p:sp>
        <p:nvSpPr>
          <p:cNvPr id="6" name="badge-129"/>
          <p:cNvSpPr/>
          <p:nvPr/>
        </p:nvSpPr>
        <p:spPr>
          <a:xfrm>
            <a:off x="10981944" y="2468880"/>
            <a:ext cx="548640" cy="548640"/>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7" name="badge-txt-130"/>
          <p:cNvSpPr txBox="1"/>
          <p:nvPr/>
        </p:nvSpPr>
        <p:spPr>
          <a:xfrm>
            <a:off x="10981944" y="2468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icon-bg-131"/>
          <p:cNvSpPr/>
          <p:nvPr/>
        </p:nvSpPr>
        <p:spPr>
          <a:xfrm>
            <a:off x="10341864" y="2487168"/>
            <a:ext cx="512064" cy="512064"/>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9" name="icon-132" descr="preencoded.png">    </p:cNvPr>
          <p:cNvPicPr>
            <a:picLocks noChangeAspect="1"/>
          </p:cNvPicPr>
          <p:nvPr/>
        </p:nvPicPr>
        <p:blipFill>
          <a:blip r:embed="rId1"/>
          <a:stretch>
            <a:fillRect/>
          </a:stretch>
        </p:blipFill>
        <p:spPr>
          <a:xfrm>
            <a:off x="10469880" y="2615184"/>
            <a:ext cx="256032" cy="256032"/>
          </a:xfrm>
          <a:prstGeom prst="rect">
            <a:avLst/>
          </a:prstGeom>
        </p:spPr>
      </p:pic>
      <p:sp>
        <p:nvSpPr>
          <p:cNvPr id="10" name="text-133"/>
          <p:cNvSpPr txBox="1"/>
          <p:nvPr/>
        </p:nvSpPr>
        <p:spPr>
          <a:xfrm>
            <a:off x="5486400" y="2377440"/>
            <a:ext cx="4754880" cy="731520"/>
          </a:xfrm>
          <a:prstGeom prst="rect">
            <a:avLst/>
          </a:prstGeom>
          <a:noFill/>
          <a:ln/>
        </p:spPr>
        <p:txBody>
          <a:bodyPr wrap="square" lIns="0" tIns="0" rIns="0" bIns="0" rtlCol="0" anchor="ctr"/>
          <a:lstStyle/>
          <a:p>
            <a:pPr rtl="1" algn="r" indent="0" marL="0">
              <a:buNone/>
            </a:pPr>
            <a:r>
              <a:rPr lang="ar-TN" altLang="en-US" sz="1700" b="1" dirty="0">
                <a:solidFill>
                  <a:schemeClr val="tx1"/>
                </a:solidFill>
              </a:rPr>
              <a:t>أين يعمل هذا الشخص؟</a:t>
            </a:r>
            <a:endParaRPr lang="ar-TN" sz="1700" dirty="0"/>
          </a:p>
        </p:txBody>
      </p:sp>
      <p:sp>
        <p:nvSpPr>
          <p:cNvPr id="11" name="card-134"/>
          <p:cNvSpPr/>
          <p:nvPr/>
        </p:nvSpPr>
        <p:spPr>
          <a:xfrm>
            <a:off x="5257800" y="3246120"/>
            <a:ext cx="6382512" cy="731520"/>
          </a:xfrm>
          <a:prstGeom prst="roundRect">
            <a:avLst>
              <a:gd name="adj" fmla="val 50000"/>
            </a:avLst>
          </a:prstGeom>
          <a:solidFill>
            <a:schemeClr val="bg1"/>
          </a:solidFill>
          <a:ln/>
          <a:effectLst>
            <a:outerShdw sx="100000" sy="100000" kx="0" ky="0" algn="bl" rotWithShape="0" blurRad="203200" dist="63500" dir="5400000">
              <a:srgbClr val="0F3D3E">
                <a:alpha val="13000"/>
              </a:srgbClr>
            </a:outerShdw>
          </a:effectLst>
        </p:spPr>
      </p:sp>
      <p:sp>
        <p:nvSpPr>
          <p:cNvPr id="12" name="badge-135"/>
          <p:cNvSpPr/>
          <p:nvPr/>
        </p:nvSpPr>
        <p:spPr>
          <a:xfrm>
            <a:off x="10981944" y="3337560"/>
            <a:ext cx="548640" cy="548640"/>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13" name="badge-txt-136"/>
          <p:cNvSpPr txBox="1"/>
          <p:nvPr/>
        </p:nvSpPr>
        <p:spPr>
          <a:xfrm>
            <a:off x="10981944"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icon-bg-137"/>
          <p:cNvSpPr/>
          <p:nvPr/>
        </p:nvSpPr>
        <p:spPr>
          <a:xfrm>
            <a:off x="10341864" y="3355848"/>
            <a:ext cx="512064" cy="512064"/>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5" name="icon-138" descr="preencoded.png">    </p:cNvPr>
          <p:cNvPicPr>
            <a:picLocks noChangeAspect="1"/>
          </p:cNvPicPr>
          <p:nvPr/>
        </p:nvPicPr>
        <p:blipFill>
          <a:blip r:embed="rId2"/>
          <a:stretch>
            <a:fillRect/>
          </a:stretch>
        </p:blipFill>
        <p:spPr>
          <a:xfrm>
            <a:off x="10469880" y="3483864"/>
            <a:ext cx="256032" cy="256032"/>
          </a:xfrm>
          <a:prstGeom prst="rect">
            <a:avLst/>
          </a:prstGeom>
        </p:spPr>
      </p:pic>
      <p:sp>
        <p:nvSpPr>
          <p:cNvPr id="16" name="text-139"/>
          <p:cNvSpPr txBox="1"/>
          <p:nvPr/>
        </p:nvSpPr>
        <p:spPr>
          <a:xfrm>
            <a:off x="5486400" y="3246120"/>
            <a:ext cx="4754880" cy="731520"/>
          </a:xfrm>
          <a:prstGeom prst="rect">
            <a:avLst/>
          </a:prstGeom>
          <a:noFill/>
          <a:ln/>
        </p:spPr>
        <p:txBody>
          <a:bodyPr wrap="square" lIns="0" tIns="0" rIns="0" bIns="0" rtlCol="0" anchor="ctr"/>
          <a:lstStyle/>
          <a:p>
            <a:pPr rtl="1" algn="r" indent="0" marL="0">
              <a:buNone/>
            </a:pPr>
            <a:r>
              <a:rPr lang="ar-TN" altLang="en-US" sz="1700" b="1" dirty="0">
                <a:solidFill>
                  <a:schemeClr val="tx1"/>
                </a:solidFill>
              </a:rPr>
              <a:t>من أين يجني ماله؟</a:t>
            </a:r>
            <a:endParaRPr lang="ar-TN" sz="1700" dirty="0"/>
          </a:p>
        </p:txBody>
      </p:sp>
      <p:sp>
        <p:nvSpPr>
          <p:cNvPr id="17" name="card-140"/>
          <p:cNvSpPr/>
          <p:nvPr/>
        </p:nvSpPr>
        <p:spPr>
          <a:xfrm>
            <a:off x="5257800" y="4114800"/>
            <a:ext cx="6382512" cy="731520"/>
          </a:xfrm>
          <a:prstGeom prst="roundRect">
            <a:avLst>
              <a:gd name="adj" fmla="val 50000"/>
            </a:avLst>
          </a:prstGeom>
          <a:solidFill>
            <a:schemeClr val="bg1"/>
          </a:solidFill>
          <a:ln/>
          <a:effectLst>
            <a:outerShdw sx="100000" sy="100000" kx="0" ky="0" algn="bl" rotWithShape="0" blurRad="203200" dist="63500" dir="5400000">
              <a:srgbClr val="0F3D3E">
                <a:alpha val="13000"/>
              </a:srgbClr>
            </a:outerShdw>
          </a:effectLst>
        </p:spPr>
      </p:sp>
      <p:sp>
        <p:nvSpPr>
          <p:cNvPr id="18" name="badge-141"/>
          <p:cNvSpPr/>
          <p:nvPr/>
        </p:nvSpPr>
        <p:spPr>
          <a:xfrm>
            <a:off x="10981944" y="4206240"/>
            <a:ext cx="548640" cy="548640"/>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19" name="badge-txt-142"/>
          <p:cNvSpPr txBox="1"/>
          <p:nvPr/>
        </p:nvSpPr>
        <p:spPr>
          <a:xfrm>
            <a:off x="10981944" y="4206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icon-bg-143"/>
          <p:cNvSpPr/>
          <p:nvPr/>
        </p:nvSpPr>
        <p:spPr>
          <a:xfrm>
            <a:off x="10341864" y="4224528"/>
            <a:ext cx="512064" cy="512064"/>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21" name="icon-144" descr="preencoded.png">    </p:cNvPr>
          <p:cNvPicPr>
            <a:picLocks noChangeAspect="1"/>
          </p:cNvPicPr>
          <p:nvPr/>
        </p:nvPicPr>
        <p:blipFill>
          <a:blip r:embed="rId3"/>
          <a:stretch>
            <a:fillRect/>
          </a:stretch>
        </p:blipFill>
        <p:spPr>
          <a:xfrm>
            <a:off x="10469880" y="4352544"/>
            <a:ext cx="256032" cy="256032"/>
          </a:xfrm>
          <a:prstGeom prst="rect">
            <a:avLst/>
          </a:prstGeom>
        </p:spPr>
      </p:pic>
      <p:sp>
        <p:nvSpPr>
          <p:cNvPr id="22" name="text-145"/>
          <p:cNvSpPr txBox="1"/>
          <p:nvPr/>
        </p:nvSpPr>
        <p:spPr>
          <a:xfrm>
            <a:off x="5486400" y="4114800"/>
            <a:ext cx="4754880" cy="731520"/>
          </a:xfrm>
          <a:prstGeom prst="rect">
            <a:avLst/>
          </a:prstGeom>
          <a:noFill/>
          <a:ln/>
        </p:spPr>
        <p:txBody>
          <a:bodyPr wrap="square" lIns="0" tIns="0" rIns="0" bIns="0" rtlCol="0" anchor="ctr"/>
          <a:lstStyle/>
          <a:p>
            <a:pPr rtl="1" algn="r" indent="0" marL="0">
              <a:buNone/>
            </a:pPr>
            <a:r>
              <a:rPr lang="ar-TN" altLang="en-US" sz="1700" b="1" dirty="0">
                <a:solidFill>
                  <a:schemeClr val="tx1"/>
                </a:solidFill>
              </a:rPr>
              <a:t>أين ينفقه بصفة اعتيادية؟</a:t>
            </a:r>
            <a:endParaRPr lang="ar-TN" sz="1700" dirty="0"/>
          </a:p>
        </p:txBody>
      </p:sp>
      <p:sp>
        <p:nvSpPr>
          <p:cNvPr id="23" name="card-146"/>
          <p:cNvSpPr/>
          <p:nvPr/>
        </p:nvSpPr>
        <p:spPr>
          <a:xfrm>
            <a:off x="5257800" y="5029200"/>
            <a:ext cx="6382512" cy="1051560"/>
          </a:xfrm>
          <a:prstGeom prst="roundRect">
            <a:avLst>
              <a:gd name="adj" fmla="val 13913"/>
            </a:avLst>
          </a:prstGeom>
          <a:solidFill>
            <a:schemeClr val="bg1"/>
          </a:solidFill>
          <a:ln/>
          <a:effectLst>
            <a:outerShdw sx="100000" sy="100000" kx="0" ky="0" algn="bl" rotWithShape="0" blurRad="203200" dist="63500" dir="5400000">
              <a:srgbClr val="0F3D3E">
                <a:alpha val="13000"/>
              </a:srgbClr>
            </a:outerShdw>
          </a:effectLst>
        </p:spPr>
      </p:sp>
      <p:sp>
        <p:nvSpPr>
          <p:cNvPr id="24" name="text-147"/>
          <p:cNvSpPr txBox="1"/>
          <p:nvPr/>
        </p:nvSpPr>
        <p:spPr>
          <a:xfrm>
            <a:off x="5440680" y="5193792"/>
            <a:ext cx="6016752" cy="685800"/>
          </a:xfrm>
          <a:prstGeom prst="rect">
            <a:avLst/>
          </a:prstGeom>
          <a:noFill/>
          <a:ln/>
        </p:spPr>
        <p:txBody>
          <a:bodyPr wrap="square" lIns="0" tIns="0" rIns="0" bIns="0" rtlCol="0" anchor="ctr"/>
          <a:lstStyle/>
          <a:p>
            <a:pPr rtl="1" algn="ctr" indent="0" marL="0">
              <a:buNone/>
            </a:pPr>
            <a:r>
              <a:rPr lang="ar-TN" altLang="en-US" sz="2600" b="1" dirty="0">
                <a:solidFill>
                  <a:schemeClr val="accent4"/>
                </a:solidFill>
              </a:rPr>
              <a:t>صفة متحرّكة لا ثابتة</a:t>
            </a:r>
            <a:endParaRPr lang="ar-TN" sz="2600" dirty="0"/>
          </a:p>
        </p:txBody>
      </p:sp>
      <p:sp>
        <p:nvSpPr>
          <p:cNvPr id="25" name="text-148"/>
          <p:cNvSpPr txBox="1"/>
          <p:nvPr/>
        </p:nvSpPr>
        <p:spPr>
          <a:xfrm>
            <a:off x="5440680" y="5897880"/>
            <a:ext cx="6016752" cy="0"/>
          </a:xfrm>
          <a:prstGeom prst="rect">
            <a:avLst/>
          </a:prstGeom>
          <a:noFill/>
          <a:ln/>
        </p:spPr>
        <p:txBody>
          <a:bodyPr wrap="square" lIns="0" tIns="0" rIns="0" bIns="0" rtlCol="0" anchor="t"/>
          <a:lstStyle/>
          <a:p>
            <a:pPr rtl="1" algn="ctr" indent="0" marL="0">
              <a:buNone/>
            </a:pPr>
            <a:endParaRPr lang="ar-TN" sz="1300" dirty="0"/>
          </a:p>
        </p:txBody>
      </p:sp>
      <p:pic>
        <p:nvPicPr>
          <p:cNvPr id="26" name="3d-magnifier-149" descr="magnifier">    </p:cNvPr>
          <p:cNvPicPr>
            <a:picLocks noChangeAspect="1"/>
          </p:cNvPicPr>
          <p:nvPr/>
        </p:nvPicPr>
        <p:blipFill>
          <a:blip r:embed="rId4"/>
          <a:stretch>
            <a:fillRect/>
          </a:stretch>
        </p:blipFill>
        <p:spPr>
          <a:xfrm>
            <a:off x="640080" y="2657830"/>
            <a:ext cx="4206240" cy="3102890"/>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التونسي غير المقيم</a:t>
            </a:r>
            <a:endParaRPr lang="ar-TN" sz="3000" dirty="0"/>
          </a:p>
        </p:txBody>
      </p:sp>
      <p:sp>
        <p:nvSpPr>
          <p:cNvPr id="3" name="text-150"/>
          <p:cNvSpPr txBox="1"/>
          <p:nvPr/>
        </p:nvSpPr>
        <p:spPr>
          <a:xfrm>
            <a:off x="548640" y="1115568"/>
            <a:ext cx="11094415" cy="384048"/>
          </a:xfrm>
          <a:prstGeom prst="rect">
            <a:avLst/>
          </a:prstGeom>
          <a:noFill/>
          <a:ln/>
        </p:spPr>
        <p:txBody>
          <a:bodyPr wrap="square" lIns="0" tIns="0" rIns="0" bIns="0" rtlCol="0" anchor="t"/>
          <a:lstStyle/>
          <a:p>
            <a:pPr algn="r" indent="0" marL="0">
              <a:buNone/>
            </a:pPr>
            <a:r>
              <a:rPr lang="fr-FR" altLang="en-US" sz="1500" dirty="0">
                <a:solidFill>
                  <a:schemeClr val="accent5"/>
                </a:solidFill>
              </a:rPr>
              <a:t>Le Tunisien Non-Résident</a:t>
            </a:r>
            <a:endParaRPr lang="fr-FR" sz="1500" dirty="0"/>
          </a:p>
        </p:txBody>
      </p:sp>
      <p:sp>
        <p:nvSpPr>
          <p:cNvPr id="4" name="badge-151"/>
          <p:cNvSpPr/>
          <p:nvPr/>
        </p:nvSpPr>
        <p:spPr>
          <a:xfrm>
            <a:off x="11137392" y="1691640"/>
            <a:ext cx="502920" cy="502920"/>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5" name="badge-txt-152"/>
          <p:cNvSpPr txBox="1"/>
          <p:nvPr/>
        </p:nvSpPr>
        <p:spPr>
          <a:xfrm>
            <a:off x="11137392" y="1691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153"/>
          <p:cNvSpPr txBox="1"/>
          <p:nvPr/>
        </p:nvSpPr>
        <p:spPr>
          <a:xfrm>
            <a:off x="8229600" y="1691640"/>
            <a:ext cx="2788920" cy="502920"/>
          </a:xfrm>
          <a:prstGeom prst="rect">
            <a:avLst/>
          </a:prstGeom>
          <a:noFill/>
          <a:ln/>
        </p:spPr>
        <p:txBody>
          <a:bodyPr wrap="square" lIns="0" tIns="0" rIns="0" bIns="0" rtlCol="0" anchor="ctr"/>
          <a:lstStyle/>
          <a:p>
            <a:pPr rtl="1" algn="r" indent="0" marL="0">
              <a:buNone/>
            </a:pPr>
            <a:r>
              <a:rPr lang="ar-TN" altLang="en-US" sz="1500" b="1" dirty="0">
                <a:solidFill>
                  <a:schemeClr val="accent2"/>
                </a:solidFill>
              </a:rPr>
              <a:t>الحالة التطبيقية</a:t>
            </a:r>
            <a:endParaRPr lang="ar-TN" sz="1500" dirty="0"/>
          </a:p>
        </p:txBody>
      </p:sp>
      <p:sp>
        <p:nvSpPr>
          <p:cNvPr id="7" name="card-154"/>
          <p:cNvSpPr/>
          <p:nvPr/>
        </p:nvSpPr>
        <p:spPr>
          <a:xfrm>
            <a:off x="5257800" y="2331720"/>
            <a:ext cx="6382512" cy="1051560"/>
          </a:xfrm>
          <a:prstGeom prst="roundRect">
            <a:avLst>
              <a:gd name="adj" fmla="val 13913"/>
            </a:avLst>
          </a:prstGeom>
          <a:solidFill>
            <a:schemeClr val="bg1"/>
          </a:solidFill>
          <a:ln/>
          <a:effectLst>
            <a:outerShdw sx="100000" sy="100000" kx="0" ky="0" algn="bl" rotWithShape="0" blurRad="203200" dist="63500" dir="5400000">
              <a:srgbClr val="0F3D3E">
                <a:alpha val="13000"/>
              </a:srgbClr>
            </a:outerShdw>
          </a:effectLst>
        </p:spPr>
      </p:sp>
      <p:sp>
        <p:nvSpPr>
          <p:cNvPr id="8" name="icon-bg-155"/>
          <p:cNvSpPr/>
          <p:nvPr/>
        </p:nvSpPr>
        <p:spPr>
          <a:xfrm>
            <a:off x="10844784" y="2551176"/>
            <a:ext cx="566928" cy="56692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9" name="icon-156" descr="preencoded.png">    </p:cNvPr>
          <p:cNvPicPr>
            <a:picLocks noChangeAspect="1"/>
          </p:cNvPicPr>
          <p:nvPr/>
        </p:nvPicPr>
        <p:blipFill>
          <a:blip r:embed="rId1"/>
          <a:stretch>
            <a:fillRect/>
          </a:stretch>
        </p:blipFill>
        <p:spPr>
          <a:xfrm>
            <a:off x="10986516" y="2692908"/>
            <a:ext cx="283464" cy="283464"/>
          </a:xfrm>
          <a:prstGeom prst="rect">
            <a:avLst/>
          </a:prstGeom>
        </p:spPr>
      </p:pic>
      <p:sp>
        <p:nvSpPr>
          <p:cNvPr id="10" name="text-157"/>
          <p:cNvSpPr txBox="1"/>
          <p:nvPr/>
        </p:nvSpPr>
        <p:spPr>
          <a:xfrm>
            <a:off x="5486400" y="2532888"/>
            <a:ext cx="5129784" cy="68580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500" b="1" dirty="0">
                <a:solidFill>
                  <a:schemeClr val="tx1"/>
                </a:solidFill>
              </a:rPr>
              <a:t>الوضعية</a:t>
            </a:r>
            <a:endParaRPr lang="ar-TN" sz="1400" dirty="0"/>
          </a:p>
          <a:p>
            <a:pPr rtl="1" algn="r" indent="0" marL="0">
              <a:lnSpc>
                <a:spcPct val="105000"/>
              </a:lnSpc>
              <a:spcAft>
                <a:spcPts val="300"/>
              </a:spcAft>
              <a:buNone/>
            </a:pPr>
            <a:r>
              <a:rPr lang="ar-TN" altLang="en-US" sz="1350" dirty="0">
                <a:solidFill>
                  <a:schemeClr val="tx1"/>
                </a:solidFill>
              </a:rPr>
              <a:t>مهندس تونسي يحمل بطاقة تعريف تونسية، لكنه يعيش ويعمل في ألمانيا منذ سنوات.</a:t>
            </a:r>
            <a:endParaRPr lang="ar-TN" sz="1400" dirty="0"/>
          </a:p>
        </p:txBody>
      </p:sp>
      <p:sp>
        <p:nvSpPr>
          <p:cNvPr id="11" name="card-158"/>
          <p:cNvSpPr/>
          <p:nvPr/>
        </p:nvSpPr>
        <p:spPr>
          <a:xfrm>
            <a:off x="8513064" y="3566160"/>
            <a:ext cx="3127248" cy="914400"/>
          </a:xfrm>
          <a:prstGeom prst="roundRect">
            <a:avLst>
              <a:gd name="adj" fmla="val 16000"/>
            </a:avLst>
          </a:prstGeom>
          <a:solidFill>
            <a:schemeClr val="bg1"/>
          </a:solidFill>
          <a:ln/>
          <a:effectLst>
            <a:outerShdw sx="100000" sy="100000" kx="0" ky="0" algn="bl" rotWithShape="0" blurRad="203200" dist="63500" dir="5400000">
              <a:srgbClr val="0F3D3E">
                <a:alpha val="13000"/>
              </a:srgbClr>
            </a:outerShdw>
          </a:effectLst>
        </p:spPr>
      </p:sp>
      <p:sp>
        <p:nvSpPr>
          <p:cNvPr id="12" name="text-159"/>
          <p:cNvSpPr txBox="1"/>
          <p:nvPr/>
        </p:nvSpPr>
        <p:spPr>
          <a:xfrm>
            <a:off x="8741664" y="3611880"/>
            <a:ext cx="2670048" cy="822960"/>
          </a:xfrm>
          <a:prstGeom prst="rect">
            <a:avLst/>
          </a:prstGeom>
          <a:noFill/>
          <a:ln/>
        </p:spPr>
        <p:txBody>
          <a:bodyPr wrap="square" lIns="0" tIns="0" rIns="0" bIns="0" rtlCol="0" anchor="ctr"/>
          <a:lstStyle/>
          <a:p>
            <a:pPr rtl="1" algn="r" indent="0" marL="0">
              <a:buNone/>
            </a:pPr>
            <a:r>
              <a:rPr lang="ar-TN" altLang="en-US" sz="1250" dirty="0">
                <a:solidFill>
                  <a:schemeClr val="accent5"/>
                </a:solidFill>
              </a:rPr>
              <a:t>النظرة الإدارية</a:t>
            </a:r>
            <a:endParaRPr lang="ar-TN" sz="1400" dirty="0"/>
          </a:p>
          <a:p>
            <a:pPr rtl="1" algn="r" indent="0" marL="0">
              <a:buNone/>
            </a:pPr>
            <a:r>
              <a:rPr lang="ar-TN" altLang="en-US" sz="1550" b="1" dirty="0">
                <a:solidFill>
                  <a:schemeClr val="accent5"/>
                </a:solidFill>
              </a:rPr>
              <a:t>تونسي خالص</a:t>
            </a:r>
            <a:endParaRPr lang="ar-TN" sz="1400" dirty="0"/>
          </a:p>
        </p:txBody>
      </p:sp>
      <p:sp>
        <p:nvSpPr>
          <p:cNvPr id="13" name="card-160"/>
          <p:cNvSpPr/>
          <p:nvPr/>
        </p:nvSpPr>
        <p:spPr>
          <a:xfrm>
            <a:off x="5257800" y="3566160"/>
            <a:ext cx="3127248" cy="914400"/>
          </a:xfrm>
          <a:prstGeom prst="roundRect">
            <a:avLst>
              <a:gd name="adj" fmla="val 16000"/>
            </a:avLst>
          </a:prstGeom>
          <a:solidFill>
            <a:schemeClr val="bg1"/>
          </a:solidFill>
          <a:ln/>
          <a:effectLst>
            <a:outerShdw sx="100000" sy="100000" kx="0" ky="0" algn="bl" rotWithShape="0" blurRad="203200" dist="63500" dir="5400000">
              <a:srgbClr val="0F3D3E">
                <a:alpha val="13000"/>
              </a:srgbClr>
            </a:outerShdw>
          </a:effectLst>
        </p:spPr>
      </p:sp>
      <p:sp>
        <p:nvSpPr>
          <p:cNvPr id="14" name="text-161"/>
          <p:cNvSpPr txBox="1"/>
          <p:nvPr/>
        </p:nvSpPr>
        <p:spPr>
          <a:xfrm>
            <a:off x="5486400" y="3611880"/>
            <a:ext cx="2670048" cy="822960"/>
          </a:xfrm>
          <a:prstGeom prst="rect">
            <a:avLst/>
          </a:prstGeom>
          <a:noFill/>
          <a:ln/>
        </p:spPr>
        <p:txBody>
          <a:bodyPr wrap="square" lIns="0" tIns="0" rIns="0" bIns="0" rtlCol="0" anchor="ctr"/>
          <a:lstStyle/>
          <a:p>
            <a:pPr rtl="1" algn="r" indent="0" marL="0">
              <a:buNone/>
            </a:pPr>
            <a:r>
              <a:rPr lang="ar-TN" altLang="en-US" sz="1250" dirty="0">
                <a:solidFill>
                  <a:schemeClr val="accent5"/>
                </a:solidFill>
              </a:rPr>
              <a:t>النظرة الصرفية</a:t>
            </a:r>
            <a:endParaRPr lang="ar-TN" sz="1400" dirty="0"/>
          </a:p>
          <a:p>
            <a:pPr rtl="1" algn="r" indent="0" marL="0">
              <a:buNone/>
            </a:pPr>
            <a:r>
              <a:rPr lang="ar-TN" altLang="en-US" sz="1550" b="1" dirty="0">
                <a:solidFill>
                  <a:schemeClr val="accent1"/>
                </a:solidFill>
              </a:rPr>
              <a:t>غير مقيم («أجنبي صرفيًا»)</a:t>
            </a:r>
            <a:endParaRPr lang="ar-TN" sz="1400" dirty="0"/>
          </a:p>
        </p:txBody>
      </p:sp>
      <p:sp>
        <p:nvSpPr>
          <p:cNvPr id="15" name="card-162"/>
          <p:cNvSpPr/>
          <p:nvPr/>
        </p:nvSpPr>
        <p:spPr>
          <a:xfrm>
            <a:off x="5257800" y="4663440"/>
            <a:ext cx="6382512" cy="1417320"/>
          </a:xfrm>
          <a:prstGeom prst="roundRect">
            <a:avLst>
              <a:gd name="adj" fmla="val 10323"/>
            </a:avLst>
          </a:prstGeom>
          <a:solidFill>
            <a:schemeClr val="bg2"/>
          </a:solidFill>
          <a:ln w="12700">
            <a:solidFill>
              <a:srgbClr val="7FC8BE"/>
            </a:solidFill>
            <a:prstDash val="solid"/>
          </a:ln>
        </p:spPr>
      </p:sp>
      <p:sp>
        <p:nvSpPr>
          <p:cNvPr id="16" name="icon-bg-163"/>
          <p:cNvSpPr/>
          <p:nvPr/>
        </p:nvSpPr>
        <p:spPr>
          <a:xfrm>
            <a:off x="10863072" y="4864608"/>
            <a:ext cx="548640" cy="548640"/>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7" name="icon-164" descr="preencoded.png">    </p:cNvPr>
          <p:cNvPicPr>
            <a:picLocks noChangeAspect="1"/>
          </p:cNvPicPr>
          <p:nvPr/>
        </p:nvPicPr>
        <p:blipFill>
          <a:blip r:embed="rId2"/>
          <a:stretch>
            <a:fillRect/>
          </a:stretch>
        </p:blipFill>
        <p:spPr>
          <a:xfrm>
            <a:off x="11000232" y="5001768"/>
            <a:ext cx="274320" cy="274320"/>
          </a:xfrm>
          <a:prstGeom prst="rect">
            <a:avLst/>
          </a:prstGeom>
        </p:spPr>
      </p:pic>
      <p:sp>
        <p:nvSpPr>
          <p:cNvPr id="18" name="text-165"/>
          <p:cNvSpPr txBox="1"/>
          <p:nvPr/>
        </p:nvSpPr>
        <p:spPr>
          <a:xfrm>
            <a:off x="5486400" y="4828032"/>
            <a:ext cx="5349240" cy="1143000"/>
          </a:xfrm>
          <a:prstGeom prst="rect">
            <a:avLst/>
          </a:prstGeom>
          <a:noFill/>
          <a:ln/>
        </p:spPr>
        <p:txBody>
          <a:bodyPr wrap="square" lIns="0" tIns="0" rIns="0" bIns="0" rtlCol="0" anchor="t"/>
          <a:lstStyle/>
          <a:p>
            <a:pPr rtl="1" algn="r" indent="0" marL="0">
              <a:buNone/>
            </a:pPr>
            <a:r>
              <a:rPr lang="ar-TN" altLang="en-US" sz="1500" b="1" dirty="0">
                <a:solidFill>
                  <a:schemeClr val="accent1"/>
                </a:solidFill>
              </a:rPr>
              <a:t>النتيجة الأمنية / القانونية</a:t>
            </a:r>
            <a:endParaRPr lang="ar-TN" sz="1400" dirty="0"/>
          </a:p>
          <a:p>
            <a:pPr rtl="1" algn="r" indent="0" marL="0">
              <a:buNone/>
            </a:pPr>
            <a:r>
              <a:rPr lang="ar-TN" altLang="en-US" sz="1350" dirty="0">
                <a:solidFill>
                  <a:schemeClr val="tx1"/>
                </a:solidFill>
              </a:rPr>
              <a:t>يُسمح له بإدخال مبالغ غير محدودة من العملة (مع التصريح إذا فاقت السقف)، وبفتح حساب بالعملة الصعبة، ولا تُطبَّق عليه قيود المنحة السياحية: ماله جناه خارج الاقتصاد التونسي.</a:t>
            </a:r>
            <a:endParaRPr lang="ar-TN" sz="1400" dirty="0"/>
          </a:p>
        </p:txBody>
      </p:sp>
      <p:pic>
        <p:nvPicPr>
          <p:cNvPr id="19" name="3d-travel-166" descr="travel">    </p:cNvPr>
          <p:cNvPicPr>
            <a:picLocks noChangeAspect="1"/>
          </p:cNvPicPr>
          <p:nvPr/>
        </p:nvPicPr>
        <p:blipFill>
          <a:blip r:embed="rId3"/>
          <a:stretch>
            <a:fillRect/>
          </a:stretch>
        </p:blipFill>
        <p:spPr>
          <a:xfrm>
            <a:off x="640080" y="2501373"/>
            <a:ext cx="4206240" cy="3259347"/>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الأجنبي المقيم</a:t>
            </a:r>
            <a:endParaRPr lang="ar-TN" sz="3000" dirty="0"/>
          </a:p>
        </p:txBody>
      </p:sp>
      <p:sp>
        <p:nvSpPr>
          <p:cNvPr id="3" name="text-167"/>
          <p:cNvSpPr txBox="1"/>
          <p:nvPr/>
        </p:nvSpPr>
        <p:spPr>
          <a:xfrm>
            <a:off x="548640" y="1115568"/>
            <a:ext cx="11094415" cy="384048"/>
          </a:xfrm>
          <a:prstGeom prst="rect">
            <a:avLst/>
          </a:prstGeom>
          <a:noFill/>
          <a:ln/>
        </p:spPr>
        <p:txBody>
          <a:bodyPr wrap="square" lIns="0" tIns="0" rIns="0" bIns="0" rtlCol="0" anchor="t"/>
          <a:lstStyle/>
          <a:p>
            <a:pPr algn="r" indent="0" marL="0">
              <a:buNone/>
            </a:pPr>
            <a:r>
              <a:rPr lang="fr-FR" altLang="en-US" sz="1500" dirty="0">
                <a:solidFill>
                  <a:schemeClr val="accent5"/>
                </a:solidFill>
              </a:rPr>
              <a:t>L'Étranger Résident</a:t>
            </a:r>
            <a:endParaRPr lang="fr-FR" sz="1500" dirty="0"/>
          </a:p>
        </p:txBody>
      </p:sp>
      <p:sp>
        <p:nvSpPr>
          <p:cNvPr id="4" name="badge-168"/>
          <p:cNvSpPr/>
          <p:nvPr/>
        </p:nvSpPr>
        <p:spPr>
          <a:xfrm>
            <a:off x="11137392" y="1691640"/>
            <a:ext cx="502920" cy="502920"/>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5" name="badge-txt-169"/>
          <p:cNvSpPr txBox="1"/>
          <p:nvPr/>
        </p:nvSpPr>
        <p:spPr>
          <a:xfrm>
            <a:off x="11137392" y="1691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6" name="text-170"/>
          <p:cNvSpPr txBox="1"/>
          <p:nvPr/>
        </p:nvSpPr>
        <p:spPr>
          <a:xfrm>
            <a:off x="8229600" y="1691640"/>
            <a:ext cx="2788920" cy="502920"/>
          </a:xfrm>
          <a:prstGeom prst="rect">
            <a:avLst/>
          </a:prstGeom>
          <a:noFill/>
          <a:ln/>
        </p:spPr>
        <p:txBody>
          <a:bodyPr wrap="square" lIns="0" tIns="0" rIns="0" bIns="0" rtlCol="0" anchor="ctr"/>
          <a:lstStyle/>
          <a:p>
            <a:pPr rtl="1" algn="r" indent="0" marL="0">
              <a:buNone/>
            </a:pPr>
            <a:r>
              <a:rPr lang="ar-TN" altLang="en-US" sz="1500" b="1" dirty="0">
                <a:solidFill>
                  <a:schemeClr val="accent2"/>
                </a:solidFill>
              </a:rPr>
              <a:t>الحالة التطبيقية</a:t>
            </a:r>
            <a:endParaRPr lang="ar-TN" sz="1500" dirty="0"/>
          </a:p>
        </p:txBody>
      </p:sp>
      <p:sp>
        <p:nvSpPr>
          <p:cNvPr id="7" name="card-171"/>
          <p:cNvSpPr/>
          <p:nvPr/>
        </p:nvSpPr>
        <p:spPr>
          <a:xfrm>
            <a:off x="5257800" y="2331720"/>
            <a:ext cx="6382512" cy="1051560"/>
          </a:xfrm>
          <a:prstGeom prst="roundRect">
            <a:avLst>
              <a:gd name="adj" fmla="val 13913"/>
            </a:avLst>
          </a:prstGeom>
          <a:solidFill>
            <a:schemeClr val="bg1"/>
          </a:solidFill>
          <a:ln/>
          <a:effectLst>
            <a:outerShdw sx="100000" sy="100000" kx="0" ky="0" algn="bl" rotWithShape="0" blurRad="203200" dist="63500" dir="5400000">
              <a:srgbClr val="0F3D3E">
                <a:alpha val="13000"/>
              </a:srgbClr>
            </a:outerShdw>
          </a:effectLst>
        </p:spPr>
      </p:sp>
      <p:sp>
        <p:nvSpPr>
          <p:cNvPr id="8" name="icon-bg-172"/>
          <p:cNvSpPr/>
          <p:nvPr/>
        </p:nvSpPr>
        <p:spPr>
          <a:xfrm>
            <a:off x="10844784" y="2551176"/>
            <a:ext cx="566928" cy="56692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9" name="icon-173" descr="preencoded.png">    </p:cNvPr>
          <p:cNvPicPr>
            <a:picLocks noChangeAspect="1"/>
          </p:cNvPicPr>
          <p:nvPr/>
        </p:nvPicPr>
        <p:blipFill>
          <a:blip r:embed="rId1"/>
          <a:stretch>
            <a:fillRect/>
          </a:stretch>
        </p:blipFill>
        <p:spPr>
          <a:xfrm>
            <a:off x="10986516" y="2692908"/>
            <a:ext cx="283464" cy="283464"/>
          </a:xfrm>
          <a:prstGeom prst="rect">
            <a:avLst/>
          </a:prstGeom>
        </p:spPr>
      </p:pic>
      <p:sp>
        <p:nvSpPr>
          <p:cNvPr id="10" name="text-174"/>
          <p:cNvSpPr txBox="1"/>
          <p:nvPr/>
        </p:nvSpPr>
        <p:spPr>
          <a:xfrm>
            <a:off x="5486400" y="2532888"/>
            <a:ext cx="5129784" cy="68580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500" b="1" dirty="0">
                <a:solidFill>
                  <a:schemeClr val="tx1"/>
                </a:solidFill>
              </a:rPr>
              <a:t>الوضعية</a:t>
            </a:r>
            <a:endParaRPr lang="ar-TN" sz="1400" dirty="0"/>
          </a:p>
          <a:p>
            <a:pPr rtl="1" algn="r" indent="0" marL="0">
              <a:lnSpc>
                <a:spcPct val="105000"/>
              </a:lnSpc>
              <a:spcAft>
                <a:spcPts val="300"/>
              </a:spcAft>
              <a:buNone/>
            </a:pPr>
            <a:r>
              <a:rPr lang="ar-TN" altLang="en-US" sz="1350" dirty="0">
                <a:solidFill>
                  <a:schemeClr val="tx1"/>
                </a:solidFill>
              </a:rPr>
              <a:t>خبير فرنسي يعمل في شركة بتونس منذ 3 سنوات ويتقاضى أجره بالدينار التونسي.</a:t>
            </a:r>
            <a:endParaRPr lang="ar-TN" sz="1400" dirty="0"/>
          </a:p>
        </p:txBody>
      </p:sp>
      <p:sp>
        <p:nvSpPr>
          <p:cNvPr id="11" name="card-175"/>
          <p:cNvSpPr/>
          <p:nvPr/>
        </p:nvSpPr>
        <p:spPr>
          <a:xfrm>
            <a:off x="8513064" y="3566160"/>
            <a:ext cx="3127248" cy="914400"/>
          </a:xfrm>
          <a:prstGeom prst="roundRect">
            <a:avLst>
              <a:gd name="adj" fmla="val 16000"/>
            </a:avLst>
          </a:prstGeom>
          <a:solidFill>
            <a:schemeClr val="bg1"/>
          </a:solidFill>
          <a:ln/>
          <a:effectLst>
            <a:outerShdw sx="100000" sy="100000" kx="0" ky="0" algn="bl" rotWithShape="0" blurRad="203200" dist="63500" dir="5400000">
              <a:srgbClr val="0F3D3E">
                <a:alpha val="13000"/>
              </a:srgbClr>
            </a:outerShdw>
          </a:effectLst>
        </p:spPr>
      </p:sp>
      <p:sp>
        <p:nvSpPr>
          <p:cNvPr id="12" name="text-176"/>
          <p:cNvSpPr txBox="1"/>
          <p:nvPr/>
        </p:nvSpPr>
        <p:spPr>
          <a:xfrm>
            <a:off x="8741664" y="3611880"/>
            <a:ext cx="2670048" cy="822960"/>
          </a:xfrm>
          <a:prstGeom prst="rect">
            <a:avLst/>
          </a:prstGeom>
          <a:noFill/>
          <a:ln/>
        </p:spPr>
        <p:txBody>
          <a:bodyPr wrap="square" lIns="0" tIns="0" rIns="0" bIns="0" rtlCol="0" anchor="ctr"/>
          <a:lstStyle/>
          <a:p>
            <a:pPr rtl="1" algn="r" indent="0" marL="0">
              <a:buNone/>
            </a:pPr>
            <a:r>
              <a:rPr lang="ar-TN" altLang="en-US" sz="1250" dirty="0">
                <a:solidFill>
                  <a:schemeClr val="accent5"/>
                </a:solidFill>
              </a:rPr>
              <a:t>النظرة الإدارية</a:t>
            </a:r>
            <a:endParaRPr lang="ar-TN" sz="1400" dirty="0"/>
          </a:p>
          <a:p>
            <a:pPr rtl="1" algn="r" indent="0" marL="0">
              <a:buNone/>
            </a:pPr>
            <a:r>
              <a:rPr lang="ar-TN" altLang="en-US" sz="1550" b="1" dirty="0">
                <a:solidFill>
                  <a:schemeClr val="accent5"/>
                </a:solidFill>
              </a:rPr>
              <a:t>مواطن أجنبي</a:t>
            </a:r>
            <a:endParaRPr lang="ar-TN" sz="1400" dirty="0"/>
          </a:p>
        </p:txBody>
      </p:sp>
      <p:sp>
        <p:nvSpPr>
          <p:cNvPr id="13" name="card-177"/>
          <p:cNvSpPr/>
          <p:nvPr/>
        </p:nvSpPr>
        <p:spPr>
          <a:xfrm>
            <a:off x="5257800" y="3566160"/>
            <a:ext cx="3127248" cy="914400"/>
          </a:xfrm>
          <a:prstGeom prst="roundRect">
            <a:avLst>
              <a:gd name="adj" fmla="val 16000"/>
            </a:avLst>
          </a:prstGeom>
          <a:solidFill>
            <a:schemeClr val="bg1"/>
          </a:solidFill>
          <a:ln/>
          <a:effectLst>
            <a:outerShdw sx="100000" sy="100000" kx="0" ky="0" algn="bl" rotWithShape="0" blurRad="203200" dist="63500" dir="5400000">
              <a:srgbClr val="0F3D3E">
                <a:alpha val="13000"/>
              </a:srgbClr>
            </a:outerShdw>
          </a:effectLst>
        </p:spPr>
      </p:sp>
      <p:sp>
        <p:nvSpPr>
          <p:cNvPr id="14" name="text-178"/>
          <p:cNvSpPr txBox="1"/>
          <p:nvPr/>
        </p:nvSpPr>
        <p:spPr>
          <a:xfrm>
            <a:off x="5486400" y="3611880"/>
            <a:ext cx="2670048" cy="822960"/>
          </a:xfrm>
          <a:prstGeom prst="rect">
            <a:avLst/>
          </a:prstGeom>
          <a:noFill/>
          <a:ln/>
        </p:spPr>
        <p:txBody>
          <a:bodyPr wrap="square" lIns="0" tIns="0" rIns="0" bIns="0" rtlCol="0" anchor="ctr"/>
          <a:lstStyle/>
          <a:p>
            <a:pPr rtl="1" algn="r" indent="0" marL="0">
              <a:buNone/>
            </a:pPr>
            <a:r>
              <a:rPr lang="ar-TN" altLang="en-US" sz="1250" dirty="0">
                <a:solidFill>
                  <a:schemeClr val="accent5"/>
                </a:solidFill>
              </a:rPr>
              <a:t>النظرة الصرفية</a:t>
            </a:r>
            <a:endParaRPr lang="ar-TN" sz="1400" dirty="0"/>
          </a:p>
          <a:p>
            <a:pPr rtl="1" algn="r" indent="0" marL="0">
              <a:buNone/>
            </a:pPr>
            <a:r>
              <a:rPr lang="ar-TN" altLang="en-US" sz="1550" b="1" dirty="0">
                <a:solidFill>
                  <a:schemeClr val="accent1"/>
                </a:solidFill>
              </a:rPr>
              <a:t>مقيم (Résident) كأيّ تونسي</a:t>
            </a:r>
            <a:endParaRPr lang="ar-TN" sz="1400" dirty="0"/>
          </a:p>
        </p:txBody>
      </p:sp>
      <p:sp>
        <p:nvSpPr>
          <p:cNvPr id="15" name="card-179"/>
          <p:cNvSpPr/>
          <p:nvPr/>
        </p:nvSpPr>
        <p:spPr>
          <a:xfrm>
            <a:off x="5257800" y="4663440"/>
            <a:ext cx="6382512" cy="1417320"/>
          </a:xfrm>
          <a:prstGeom prst="roundRect">
            <a:avLst>
              <a:gd name="adj" fmla="val 10323"/>
            </a:avLst>
          </a:prstGeom>
          <a:solidFill>
            <a:schemeClr val="bg2"/>
          </a:solidFill>
          <a:ln w="12700">
            <a:solidFill>
              <a:srgbClr val="7FC8BE"/>
            </a:solidFill>
            <a:prstDash val="solid"/>
          </a:ln>
        </p:spPr>
      </p:sp>
      <p:sp>
        <p:nvSpPr>
          <p:cNvPr id="16" name="icon-bg-180"/>
          <p:cNvSpPr/>
          <p:nvPr/>
        </p:nvSpPr>
        <p:spPr>
          <a:xfrm>
            <a:off x="10863072" y="4864608"/>
            <a:ext cx="548640" cy="548640"/>
          </a:xfrm>
          <a:prstGeom prst="ellipse">
            <a:avLst/>
          </a:prstGeom>
          <a:solidFill>
            <a:schemeClr val="accent4"/>
          </a:solidFill>
          <a:ln/>
          <a:effectLst>
            <a:outerShdw sx="100000" sy="100000" kx="0" ky="0" algn="bl" rotWithShape="0" blurRad="127000" dist="38100" dir="5400000">
              <a:srgbClr val="0F3D3E">
                <a:alpha val="10000"/>
              </a:srgbClr>
            </a:outerShdw>
          </a:effectLst>
        </p:spPr>
      </p:sp>
      <p:pic>
        <p:nvPicPr>
          <p:cNvPr id="17" name="icon-181" descr="preencoded.png">    </p:cNvPr>
          <p:cNvPicPr>
            <a:picLocks noChangeAspect="1"/>
          </p:cNvPicPr>
          <p:nvPr/>
        </p:nvPicPr>
        <p:blipFill>
          <a:blip r:embed="rId2"/>
          <a:stretch>
            <a:fillRect/>
          </a:stretch>
        </p:blipFill>
        <p:spPr>
          <a:xfrm>
            <a:off x="11000232" y="5001768"/>
            <a:ext cx="274320" cy="274320"/>
          </a:xfrm>
          <a:prstGeom prst="rect">
            <a:avLst/>
          </a:prstGeom>
        </p:spPr>
      </p:pic>
      <p:sp>
        <p:nvSpPr>
          <p:cNvPr id="18" name="text-182"/>
          <p:cNvSpPr txBox="1"/>
          <p:nvPr/>
        </p:nvSpPr>
        <p:spPr>
          <a:xfrm>
            <a:off x="5486400" y="4828032"/>
            <a:ext cx="5349240" cy="1143000"/>
          </a:xfrm>
          <a:prstGeom prst="rect">
            <a:avLst/>
          </a:prstGeom>
          <a:noFill/>
          <a:ln/>
        </p:spPr>
        <p:txBody>
          <a:bodyPr wrap="square" lIns="0" tIns="0" rIns="0" bIns="0" rtlCol="0" anchor="t"/>
          <a:lstStyle/>
          <a:p>
            <a:pPr rtl="1" algn="r" indent="0" marL="0">
              <a:buNone/>
            </a:pPr>
            <a:r>
              <a:rPr lang="ar-TN" altLang="en-US" sz="1500" b="1" dirty="0">
                <a:solidFill>
                  <a:schemeClr val="accent4"/>
                </a:solidFill>
              </a:rPr>
              <a:t>النتيجة الأمنية / القانونية</a:t>
            </a:r>
            <a:endParaRPr lang="ar-TN" sz="1400" dirty="0"/>
          </a:p>
          <a:p>
            <a:pPr rtl="1" algn="r" indent="0" marL="0">
              <a:buNone/>
            </a:pPr>
            <a:r>
              <a:rPr lang="ar-TN" altLang="en-US" sz="1350" dirty="0">
                <a:solidFill>
                  <a:schemeClr val="tx1"/>
                </a:solidFill>
              </a:rPr>
              <a:t>يُمنع عليه مسك العملة دون مبرّر، وتحويل أمواله إلا في حدود تراتيب البنك المركزي (جزء من راتبه). إذا ضُبط في المطار يحاول إخراج 10 آلاف يورو غير مصرَّح بها، يُعامَل بصرامة تامّة كالمواطن التونسي.</a:t>
            </a:r>
            <a:endParaRPr lang="ar-TN" sz="1400" dirty="0"/>
          </a:p>
        </p:txBody>
      </p:sp>
      <p:pic>
        <p:nvPicPr>
          <p:cNvPr id="19" name="3d-salary-183" descr="salary">    </p:cNvPr>
          <p:cNvPicPr>
            <a:picLocks noChangeAspect="1"/>
          </p:cNvPicPr>
          <p:nvPr/>
        </p:nvPicPr>
        <p:blipFill>
          <a:blip r:embed="rId3"/>
          <a:stretch>
            <a:fillRect/>
          </a:stretch>
        </p:blipFill>
        <p:spPr>
          <a:xfrm>
            <a:off x="640080" y="3551687"/>
            <a:ext cx="4206240" cy="2209033"/>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تغيّر الصفة الصرفية</a:t>
            </a:r>
            <a:endParaRPr lang="ar-TN" sz="3000" dirty="0"/>
          </a:p>
        </p:txBody>
      </p:sp>
      <p:sp>
        <p:nvSpPr>
          <p:cNvPr id="3" name="text-184"/>
          <p:cNvSpPr txBox="1"/>
          <p:nvPr/>
        </p:nvSpPr>
        <p:spPr>
          <a:xfrm>
            <a:off x="548640" y="1115568"/>
            <a:ext cx="11094415" cy="384048"/>
          </a:xfrm>
          <a:prstGeom prst="rect">
            <a:avLst/>
          </a:prstGeom>
          <a:noFill/>
          <a:ln/>
        </p:spPr>
        <p:txBody>
          <a:bodyPr wrap="square" lIns="0" tIns="0" rIns="0" bIns="0" rtlCol="0" anchor="t"/>
          <a:lstStyle/>
          <a:p>
            <a:pPr algn="r" indent="0" marL="0">
              <a:buNone/>
            </a:pPr>
            <a:r>
              <a:rPr lang="fr-FR" altLang="en-US" sz="1500" dirty="0">
                <a:solidFill>
                  <a:schemeClr val="accent5"/>
                </a:solidFill>
              </a:rPr>
              <a:t>Changement de statut</a:t>
            </a:r>
            <a:endParaRPr lang="fr-FR" sz="1500" dirty="0"/>
          </a:p>
        </p:txBody>
      </p:sp>
      <p:sp>
        <p:nvSpPr>
          <p:cNvPr id="4" name="badge-185"/>
          <p:cNvSpPr/>
          <p:nvPr/>
        </p:nvSpPr>
        <p:spPr>
          <a:xfrm>
            <a:off x="11137392" y="1691640"/>
            <a:ext cx="502920" cy="502920"/>
          </a:xfrm>
          <a:prstGeom prst="ellipse">
            <a:avLst/>
          </a:prstGeom>
          <a:solidFill>
            <a:schemeClr val="accent2"/>
          </a:solidFill>
          <a:ln/>
          <a:effectLst>
            <a:outerShdw sx="100000" sy="100000" kx="0" ky="0" algn="bl" rotWithShape="0" blurRad="127000" dist="38100" dir="5400000">
              <a:srgbClr val="0F3D3E">
                <a:alpha val="10000"/>
              </a:srgbClr>
            </a:outerShdw>
          </a:effectLst>
        </p:spPr>
      </p:sp>
      <p:sp>
        <p:nvSpPr>
          <p:cNvPr id="5" name="badge-txt-186"/>
          <p:cNvSpPr txBox="1"/>
          <p:nvPr/>
        </p:nvSpPr>
        <p:spPr>
          <a:xfrm>
            <a:off x="11137392" y="1691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6" name="text-187"/>
          <p:cNvSpPr txBox="1"/>
          <p:nvPr/>
        </p:nvSpPr>
        <p:spPr>
          <a:xfrm>
            <a:off x="8229600" y="1691640"/>
            <a:ext cx="2788920" cy="502920"/>
          </a:xfrm>
          <a:prstGeom prst="rect">
            <a:avLst/>
          </a:prstGeom>
          <a:noFill/>
          <a:ln/>
        </p:spPr>
        <p:txBody>
          <a:bodyPr wrap="square" lIns="0" tIns="0" rIns="0" bIns="0" rtlCol="0" anchor="ctr"/>
          <a:lstStyle/>
          <a:p>
            <a:pPr rtl="1" algn="r" indent="0" marL="0">
              <a:buNone/>
            </a:pPr>
            <a:r>
              <a:rPr lang="ar-TN" altLang="en-US" sz="1500" b="1" dirty="0">
                <a:solidFill>
                  <a:schemeClr val="accent2"/>
                </a:solidFill>
              </a:rPr>
              <a:t>الحالة التطبيقية</a:t>
            </a:r>
            <a:endParaRPr lang="ar-TN" sz="1500" dirty="0"/>
          </a:p>
        </p:txBody>
      </p:sp>
      <p:sp>
        <p:nvSpPr>
          <p:cNvPr id="7" name="card-188"/>
          <p:cNvSpPr/>
          <p:nvPr/>
        </p:nvSpPr>
        <p:spPr>
          <a:xfrm>
            <a:off x="5257800" y="2331720"/>
            <a:ext cx="6382512" cy="1051560"/>
          </a:xfrm>
          <a:prstGeom prst="roundRect">
            <a:avLst>
              <a:gd name="adj" fmla="val 13913"/>
            </a:avLst>
          </a:prstGeom>
          <a:solidFill>
            <a:schemeClr val="bg1"/>
          </a:solidFill>
          <a:ln/>
          <a:effectLst>
            <a:outerShdw sx="100000" sy="100000" kx="0" ky="0" algn="bl" rotWithShape="0" blurRad="203200" dist="63500" dir="5400000">
              <a:srgbClr val="0F3D3E">
                <a:alpha val="13000"/>
              </a:srgbClr>
            </a:outerShdw>
          </a:effectLst>
        </p:spPr>
      </p:sp>
      <p:sp>
        <p:nvSpPr>
          <p:cNvPr id="8" name="icon-bg-189"/>
          <p:cNvSpPr/>
          <p:nvPr/>
        </p:nvSpPr>
        <p:spPr>
          <a:xfrm>
            <a:off x="10844784" y="2551176"/>
            <a:ext cx="566928" cy="56692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9" name="icon-190" descr="preencoded.png">    </p:cNvPr>
          <p:cNvPicPr>
            <a:picLocks noChangeAspect="1"/>
          </p:cNvPicPr>
          <p:nvPr/>
        </p:nvPicPr>
        <p:blipFill>
          <a:blip r:embed="rId1"/>
          <a:stretch>
            <a:fillRect/>
          </a:stretch>
        </p:blipFill>
        <p:spPr>
          <a:xfrm>
            <a:off x="10986516" y="2692908"/>
            <a:ext cx="283464" cy="283464"/>
          </a:xfrm>
          <a:prstGeom prst="rect">
            <a:avLst/>
          </a:prstGeom>
        </p:spPr>
      </p:pic>
      <p:sp>
        <p:nvSpPr>
          <p:cNvPr id="10" name="text-191"/>
          <p:cNvSpPr txBox="1"/>
          <p:nvPr/>
        </p:nvSpPr>
        <p:spPr>
          <a:xfrm>
            <a:off x="5486400" y="2532888"/>
            <a:ext cx="5129784" cy="68580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500" b="1" dirty="0">
                <a:solidFill>
                  <a:schemeClr val="tx1"/>
                </a:solidFill>
              </a:rPr>
              <a:t>الوضعية</a:t>
            </a:r>
            <a:endParaRPr lang="ar-TN" sz="1400" dirty="0"/>
          </a:p>
          <a:p>
            <a:pPr rtl="1" algn="r" indent="0" marL="0">
              <a:lnSpc>
                <a:spcPct val="105000"/>
              </a:lnSpc>
              <a:spcAft>
                <a:spcPts val="300"/>
              </a:spcAft>
              <a:buNone/>
            </a:pPr>
            <a:r>
              <a:rPr lang="ar-TN" altLang="en-US" sz="1350" dirty="0">
                <a:solidFill>
                  <a:schemeClr val="tx1"/>
                </a:solidFill>
              </a:rPr>
              <a:t>مواطن تونسي كان يعمل في إيطاليا (غير مقيم) وعاد للاستقرار نهائيًا في تونس (Retour définitif).</a:t>
            </a:r>
            <a:endParaRPr lang="ar-TN" sz="1400" dirty="0"/>
          </a:p>
        </p:txBody>
      </p:sp>
      <p:sp>
        <p:nvSpPr>
          <p:cNvPr id="11" name="card-192"/>
          <p:cNvSpPr/>
          <p:nvPr/>
        </p:nvSpPr>
        <p:spPr>
          <a:xfrm>
            <a:off x="5257800" y="3566160"/>
            <a:ext cx="6382512" cy="1920240"/>
          </a:xfrm>
          <a:prstGeom prst="roundRect">
            <a:avLst>
              <a:gd name="adj" fmla="val 7619"/>
            </a:avLst>
          </a:prstGeom>
          <a:solidFill>
            <a:schemeClr val="bg2"/>
          </a:solidFill>
          <a:ln w="12700">
            <a:solidFill>
              <a:srgbClr val="7FC8BE"/>
            </a:solidFill>
            <a:prstDash val="solid"/>
          </a:ln>
        </p:spPr>
      </p:sp>
      <p:sp>
        <p:nvSpPr>
          <p:cNvPr id="12" name="icon-bg-193"/>
          <p:cNvSpPr/>
          <p:nvPr/>
        </p:nvSpPr>
        <p:spPr>
          <a:xfrm>
            <a:off x="10863072" y="3767328"/>
            <a:ext cx="548640" cy="548640"/>
          </a:xfrm>
          <a:prstGeom prst="ellipse">
            <a:avLst/>
          </a:prstGeom>
          <a:solidFill>
            <a:schemeClr val="accent2"/>
          </a:solidFill>
          <a:ln/>
          <a:effectLst>
            <a:outerShdw sx="100000" sy="100000" kx="0" ky="0" algn="bl" rotWithShape="0" blurRad="127000" dist="38100" dir="5400000">
              <a:srgbClr val="0F3D3E">
                <a:alpha val="10000"/>
              </a:srgbClr>
            </a:outerShdw>
          </a:effectLst>
        </p:spPr>
      </p:sp>
      <p:pic>
        <p:nvPicPr>
          <p:cNvPr id="13" name="icon-194" descr="preencoded.png">    </p:cNvPr>
          <p:cNvPicPr>
            <a:picLocks noChangeAspect="1"/>
          </p:cNvPicPr>
          <p:nvPr/>
        </p:nvPicPr>
        <p:blipFill>
          <a:blip r:embed="rId2"/>
          <a:stretch>
            <a:fillRect/>
          </a:stretch>
        </p:blipFill>
        <p:spPr>
          <a:xfrm>
            <a:off x="11000232" y="3904488"/>
            <a:ext cx="274320" cy="274320"/>
          </a:xfrm>
          <a:prstGeom prst="rect">
            <a:avLst/>
          </a:prstGeom>
        </p:spPr>
      </p:pic>
      <p:sp>
        <p:nvSpPr>
          <p:cNvPr id="14" name="text-195"/>
          <p:cNvSpPr txBox="1"/>
          <p:nvPr/>
        </p:nvSpPr>
        <p:spPr>
          <a:xfrm>
            <a:off x="5486400" y="3730752"/>
            <a:ext cx="5349240" cy="1645920"/>
          </a:xfrm>
          <a:prstGeom prst="rect">
            <a:avLst/>
          </a:prstGeom>
          <a:noFill/>
          <a:ln/>
        </p:spPr>
        <p:txBody>
          <a:bodyPr wrap="square" lIns="0" tIns="0" rIns="0" bIns="0" rtlCol="0" anchor="t"/>
          <a:lstStyle/>
          <a:p>
            <a:pPr rtl="1" algn="r" indent="0" marL="0">
              <a:buNone/>
            </a:pPr>
            <a:r>
              <a:rPr lang="ar-TN" altLang="en-US" sz="1500" b="1" dirty="0">
                <a:solidFill>
                  <a:schemeClr val="accent2"/>
                </a:solidFill>
              </a:rPr>
              <a:t>النتيجة الأمنية / القانونية</a:t>
            </a:r>
            <a:endParaRPr lang="ar-TN" sz="1400" dirty="0"/>
          </a:p>
          <a:p>
            <a:pPr rtl="1" algn="r" indent="0" marL="0">
              <a:buNone/>
            </a:pPr>
            <a:r>
              <a:rPr lang="ar-TN" altLang="en-US" sz="1350" dirty="0">
                <a:solidFill>
                  <a:schemeClr val="tx1"/>
                </a:solidFill>
              </a:rPr>
              <a:t>بمجرّد استقراره في تونس (عادةً بعد تجاوز مدّة معيّنة من التواجد المستمر دون عقد عمل بالخارج) يصبح «مقيمًا» وخاضعًا لقانون المنع. يُطالَب بتحويل ما تبقّى له من عملة إلى الدينار أو إيداعها في حساب خاص، ولا يحقّ له بعد ذلك التصرّف فيها بحرية مطلقة.</a:t>
            </a:r>
            <a:endParaRPr lang="ar-TN" sz="1400" dirty="0"/>
          </a:p>
        </p:txBody>
      </p:sp>
      <p:pic>
        <p:nvPicPr>
          <p:cNvPr id="15" name="3d-house-196" descr="house">    </p:cNvPr>
          <p:cNvPicPr>
            <a:picLocks noChangeAspect="1"/>
          </p:cNvPicPr>
          <p:nvPr/>
        </p:nvPicPr>
        <p:blipFill>
          <a:blip r:embed="rId3"/>
          <a:stretch>
            <a:fillRect/>
          </a:stretch>
        </p:blipFill>
        <p:spPr>
          <a:xfrm>
            <a:off x="640080" y="2111450"/>
            <a:ext cx="4206240" cy="3649270"/>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التبعات العملياتية بالنسبة لرجل الأمن</a:t>
            </a:r>
            <a:endParaRPr lang="ar-TN" sz="3000" dirty="0"/>
          </a:p>
        </p:txBody>
      </p:sp>
      <p:sp>
        <p:nvSpPr>
          <p:cNvPr id="3" name="card-197"/>
          <p:cNvSpPr/>
          <p:nvPr/>
        </p:nvSpPr>
        <p:spPr>
          <a:xfrm>
            <a:off x="5257800" y="1463040"/>
            <a:ext cx="6382512" cy="1188720"/>
          </a:xfrm>
          <a:prstGeom prst="roundRect">
            <a:avLst>
              <a:gd name="adj" fmla="val 12308"/>
            </a:avLst>
          </a:prstGeom>
          <a:solidFill>
            <a:schemeClr val="accent1"/>
          </a:solidFill>
          <a:ln/>
          <a:effectLst>
            <a:outerShdw sx="100000" sy="100000" kx="0" ky="0" algn="bl" rotWithShape="0" blurRad="203200" dist="63500" dir="5400000">
              <a:srgbClr val="0F3D3E">
                <a:alpha val="13000"/>
              </a:srgbClr>
            </a:outerShdw>
          </a:effectLst>
        </p:spPr>
      </p:sp>
      <p:sp>
        <p:nvSpPr>
          <p:cNvPr id="4" name="text-198"/>
          <p:cNvSpPr txBox="1"/>
          <p:nvPr/>
        </p:nvSpPr>
        <p:spPr>
          <a:xfrm>
            <a:off x="5486400" y="1463040"/>
            <a:ext cx="5925312" cy="1188720"/>
          </a:xfrm>
          <a:prstGeom prst="rect">
            <a:avLst/>
          </a:prstGeom>
          <a:noFill/>
          <a:ln/>
        </p:spPr>
        <p:txBody>
          <a:bodyPr wrap="square" lIns="0" tIns="0" rIns="0" bIns="0" rtlCol="0" anchor="ctr"/>
          <a:lstStyle/>
          <a:p>
            <a:pPr rtl="1" algn="ctr" indent="0" marL="0">
              <a:buNone/>
            </a:pPr>
            <a:r>
              <a:rPr lang="ar-TN" altLang="en-US" sz="2200" b="1" dirty="0">
                <a:solidFill>
                  <a:schemeClr val="bg1"/>
                </a:solidFill>
              </a:rPr>
              <a:t>«بطاقة التعريف لا تكفي لتحديد الجريمة الصرفية»</a:t>
            </a:r>
            <a:endParaRPr lang="ar-TN" sz="2200" dirty="0"/>
          </a:p>
        </p:txBody>
      </p:sp>
      <p:sp>
        <p:nvSpPr>
          <p:cNvPr id="5" name="text-199"/>
          <p:cNvSpPr txBox="1"/>
          <p:nvPr/>
        </p:nvSpPr>
        <p:spPr>
          <a:xfrm>
            <a:off x="5257800" y="2834640"/>
            <a:ext cx="6382512" cy="731520"/>
          </a:xfrm>
          <a:prstGeom prst="rect">
            <a:avLst/>
          </a:prstGeom>
          <a:noFill/>
          <a:ln/>
        </p:spPr>
        <p:txBody>
          <a:bodyPr wrap="square" lIns="0" tIns="0" rIns="0" bIns="0" rtlCol="0" anchor="t"/>
          <a:lstStyle/>
          <a:p>
            <a:pPr rtl="1" algn="r" indent="0" marL="0">
              <a:buNone/>
            </a:pPr>
            <a:r>
              <a:rPr lang="ar-TN" altLang="en-US" sz="1450" dirty="0">
                <a:solidFill>
                  <a:schemeClr val="tx1"/>
                </a:solidFill>
              </a:rPr>
              <a:t>قاعدة ذهبية لشرطة الحدود وفرق الأبحاث والتفتيش وشرطة النجدة. عند إيقاف شخص بحوزته عملة صعبة، يطلب الباحث:</a:t>
            </a:r>
            <a:endParaRPr lang="ar-TN" sz="1450" dirty="0"/>
          </a:p>
        </p:txBody>
      </p:sp>
      <p:sp>
        <p:nvSpPr>
          <p:cNvPr id="6" name="card-200"/>
          <p:cNvSpPr/>
          <p:nvPr/>
        </p:nvSpPr>
        <p:spPr>
          <a:xfrm>
            <a:off x="8513064" y="3703320"/>
            <a:ext cx="3127248" cy="1097280"/>
          </a:xfrm>
          <a:prstGeom prst="roundRect">
            <a:avLst>
              <a:gd name="adj" fmla="val 13333"/>
            </a:avLst>
          </a:prstGeom>
          <a:solidFill>
            <a:schemeClr val="bg1"/>
          </a:solidFill>
          <a:ln/>
          <a:effectLst>
            <a:outerShdw sx="100000" sy="100000" kx="0" ky="0" algn="bl" rotWithShape="0" blurRad="203200" dist="63500" dir="5400000">
              <a:srgbClr val="0F3D3E">
                <a:alpha val="13000"/>
              </a:srgbClr>
            </a:outerShdw>
          </a:effectLst>
        </p:spPr>
      </p:sp>
      <p:sp>
        <p:nvSpPr>
          <p:cNvPr id="7" name="icon-bg-201"/>
          <p:cNvSpPr/>
          <p:nvPr/>
        </p:nvSpPr>
        <p:spPr>
          <a:xfrm>
            <a:off x="10936224" y="3922776"/>
            <a:ext cx="475488" cy="47548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8" name="icon-202" descr="preencoded.png">    </p:cNvPr>
          <p:cNvPicPr>
            <a:picLocks noChangeAspect="1"/>
          </p:cNvPicPr>
          <p:nvPr/>
        </p:nvPicPr>
        <p:blipFill>
          <a:blip r:embed="rId1"/>
          <a:stretch>
            <a:fillRect/>
          </a:stretch>
        </p:blipFill>
        <p:spPr>
          <a:xfrm>
            <a:off x="11055096" y="4041648"/>
            <a:ext cx="237744" cy="237744"/>
          </a:xfrm>
          <a:prstGeom prst="rect">
            <a:avLst/>
          </a:prstGeom>
        </p:spPr>
      </p:pic>
      <p:sp>
        <p:nvSpPr>
          <p:cNvPr id="9" name="text-203"/>
          <p:cNvSpPr txBox="1"/>
          <p:nvPr/>
        </p:nvSpPr>
        <p:spPr>
          <a:xfrm>
            <a:off x="8741664" y="3904488"/>
            <a:ext cx="1965960" cy="73152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450" b="1" dirty="0">
                <a:solidFill>
                  <a:schemeClr val="tx1"/>
                </a:solidFill>
              </a:rPr>
              <a:t>جواز السفر</a:t>
            </a:r>
            <a:endParaRPr lang="ar-TN" sz="1400" dirty="0"/>
          </a:p>
          <a:p>
            <a:pPr rtl="1" algn="r" indent="0" marL="0">
              <a:lnSpc>
                <a:spcPct val="105000"/>
              </a:lnSpc>
              <a:spcAft>
                <a:spcPts val="300"/>
              </a:spcAft>
              <a:buNone/>
            </a:pPr>
            <a:r>
              <a:rPr lang="ar-TN" altLang="en-US" sz="1250" dirty="0">
                <a:solidFill>
                  <a:schemeClr val="tx1"/>
                </a:solidFill>
              </a:rPr>
              <a:t>أختام الدخول والخروج</a:t>
            </a:r>
            <a:endParaRPr lang="ar-TN" sz="1400" dirty="0"/>
          </a:p>
        </p:txBody>
      </p:sp>
      <p:sp>
        <p:nvSpPr>
          <p:cNvPr id="10" name="card-204"/>
          <p:cNvSpPr/>
          <p:nvPr/>
        </p:nvSpPr>
        <p:spPr>
          <a:xfrm>
            <a:off x="5257800" y="3703320"/>
            <a:ext cx="3127248" cy="1097280"/>
          </a:xfrm>
          <a:prstGeom prst="roundRect">
            <a:avLst>
              <a:gd name="adj" fmla="val 13333"/>
            </a:avLst>
          </a:prstGeom>
          <a:solidFill>
            <a:schemeClr val="bg1"/>
          </a:solidFill>
          <a:ln/>
          <a:effectLst>
            <a:outerShdw sx="100000" sy="100000" kx="0" ky="0" algn="bl" rotWithShape="0" blurRad="203200" dist="63500" dir="5400000">
              <a:srgbClr val="0F3D3E">
                <a:alpha val="13000"/>
              </a:srgbClr>
            </a:outerShdw>
          </a:effectLst>
        </p:spPr>
      </p:sp>
      <p:sp>
        <p:nvSpPr>
          <p:cNvPr id="11" name="icon-bg-205"/>
          <p:cNvSpPr/>
          <p:nvPr/>
        </p:nvSpPr>
        <p:spPr>
          <a:xfrm>
            <a:off x="7680960" y="3922776"/>
            <a:ext cx="475488" cy="47548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2" name="icon-206" descr="preencoded.png">    </p:cNvPr>
          <p:cNvPicPr>
            <a:picLocks noChangeAspect="1"/>
          </p:cNvPicPr>
          <p:nvPr/>
        </p:nvPicPr>
        <p:blipFill>
          <a:blip r:embed="rId2"/>
          <a:stretch>
            <a:fillRect/>
          </a:stretch>
        </p:blipFill>
        <p:spPr>
          <a:xfrm>
            <a:off x="7799832" y="4041648"/>
            <a:ext cx="237744" cy="237744"/>
          </a:xfrm>
          <a:prstGeom prst="rect">
            <a:avLst/>
          </a:prstGeom>
        </p:spPr>
      </p:pic>
      <p:sp>
        <p:nvSpPr>
          <p:cNvPr id="13" name="text-207"/>
          <p:cNvSpPr txBox="1"/>
          <p:nvPr/>
        </p:nvSpPr>
        <p:spPr>
          <a:xfrm>
            <a:off x="5486400" y="3904488"/>
            <a:ext cx="1965960" cy="73152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450" b="1" dirty="0">
                <a:solidFill>
                  <a:schemeClr val="tx1"/>
                </a:solidFill>
              </a:rPr>
              <a:t>بطاقة إقامة بالخارج</a:t>
            </a:r>
            <a:endParaRPr lang="ar-TN" sz="1400" dirty="0"/>
          </a:p>
        </p:txBody>
      </p:sp>
      <p:sp>
        <p:nvSpPr>
          <p:cNvPr id="14" name="card-208"/>
          <p:cNvSpPr/>
          <p:nvPr/>
        </p:nvSpPr>
        <p:spPr>
          <a:xfrm>
            <a:off x="8513064" y="4937760"/>
            <a:ext cx="3127248" cy="1097280"/>
          </a:xfrm>
          <a:prstGeom prst="roundRect">
            <a:avLst>
              <a:gd name="adj" fmla="val 13333"/>
            </a:avLst>
          </a:prstGeom>
          <a:solidFill>
            <a:schemeClr val="bg1"/>
          </a:solidFill>
          <a:ln/>
          <a:effectLst>
            <a:outerShdw sx="100000" sy="100000" kx="0" ky="0" algn="bl" rotWithShape="0" blurRad="203200" dist="63500" dir="5400000">
              <a:srgbClr val="0F3D3E">
                <a:alpha val="13000"/>
              </a:srgbClr>
            </a:outerShdw>
          </a:effectLst>
        </p:spPr>
      </p:sp>
      <p:sp>
        <p:nvSpPr>
          <p:cNvPr id="15" name="icon-bg-209"/>
          <p:cNvSpPr/>
          <p:nvPr/>
        </p:nvSpPr>
        <p:spPr>
          <a:xfrm>
            <a:off x="10936224" y="5157216"/>
            <a:ext cx="475488" cy="47548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6" name="icon-210" descr="preencoded.png">    </p:cNvPr>
          <p:cNvPicPr>
            <a:picLocks noChangeAspect="1"/>
          </p:cNvPicPr>
          <p:nvPr/>
        </p:nvPicPr>
        <p:blipFill>
          <a:blip r:embed="rId3"/>
          <a:stretch>
            <a:fillRect/>
          </a:stretch>
        </p:blipFill>
        <p:spPr>
          <a:xfrm>
            <a:off x="11055096" y="5276088"/>
            <a:ext cx="237744" cy="237744"/>
          </a:xfrm>
          <a:prstGeom prst="rect">
            <a:avLst/>
          </a:prstGeom>
        </p:spPr>
      </p:pic>
      <p:sp>
        <p:nvSpPr>
          <p:cNvPr id="17" name="text-211"/>
          <p:cNvSpPr txBox="1"/>
          <p:nvPr/>
        </p:nvSpPr>
        <p:spPr>
          <a:xfrm>
            <a:off x="8741664" y="5138928"/>
            <a:ext cx="1965960" cy="73152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450" b="1" dirty="0">
                <a:solidFill>
                  <a:schemeClr val="tx1"/>
                </a:solidFill>
              </a:rPr>
              <a:t>بطاقة تسجيل قنصلي</a:t>
            </a:r>
            <a:endParaRPr lang="ar-TN" sz="1400" dirty="0"/>
          </a:p>
        </p:txBody>
      </p:sp>
      <p:sp>
        <p:nvSpPr>
          <p:cNvPr id="18" name="card-212"/>
          <p:cNvSpPr/>
          <p:nvPr/>
        </p:nvSpPr>
        <p:spPr>
          <a:xfrm>
            <a:off x="5257800" y="4937760"/>
            <a:ext cx="3127248" cy="1097280"/>
          </a:xfrm>
          <a:prstGeom prst="roundRect">
            <a:avLst>
              <a:gd name="adj" fmla="val 13333"/>
            </a:avLst>
          </a:prstGeom>
          <a:solidFill>
            <a:schemeClr val="bg1"/>
          </a:solidFill>
          <a:ln/>
          <a:effectLst>
            <a:outerShdw sx="100000" sy="100000" kx="0" ky="0" algn="bl" rotWithShape="0" blurRad="203200" dist="63500" dir="5400000">
              <a:srgbClr val="0F3D3E">
                <a:alpha val="13000"/>
              </a:srgbClr>
            </a:outerShdw>
          </a:effectLst>
        </p:spPr>
      </p:sp>
      <p:sp>
        <p:nvSpPr>
          <p:cNvPr id="19" name="icon-bg-213"/>
          <p:cNvSpPr/>
          <p:nvPr/>
        </p:nvSpPr>
        <p:spPr>
          <a:xfrm>
            <a:off x="7680960" y="5157216"/>
            <a:ext cx="475488" cy="47548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20" name="icon-214" descr="preencoded.png">    </p:cNvPr>
          <p:cNvPicPr>
            <a:picLocks noChangeAspect="1"/>
          </p:cNvPicPr>
          <p:nvPr/>
        </p:nvPicPr>
        <p:blipFill>
          <a:blip r:embed="rId4"/>
          <a:stretch>
            <a:fillRect/>
          </a:stretch>
        </p:blipFill>
        <p:spPr>
          <a:xfrm>
            <a:off x="7799832" y="5276088"/>
            <a:ext cx="237744" cy="237744"/>
          </a:xfrm>
          <a:prstGeom prst="rect">
            <a:avLst/>
          </a:prstGeom>
        </p:spPr>
      </p:pic>
      <p:sp>
        <p:nvSpPr>
          <p:cNvPr id="21" name="text-215"/>
          <p:cNvSpPr txBox="1"/>
          <p:nvPr/>
        </p:nvSpPr>
        <p:spPr>
          <a:xfrm>
            <a:off x="5486400" y="5138928"/>
            <a:ext cx="1965960" cy="73152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450" b="1" dirty="0">
                <a:solidFill>
                  <a:schemeClr val="tx1"/>
                </a:solidFill>
              </a:rPr>
              <a:t>عقد عمل بالخارج</a:t>
            </a:r>
            <a:endParaRPr lang="ar-TN" sz="1400" dirty="0"/>
          </a:p>
        </p:txBody>
      </p:sp>
      <p:pic>
        <p:nvPicPr>
          <p:cNvPr id="22" name="3d-passport-216" descr="passport">    </p:cNvPr>
          <p:cNvPicPr>
            <a:picLocks noChangeAspect="1"/>
          </p:cNvPicPr>
          <p:nvPr/>
        </p:nvPicPr>
        <p:blipFill>
          <a:blip r:embed="rId5"/>
          <a:stretch>
            <a:fillRect/>
          </a:stretch>
        </p:blipFill>
        <p:spPr>
          <a:xfrm>
            <a:off x="640080" y="2236166"/>
            <a:ext cx="4206240" cy="3433114"/>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عند ضبط عملة أجنبية: مسار التكييف</a:t>
            </a:r>
            <a:endParaRPr lang="ar-TN" sz="3000" dirty="0"/>
          </a:p>
        </p:txBody>
      </p:sp>
      <p:sp>
        <p:nvSpPr>
          <p:cNvPr id="3" name="card-217"/>
          <p:cNvSpPr/>
          <p:nvPr/>
        </p:nvSpPr>
        <p:spPr>
          <a:xfrm>
            <a:off x="4270248" y="1463040"/>
            <a:ext cx="3657600" cy="777240"/>
          </a:xfrm>
          <a:prstGeom prst="roundRect">
            <a:avLst>
              <a:gd name="adj" fmla="val 18824"/>
            </a:avLst>
          </a:prstGeom>
          <a:solidFill>
            <a:schemeClr val="bg2"/>
          </a:solidFill>
          <a:ln/>
          <a:effectLst>
            <a:outerShdw sx="100000" sy="100000" kx="0" ky="0" algn="bl" rotWithShape="0" blurRad="203200" dist="63500" dir="5400000">
              <a:srgbClr val="0F3D3E">
                <a:alpha val="13000"/>
              </a:srgbClr>
            </a:outerShdw>
          </a:effectLst>
        </p:spPr>
      </p:sp>
      <p:sp>
        <p:nvSpPr>
          <p:cNvPr id="4" name="text-218"/>
          <p:cNvSpPr txBox="1"/>
          <p:nvPr/>
        </p:nvSpPr>
        <p:spPr>
          <a:xfrm>
            <a:off x="4453128" y="1463040"/>
            <a:ext cx="3291840" cy="777240"/>
          </a:xfrm>
          <a:prstGeom prst="rect">
            <a:avLst/>
          </a:prstGeom>
          <a:noFill/>
          <a:ln/>
        </p:spPr>
        <p:txBody>
          <a:bodyPr wrap="square" lIns="0" tIns="0" rIns="0" bIns="0" rtlCol="0" anchor="ctr"/>
          <a:lstStyle/>
          <a:p>
            <a:pPr rtl="1" algn="ctr" indent="0" marL="0">
              <a:buNone/>
            </a:pPr>
            <a:r>
              <a:rPr lang="ar-TN" altLang="en-US" sz="1500" b="1" dirty="0">
                <a:solidFill>
                  <a:schemeClr val="tx1"/>
                </a:solidFill>
              </a:rPr>
              <a:t>ضبط شخص بحوزته عملة صعبة</a:t>
            </a:r>
            <a:endParaRPr lang="ar-TN" sz="1500" dirty="0"/>
          </a:p>
        </p:txBody>
      </p:sp>
      <p:sp>
        <p:nvSpPr>
          <p:cNvPr id="5" name="arrow-219"/>
          <p:cNvSpPr/>
          <p:nvPr/>
        </p:nvSpPr>
        <p:spPr>
          <a:xfrm>
            <a:off x="6099048" y="2240280"/>
            <a:ext cx="914" cy="365760"/>
          </a:xfrm>
          <a:prstGeom prst="line">
            <a:avLst/>
          </a:prstGeom>
          <a:noFill/>
          <a:ln w="25400">
            <a:solidFill>
              <a:srgbClr val="5B7F7E"/>
            </a:solidFill>
            <a:prstDash val="solid"/>
            <a:tailEnd type="triangle"/>
          </a:ln>
        </p:spPr>
      </p:sp>
      <p:sp>
        <p:nvSpPr>
          <p:cNvPr id="6" name="card-220"/>
          <p:cNvSpPr/>
          <p:nvPr/>
        </p:nvSpPr>
        <p:spPr>
          <a:xfrm>
            <a:off x="3584448" y="2606040"/>
            <a:ext cx="5029200" cy="914400"/>
          </a:xfrm>
          <a:prstGeom prst="roundRect">
            <a:avLst>
              <a:gd name="adj" fmla="val 16000"/>
            </a:avLst>
          </a:prstGeom>
          <a:solidFill>
            <a:schemeClr val="accent2"/>
          </a:solidFill>
          <a:ln/>
          <a:effectLst>
            <a:outerShdw sx="100000" sy="100000" kx="0" ky="0" algn="bl" rotWithShape="0" blurRad="203200" dist="63500" dir="5400000">
              <a:srgbClr val="0F3D3E">
                <a:alpha val="13000"/>
              </a:srgbClr>
            </a:outerShdw>
          </a:effectLst>
        </p:spPr>
      </p:sp>
      <p:sp>
        <p:nvSpPr>
          <p:cNvPr id="7" name="text-221"/>
          <p:cNvSpPr txBox="1"/>
          <p:nvPr/>
        </p:nvSpPr>
        <p:spPr>
          <a:xfrm>
            <a:off x="3767328" y="2606040"/>
            <a:ext cx="4663440" cy="914400"/>
          </a:xfrm>
          <a:prstGeom prst="rect">
            <a:avLst/>
          </a:prstGeom>
          <a:noFill/>
          <a:ln/>
        </p:spPr>
        <p:txBody>
          <a:bodyPr wrap="square" lIns="0" tIns="0" rIns="0" bIns="0" rtlCol="0" anchor="ctr"/>
          <a:lstStyle/>
          <a:p>
            <a:pPr rtl="1" algn="ctr" indent="0" marL="0">
              <a:buNone/>
            </a:pPr>
            <a:r>
              <a:rPr lang="ar-TN" altLang="en-US" sz="1800" b="1" dirty="0">
                <a:solidFill>
                  <a:schemeClr val="bg1"/>
                </a:solidFill>
              </a:rPr>
              <a:t>السؤال الأول: ما هي صفتك الصرفية؟</a:t>
            </a:r>
            <a:endParaRPr lang="ar-TN" sz="1800" dirty="0"/>
          </a:p>
        </p:txBody>
      </p:sp>
      <p:sp>
        <p:nvSpPr>
          <p:cNvPr id="8" name="arrow-222"/>
          <p:cNvSpPr/>
          <p:nvPr/>
        </p:nvSpPr>
        <p:spPr>
          <a:xfrm>
            <a:off x="7498080" y="3520440"/>
            <a:ext cx="1554480" cy="548640"/>
          </a:xfrm>
          <a:prstGeom prst="line">
            <a:avLst/>
          </a:prstGeom>
          <a:noFill/>
          <a:ln w="25400">
            <a:solidFill>
              <a:srgbClr val="5B7F7E"/>
            </a:solidFill>
            <a:prstDash val="solid"/>
            <a:tailEnd type="triangle"/>
          </a:ln>
        </p:spPr>
      </p:sp>
      <p:sp>
        <p:nvSpPr>
          <p:cNvPr id="9" name="arrow-223"/>
          <p:cNvSpPr/>
          <p:nvPr/>
        </p:nvSpPr>
        <p:spPr>
          <a:xfrm flipH="1">
            <a:off x="3108960" y="3520440"/>
            <a:ext cx="1554480" cy="548640"/>
          </a:xfrm>
          <a:prstGeom prst="line">
            <a:avLst/>
          </a:prstGeom>
          <a:noFill/>
          <a:ln w="25400">
            <a:solidFill>
              <a:srgbClr val="5B7F7E"/>
            </a:solidFill>
            <a:prstDash val="solid"/>
            <a:tailEnd type="triangle"/>
          </a:ln>
        </p:spPr>
      </p:sp>
      <p:sp>
        <p:nvSpPr>
          <p:cNvPr id="10" name="card-224"/>
          <p:cNvSpPr/>
          <p:nvPr/>
        </p:nvSpPr>
        <p:spPr>
          <a:xfrm>
            <a:off x="7086600" y="4069080"/>
            <a:ext cx="4553712" cy="2011680"/>
          </a:xfrm>
          <a:prstGeom prst="roundRect">
            <a:avLst>
              <a:gd name="adj" fmla="val 7273"/>
            </a:avLst>
          </a:prstGeom>
          <a:solidFill>
            <a:schemeClr val="bg1"/>
          </a:solidFill>
          <a:ln/>
          <a:effectLst>
            <a:outerShdw sx="100000" sy="100000" kx="0" ky="0" algn="bl" rotWithShape="0" blurRad="203200" dist="63500" dir="5400000">
              <a:srgbClr val="0F3D3E">
                <a:alpha val="13000"/>
              </a:srgbClr>
            </a:outerShdw>
          </a:effectLst>
        </p:spPr>
      </p:sp>
      <p:sp>
        <p:nvSpPr>
          <p:cNvPr id="11" name="icon-bg-225"/>
          <p:cNvSpPr/>
          <p:nvPr/>
        </p:nvSpPr>
        <p:spPr>
          <a:xfrm>
            <a:off x="10817352" y="4251960"/>
            <a:ext cx="594360" cy="594360"/>
          </a:xfrm>
          <a:prstGeom prst="ellipse">
            <a:avLst/>
          </a:prstGeom>
          <a:solidFill>
            <a:schemeClr val="accent4"/>
          </a:solidFill>
          <a:ln/>
          <a:effectLst>
            <a:outerShdw sx="100000" sy="100000" kx="0" ky="0" algn="bl" rotWithShape="0" blurRad="127000" dist="38100" dir="5400000">
              <a:srgbClr val="0F3D3E">
                <a:alpha val="10000"/>
              </a:srgbClr>
            </a:outerShdw>
          </a:effectLst>
        </p:spPr>
      </p:sp>
      <p:pic>
        <p:nvPicPr>
          <p:cNvPr id="12" name="icon-226" descr="preencoded.png">    </p:cNvPr>
          <p:cNvPicPr>
            <a:picLocks noChangeAspect="1"/>
          </p:cNvPicPr>
          <p:nvPr/>
        </p:nvPicPr>
        <p:blipFill>
          <a:blip r:embed="rId1"/>
          <a:stretch>
            <a:fillRect/>
          </a:stretch>
        </p:blipFill>
        <p:spPr>
          <a:xfrm>
            <a:off x="10965942" y="4400550"/>
            <a:ext cx="297180" cy="297180"/>
          </a:xfrm>
          <a:prstGeom prst="rect">
            <a:avLst/>
          </a:prstGeom>
        </p:spPr>
      </p:pic>
      <p:sp>
        <p:nvSpPr>
          <p:cNvPr id="13" name="text-227"/>
          <p:cNvSpPr txBox="1"/>
          <p:nvPr/>
        </p:nvSpPr>
        <p:spPr>
          <a:xfrm>
            <a:off x="7360920" y="4251960"/>
            <a:ext cx="3291840" cy="594360"/>
          </a:xfrm>
          <a:prstGeom prst="rect">
            <a:avLst/>
          </a:prstGeom>
          <a:noFill/>
          <a:ln/>
        </p:spPr>
        <p:txBody>
          <a:bodyPr wrap="square" lIns="0" tIns="0" rIns="0" bIns="0" rtlCol="0" anchor="ctr"/>
          <a:lstStyle/>
          <a:p>
            <a:pPr rtl="1" algn="r" indent="0" marL="0">
              <a:buNone/>
            </a:pPr>
            <a:r>
              <a:rPr lang="ar-TN" altLang="en-US" sz="2000" b="1" dirty="0">
                <a:solidFill>
                  <a:schemeClr val="accent4"/>
                </a:solidFill>
              </a:rPr>
              <a:t>مقيم</a:t>
            </a:r>
            <a:endParaRPr lang="ar-TN" sz="2000" dirty="0"/>
          </a:p>
        </p:txBody>
      </p:sp>
      <p:sp>
        <p:nvSpPr>
          <p:cNvPr id="14" name="text-228"/>
          <p:cNvSpPr txBox="1"/>
          <p:nvPr/>
        </p:nvSpPr>
        <p:spPr>
          <a:xfrm>
            <a:off x="7360920" y="4983480"/>
            <a:ext cx="4005072" cy="960120"/>
          </a:xfrm>
          <a:prstGeom prst="rect">
            <a:avLst/>
          </a:prstGeom>
          <a:noFill/>
          <a:ln/>
        </p:spPr>
        <p:txBody>
          <a:bodyPr wrap="square" lIns="0" tIns="0" rIns="0" bIns="0" rtlCol="0" anchor="t"/>
          <a:lstStyle/>
          <a:p>
            <a:pPr rtl="1" algn="r" indent="0" marL="0">
              <a:buNone/>
            </a:pPr>
            <a:r>
              <a:rPr lang="ar-TN" altLang="en-US" sz="1400" dirty="0">
                <a:solidFill>
                  <a:schemeClr val="tx1"/>
                </a:solidFill>
              </a:rPr>
              <a:t>الحيازة قرينة على التهريب أو التعامل في السوق السوداء، ما لم يُثبت السند القانوني.</a:t>
            </a:r>
            <a:endParaRPr lang="ar-TN" sz="1400" dirty="0"/>
          </a:p>
        </p:txBody>
      </p:sp>
      <p:sp>
        <p:nvSpPr>
          <p:cNvPr id="15" name="card-229"/>
          <p:cNvSpPr/>
          <p:nvPr/>
        </p:nvSpPr>
        <p:spPr>
          <a:xfrm>
            <a:off x="548640" y="4069080"/>
            <a:ext cx="4553712" cy="2011680"/>
          </a:xfrm>
          <a:prstGeom prst="roundRect">
            <a:avLst>
              <a:gd name="adj" fmla="val 7273"/>
            </a:avLst>
          </a:prstGeom>
          <a:solidFill>
            <a:schemeClr val="bg1"/>
          </a:solidFill>
          <a:ln/>
          <a:effectLst>
            <a:outerShdw sx="100000" sy="100000" kx="0" ky="0" algn="bl" rotWithShape="0" blurRad="203200" dist="63500" dir="5400000">
              <a:srgbClr val="0F3D3E">
                <a:alpha val="13000"/>
              </a:srgbClr>
            </a:outerShdw>
          </a:effectLst>
        </p:spPr>
      </p:sp>
      <p:sp>
        <p:nvSpPr>
          <p:cNvPr id="16" name="icon-bg-230"/>
          <p:cNvSpPr/>
          <p:nvPr/>
        </p:nvSpPr>
        <p:spPr>
          <a:xfrm>
            <a:off x="4279392" y="4251960"/>
            <a:ext cx="594360" cy="594360"/>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17" name="icon-231" descr="preencoded.png">    </p:cNvPr>
          <p:cNvPicPr>
            <a:picLocks noChangeAspect="1"/>
          </p:cNvPicPr>
          <p:nvPr/>
        </p:nvPicPr>
        <p:blipFill>
          <a:blip r:embed="rId2"/>
          <a:stretch>
            <a:fillRect/>
          </a:stretch>
        </p:blipFill>
        <p:spPr>
          <a:xfrm>
            <a:off x="4427982" y="4400550"/>
            <a:ext cx="297180" cy="297180"/>
          </a:xfrm>
          <a:prstGeom prst="rect">
            <a:avLst/>
          </a:prstGeom>
        </p:spPr>
      </p:pic>
      <p:sp>
        <p:nvSpPr>
          <p:cNvPr id="18" name="text-232"/>
          <p:cNvSpPr txBox="1"/>
          <p:nvPr/>
        </p:nvSpPr>
        <p:spPr>
          <a:xfrm>
            <a:off x="822960" y="4251960"/>
            <a:ext cx="3291840" cy="594360"/>
          </a:xfrm>
          <a:prstGeom prst="rect">
            <a:avLst/>
          </a:prstGeom>
          <a:noFill/>
          <a:ln/>
        </p:spPr>
        <p:txBody>
          <a:bodyPr wrap="square" lIns="0" tIns="0" rIns="0" bIns="0" rtlCol="0" anchor="ctr"/>
          <a:lstStyle/>
          <a:p>
            <a:pPr rtl="1" algn="r" indent="0" marL="0">
              <a:buNone/>
            </a:pPr>
            <a:r>
              <a:rPr lang="ar-TN" altLang="en-US" sz="2000" b="1" dirty="0">
                <a:solidFill>
                  <a:schemeClr val="accent1"/>
                </a:solidFill>
              </a:rPr>
              <a:t>غير مقيم</a:t>
            </a:r>
            <a:endParaRPr lang="ar-TN" sz="2000" dirty="0"/>
          </a:p>
        </p:txBody>
      </p:sp>
      <p:sp>
        <p:nvSpPr>
          <p:cNvPr id="19" name="text-233"/>
          <p:cNvSpPr txBox="1"/>
          <p:nvPr/>
        </p:nvSpPr>
        <p:spPr>
          <a:xfrm>
            <a:off x="822960" y="4983480"/>
            <a:ext cx="4005072" cy="960120"/>
          </a:xfrm>
          <a:prstGeom prst="rect">
            <a:avLst/>
          </a:prstGeom>
          <a:noFill/>
          <a:ln/>
        </p:spPr>
        <p:txBody>
          <a:bodyPr wrap="square" lIns="0" tIns="0" rIns="0" bIns="0" rtlCol="0" anchor="t"/>
          <a:lstStyle/>
          <a:p>
            <a:pPr rtl="1" algn="r" indent="0" marL="0">
              <a:buNone/>
            </a:pPr>
            <a:r>
              <a:rPr lang="ar-TN" altLang="en-US" sz="1400" dirty="0">
                <a:solidFill>
                  <a:schemeClr val="tx1"/>
                </a:solidFill>
              </a:rPr>
              <a:t>الحيازة مبرَّرة مبدئيًا، لحين التثبّت من التصريح الديواني.</a:t>
            </a:r>
            <a:endParaRPr lang="ar-TN" sz="1400" dirty="0"/>
          </a:p>
        </p:txBody>
      </p:sp>
      <p:pic>
        <p:nvPicPr>
          <p:cNvPr id="20" name="3d-exchange-234" descr="exchange">    </p:cNvPr>
          <p:cNvPicPr>
            <a:picLocks noChangeAspect="1"/>
          </p:cNvPicPr>
          <p:nvPr/>
        </p:nvPicPr>
        <p:blipFill>
          <a:blip r:embed="rId3"/>
          <a:stretch>
            <a:fillRect/>
          </a:stretch>
        </p:blipFill>
        <p:spPr>
          <a:xfrm>
            <a:off x="9738360" y="2183636"/>
            <a:ext cx="1737360" cy="1656844"/>
          </a:xfrm>
          <a:prstGeom prst="rect">
            <a:avLst/>
          </a:prstGeom>
        </p:spPr>
      </p:pic>
      <p:pic>
        <p:nvPicPr>
          <p:cNvPr id="21" name="3d-shield-235" descr="shield">    </p:cNvPr>
          <p:cNvPicPr>
            <a:picLocks noChangeAspect="1"/>
          </p:cNvPicPr>
          <p:nvPr/>
        </p:nvPicPr>
        <p:blipFill>
          <a:blip r:embed="rId4"/>
          <a:stretch>
            <a:fillRect/>
          </a:stretch>
        </p:blipFill>
        <p:spPr>
          <a:xfrm>
            <a:off x="685800" y="2444131"/>
            <a:ext cx="1828800" cy="1396349"/>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822960"/>
          </a:xfrm>
          <a:prstGeom prst="rect">
            <a:avLst/>
          </a:prstGeom>
          <a:noFill/>
          <a:ln/>
        </p:spPr>
        <p:txBody>
          <a:bodyPr wrap="square" lIns="0" tIns="0" rIns="0" bIns="0" rtlCol="0" anchor="ctr"/>
          <a:lstStyle/>
          <a:p>
            <a:pPr rtl="1" algn="r" indent="0" marL="0">
              <a:buNone/>
            </a:pPr>
            <a:r>
              <a:rPr lang="ar-TN" altLang="en-US" sz="3000" b="1" dirty="0">
                <a:solidFill>
                  <a:schemeClr val="tx1"/>
                </a:solidFill>
              </a:rPr>
              <a:t>الخلاصة الأمنية للمحور الأول</a:t>
            </a:r>
            <a:endParaRPr lang="ar-TN" sz="3000" dirty="0"/>
          </a:p>
        </p:txBody>
      </p:sp>
      <p:sp>
        <p:nvSpPr>
          <p:cNvPr id="3" name="card-236"/>
          <p:cNvSpPr/>
          <p:nvPr/>
        </p:nvSpPr>
        <p:spPr>
          <a:xfrm>
            <a:off x="5257800" y="1463040"/>
            <a:ext cx="6382512" cy="2194560"/>
          </a:xfrm>
          <a:prstGeom prst="roundRect">
            <a:avLst>
              <a:gd name="adj" fmla="val 6667"/>
            </a:avLst>
          </a:prstGeom>
          <a:solidFill>
            <a:schemeClr val="bg1"/>
          </a:solidFill>
          <a:ln/>
          <a:effectLst>
            <a:outerShdw sx="100000" sy="100000" kx="0" ky="0" algn="bl" rotWithShape="0" blurRad="203200" dist="63500" dir="5400000">
              <a:srgbClr val="0F3D3E">
                <a:alpha val="13000"/>
              </a:srgbClr>
            </a:outerShdw>
          </a:effectLst>
        </p:spPr>
      </p:sp>
      <p:sp>
        <p:nvSpPr>
          <p:cNvPr id="4" name="icon-bg-237"/>
          <p:cNvSpPr/>
          <p:nvPr/>
        </p:nvSpPr>
        <p:spPr>
          <a:xfrm>
            <a:off x="10844784" y="1682496"/>
            <a:ext cx="566928" cy="566928"/>
          </a:xfrm>
          <a:prstGeom prst="ellipse">
            <a:avLst/>
          </a:prstGeom>
          <a:solidFill>
            <a:schemeClr val="accent1"/>
          </a:solidFill>
          <a:ln/>
          <a:effectLst>
            <a:outerShdw sx="100000" sy="100000" kx="0" ky="0" algn="bl" rotWithShape="0" blurRad="127000" dist="38100" dir="5400000">
              <a:srgbClr val="0F3D3E">
                <a:alpha val="10000"/>
              </a:srgbClr>
            </a:outerShdw>
          </a:effectLst>
        </p:spPr>
      </p:sp>
      <p:pic>
        <p:nvPicPr>
          <p:cNvPr id="5" name="icon-238" descr="preencoded.png">    </p:cNvPr>
          <p:cNvPicPr>
            <a:picLocks noChangeAspect="1"/>
          </p:cNvPicPr>
          <p:nvPr/>
        </p:nvPicPr>
        <p:blipFill>
          <a:blip r:embed="rId1"/>
          <a:stretch>
            <a:fillRect/>
          </a:stretch>
        </p:blipFill>
        <p:spPr>
          <a:xfrm>
            <a:off x="10986516" y="1824228"/>
            <a:ext cx="283464" cy="283464"/>
          </a:xfrm>
          <a:prstGeom prst="rect">
            <a:avLst/>
          </a:prstGeom>
        </p:spPr>
      </p:pic>
      <p:sp>
        <p:nvSpPr>
          <p:cNvPr id="6" name="text-239"/>
          <p:cNvSpPr txBox="1"/>
          <p:nvPr/>
        </p:nvSpPr>
        <p:spPr>
          <a:xfrm>
            <a:off x="5486400" y="1664208"/>
            <a:ext cx="5129784" cy="182880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900" b="1" dirty="0">
                <a:solidFill>
                  <a:schemeClr val="tx1"/>
                </a:solidFill>
              </a:rPr>
              <a:t>السؤال الأول للضابط الأمني</a:t>
            </a:r>
            <a:endParaRPr lang="ar-TN" sz="1400" dirty="0"/>
          </a:p>
          <a:p>
            <a:pPr rtl="1" algn="r" indent="0" marL="0">
              <a:lnSpc>
                <a:spcPct val="105000"/>
              </a:lnSpc>
              <a:spcAft>
                <a:spcPts val="300"/>
              </a:spcAft>
              <a:buNone/>
            </a:pPr>
            <a:r>
              <a:rPr lang="ar-TN" altLang="en-US" sz="1600" dirty="0">
                <a:solidFill>
                  <a:schemeClr val="tx1"/>
                </a:solidFill>
              </a:rPr>
              <a:t>عند ضبط شخص يحوز عملة أجنبية، السؤال الأول ليس «من أين لك هذا؟» بل «ما هي صفتك الصرفية: مقيم أم غير مقيم؟». الإجابة تحدّد الإطار القانوني للمساءلة.</a:t>
            </a:r>
            <a:endParaRPr lang="ar-TN" sz="1400" dirty="0"/>
          </a:p>
        </p:txBody>
      </p:sp>
      <p:sp>
        <p:nvSpPr>
          <p:cNvPr id="7" name="card-240"/>
          <p:cNvSpPr/>
          <p:nvPr/>
        </p:nvSpPr>
        <p:spPr>
          <a:xfrm>
            <a:off x="5257800" y="3840480"/>
            <a:ext cx="6382512" cy="2240280"/>
          </a:xfrm>
          <a:prstGeom prst="roundRect">
            <a:avLst>
              <a:gd name="adj" fmla="val 6531"/>
            </a:avLst>
          </a:prstGeom>
          <a:solidFill>
            <a:schemeClr val="bg1"/>
          </a:solidFill>
          <a:ln/>
          <a:effectLst>
            <a:outerShdw sx="100000" sy="100000" kx="0" ky="0" algn="bl" rotWithShape="0" blurRad="203200" dist="63500" dir="5400000">
              <a:srgbClr val="0F3D3E">
                <a:alpha val="13000"/>
              </a:srgbClr>
            </a:outerShdw>
          </a:effectLst>
        </p:spPr>
      </p:sp>
      <p:sp>
        <p:nvSpPr>
          <p:cNvPr id="8" name="icon-bg-241"/>
          <p:cNvSpPr/>
          <p:nvPr/>
        </p:nvSpPr>
        <p:spPr>
          <a:xfrm>
            <a:off x="10844784" y="4059936"/>
            <a:ext cx="566928" cy="566928"/>
          </a:xfrm>
          <a:prstGeom prst="ellipse">
            <a:avLst/>
          </a:prstGeom>
          <a:solidFill>
            <a:schemeClr val="accent2"/>
          </a:solidFill>
          <a:ln/>
          <a:effectLst>
            <a:outerShdw sx="100000" sy="100000" kx="0" ky="0" algn="bl" rotWithShape="0" blurRad="127000" dist="38100" dir="5400000">
              <a:srgbClr val="0F3D3E">
                <a:alpha val="10000"/>
              </a:srgbClr>
            </a:outerShdw>
          </a:effectLst>
        </p:spPr>
      </p:sp>
      <p:pic>
        <p:nvPicPr>
          <p:cNvPr id="9" name="icon-242" descr="preencoded.png">    </p:cNvPr>
          <p:cNvPicPr>
            <a:picLocks noChangeAspect="1"/>
          </p:cNvPicPr>
          <p:nvPr/>
        </p:nvPicPr>
        <p:blipFill>
          <a:blip r:embed="rId2"/>
          <a:stretch>
            <a:fillRect/>
          </a:stretch>
        </p:blipFill>
        <p:spPr>
          <a:xfrm>
            <a:off x="10986516" y="4201668"/>
            <a:ext cx="283464" cy="283464"/>
          </a:xfrm>
          <a:prstGeom prst="rect">
            <a:avLst/>
          </a:prstGeom>
        </p:spPr>
      </p:pic>
      <p:sp>
        <p:nvSpPr>
          <p:cNvPr id="10" name="text-243"/>
          <p:cNvSpPr txBox="1"/>
          <p:nvPr/>
        </p:nvSpPr>
        <p:spPr>
          <a:xfrm>
            <a:off x="5486400" y="4041648"/>
            <a:ext cx="5129784" cy="1874520"/>
          </a:xfrm>
          <a:prstGeom prst="rect">
            <a:avLst/>
          </a:prstGeom>
          <a:noFill/>
          <a:ln/>
        </p:spPr>
        <p:txBody>
          <a:bodyPr wrap="square" lIns="0" tIns="0" rIns="0" bIns="0" rtlCol="0" anchor="t"/>
          <a:lstStyle/>
          <a:p>
            <a:pPr rtl="1" algn="r" indent="0" marL="0">
              <a:lnSpc>
                <a:spcPct val="105000"/>
              </a:lnSpc>
              <a:spcAft>
                <a:spcPts val="300"/>
              </a:spcAft>
              <a:buNone/>
            </a:pPr>
            <a:r>
              <a:rPr lang="ar-TN" altLang="en-US" sz="1900" b="1" dirty="0">
                <a:solidFill>
                  <a:schemeClr val="tx1"/>
                </a:solidFill>
              </a:rPr>
              <a:t>عبء الإثبات</a:t>
            </a:r>
            <a:endParaRPr lang="ar-TN" sz="1400" dirty="0"/>
          </a:p>
          <a:p>
            <a:pPr rtl="1" algn="r" indent="0" marL="0">
              <a:lnSpc>
                <a:spcPct val="105000"/>
              </a:lnSpc>
              <a:spcAft>
                <a:spcPts val="300"/>
              </a:spcAft>
              <a:buNone/>
            </a:pPr>
            <a:r>
              <a:rPr lang="ar-TN" altLang="en-US" sz="1600" dirty="0">
                <a:solidFill>
                  <a:schemeClr val="tx1"/>
                </a:solidFill>
              </a:rPr>
              <a:t>في الجرائم الصرفية يقع عبء الإثبات غالبًا على المشتبه به: عليه إثبات شرعية حيازة العملة بوثيقة رسمية (تصريح ديواني، وصل بنكي)، وليس على الإدارة الأمنية أو الديوانية إثبات العكس.</a:t>
            </a:r>
            <a:endParaRPr lang="ar-TN" sz="1400" dirty="0"/>
          </a:p>
        </p:txBody>
      </p:sp>
      <p:pic>
        <p:nvPicPr>
          <p:cNvPr id="11" name="3d-shield-244" descr="shield">    </p:cNvPr>
          <p:cNvPicPr>
            <a:picLocks noChangeAspect="1"/>
          </p:cNvPicPr>
          <p:nvPr/>
        </p:nvPicPr>
        <p:blipFill>
          <a:blip r:embed="rId3"/>
          <a:stretch>
            <a:fillRect/>
          </a:stretch>
        </p:blipFill>
        <p:spPr>
          <a:xfrm>
            <a:off x="640080" y="2594838"/>
            <a:ext cx="4206240" cy="3211602"/>
          </a:xfrm>
          <a:prstGeom prst="rect">
            <a:avLst/>
          </a:prstGeom>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BCT Change">
  <a:themeElements>
    <a:clrScheme name="BCT Change">
      <a:dk1>
        <a:srgbClr val="0F3D3E"/>
      </a:dk1>
      <a:lt1>
        <a:srgbClr val="FFFFFF"/>
      </a:lt1>
      <a:dk2>
        <a:srgbClr val="1F6F6B"/>
      </a:dk2>
      <a:lt2>
        <a:srgbClr val="EEF6F4"/>
      </a:lt2>
      <a:accent1>
        <a:srgbClr val="1F6F6B"/>
      </a:accent1>
      <a:accent2>
        <a:srgbClr val="B8862B"/>
      </a:accent2>
      <a:accent3>
        <a:srgbClr val="7FC8BE"/>
      </a:accent3>
      <a:accent4>
        <a:srgbClr val="C0392B"/>
      </a:accent4>
      <a:accent5>
        <a:srgbClr val="5B7F7E"/>
      </a:accent5>
      <a:accent6>
        <a:srgbClr val="E9D39A"/>
      </a:accent6>
      <a:hlink>
        <a:srgbClr val="1F6F6B"/>
      </a:hlink>
      <a:folHlink>
        <a:srgbClr val="5B7F7E"/>
      </a:folHlink>
    </a:clrScheme>
    <a:fontScheme name="BCT Change">
      <a:majorFont>
        <a:latin typeface="Arial"/>
        <a:ea typeface=""/>
        <a:cs typeface="Arial"/>
        <a:font script="Jpan" typeface="游ゴシック Light"/>
        <a:font script="Hang" typeface="맑은 고딕"/>
        <a:font script="Hans" typeface="等线 Light"/>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الإطار القانوني لتراتيب الصرف في تونس</dc:title>
  <dc:subject>تكوين الإطارات الأمنية</dc:subject>
  <dc:creator>PptxGenJS</dc:creator>
  <cp:lastModifiedBy>PptxGenJS</cp:lastModifiedBy>
  <cp:revision>1</cp:revision>
  <dcterms:created xsi:type="dcterms:W3CDTF">2026-10-02T14:05:13Z</dcterms:created>
  <dcterms:modified xsi:type="dcterms:W3CDTF">2026-10-02T14:05:13Z</dcterms:modified>
</cp:coreProperties>
</file>